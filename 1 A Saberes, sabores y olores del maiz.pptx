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81" r:id="rId2"/>
    <p:sldId id="257" r:id="rId3"/>
    <p:sldId id="277" r:id="rId4"/>
    <p:sldId id="258" r:id="rId5"/>
    <p:sldId id="259" r:id="rId6"/>
    <p:sldId id="260" r:id="rId7"/>
    <p:sldId id="278"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5" r:id="rId22"/>
    <p:sldId id="276" r:id="rId23"/>
    <p:sldId id="280" r:id="rId24"/>
    <p:sldId id="279" r:id="rId25"/>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1188" autoAdjust="0"/>
  </p:normalViewPr>
  <p:slideViewPr>
    <p:cSldViewPr snapToGrid="0">
      <p:cViewPr>
        <p:scale>
          <a:sx n="71" d="100"/>
          <a:sy n="71" d="100"/>
        </p:scale>
        <p:origin x="696" y="-2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0A67AC-5410-48DF-BA08-A1EE7B91AA61}" type="datetimeFigureOut">
              <a:rPr lang="es-MX" smtClean="0"/>
              <a:t>01/02/2026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57AB65-AC21-4428-9381-F4EA7A257DBF}" type="slidenum">
              <a:rPr lang="es-MX" smtClean="0"/>
              <a:t>‹Nº›</a:t>
            </a:fld>
            <a:endParaRPr lang="es-MX"/>
          </a:p>
        </p:txBody>
      </p:sp>
    </p:spTree>
    <p:extLst>
      <p:ext uri="{BB962C8B-B14F-4D97-AF65-F5344CB8AC3E}">
        <p14:creationId xmlns:p14="http://schemas.microsoft.com/office/powerpoint/2010/main" val="4850835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7F57AB65-AC21-4428-9381-F4EA7A257DBF}" type="slidenum">
              <a:rPr lang="es-MX" smtClean="0"/>
              <a:t>5</a:t>
            </a:fld>
            <a:endParaRPr lang="es-MX"/>
          </a:p>
        </p:txBody>
      </p:sp>
    </p:spTree>
    <p:extLst>
      <p:ext uri="{BB962C8B-B14F-4D97-AF65-F5344CB8AC3E}">
        <p14:creationId xmlns:p14="http://schemas.microsoft.com/office/powerpoint/2010/main" val="25576787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7F57AB65-AC21-4428-9381-F4EA7A257DBF}" type="slidenum">
              <a:rPr lang="es-MX" smtClean="0"/>
              <a:t>11</a:t>
            </a:fld>
            <a:endParaRPr lang="es-MX"/>
          </a:p>
        </p:txBody>
      </p:sp>
    </p:spTree>
    <p:extLst>
      <p:ext uri="{BB962C8B-B14F-4D97-AF65-F5344CB8AC3E}">
        <p14:creationId xmlns:p14="http://schemas.microsoft.com/office/powerpoint/2010/main" val="4407482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20BF9A-9D65-0E38-86FC-AB5FC8558763}"/>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4CCA266A-AC44-2A51-8533-56F9F6130CE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DD2FFBD6-7ECA-3D48-D18B-59D90420B19D}"/>
              </a:ext>
            </a:extLst>
          </p:cNvPr>
          <p:cNvSpPr>
            <a:spLocks noGrp="1"/>
          </p:cNvSpPr>
          <p:nvPr>
            <p:ph type="dt" sz="half" idx="10"/>
          </p:nvPr>
        </p:nvSpPr>
        <p:spPr/>
        <p:txBody>
          <a:bodyPr/>
          <a:lstStyle/>
          <a:p>
            <a:fld id="{40A08BCF-E8E4-421D-9AE8-30286139E82B}" type="datetimeFigureOut">
              <a:rPr lang="es-MX" smtClean="0"/>
              <a:t>01/02/2026</a:t>
            </a:fld>
            <a:endParaRPr lang="es-MX"/>
          </a:p>
        </p:txBody>
      </p:sp>
      <p:sp>
        <p:nvSpPr>
          <p:cNvPr id="5" name="Marcador de pie de página 4">
            <a:extLst>
              <a:ext uri="{FF2B5EF4-FFF2-40B4-BE49-F238E27FC236}">
                <a16:creationId xmlns:a16="http://schemas.microsoft.com/office/drawing/2014/main" id="{A843769B-7820-6733-0B00-751BB7877B4A}"/>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A3836007-12A8-70AB-7533-7B0EC95D6151}"/>
              </a:ext>
            </a:extLst>
          </p:cNvPr>
          <p:cNvSpPr>
            <a:spLocks noGrp="1"/>
          </p:cNvSpPr>
          <p:nvPr>
            <p:ph type="sldNum" sz="quarter" idx="12"/>
          </p:nvPr>
        </p:nvSpPr>
        <p:spPr/>
        <p:txBody>
          <a:bodyPr/>
          <a:lstStyle/>
          <a:p>
            <a:fld id="{F658837B-40B5-4133-89E8-87618F4A7753}" type="slidenum">
              <a:rPr lang="es-MX" smtClean="0"/>
              <a:t>‹Nº›</a:t>
            </a:fld>
            <a:endParaRPr lang="es-MX"/>
          </a:p>
        </p:txBody>
      </p:sp>
    </p:spTree>
    <p:extLst>
      <p:ext uri="{BB962C8B-B14F-4D97-AF65-F5344CB8AC3E}">
        <p14:creationId xmlns:p14="http://schemas.microsoft.com/office/powerpoint/2010/main" val="4601544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7049E82-3C78-DE92-A520-2B3B1118D772}"/>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D7BE2ACF-F518-C4FE-460B-D12021144B2B}"/>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5773AC9A-D188-A708-F966-F395D0A2EC23}"/>
              </a:ext>
            </a:extLst>
          </p:cNvPr>
          <p:cNvSpPr>
            <a:spLocks noGrp="1"/>
          </p:cNvSpPr>
          <p:nvPr>
            <p:ph type="dt" sz="half" idx="10"/>
          </p:nvPr>
        </p:nvSpPr>
        <p:spPr/>
        <p:txBody>
          <a:bodyPr/>
          <a:lstStyle/>
          <a:p>
            <a:fld id="{40A08BCF-E8E4-421D-9AE8-30286139E82B}" type="datetimeFigureOut">
              <a:rPr lang="es-MX" smtClean="0"/>
              <a:t>01/02/2026</a:t>
            </a:fld>
            <a:endParaRPr lang="es-MX"/>
          </a:p>
        </p:txBody>
      </p:sp>
      <p:sp>
        <p:nvSpPr>
          <p:cNvPr id="5" name="Marcador de pie de página 4">
            <a:extLst>
              <a:ext uri="{FF2B5EF4-FFF2-40B4-BE49-F238E27FC236}">
                <a16:creationId xmlns:a16="http://schemas.microsoft.com/office/drawing/2014/main" id="{7517EB6D-C551-06B5-4A20-02E82B5128E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055F6FA-13A0-20D4-F57D-A4EC9857E111}"/>
              </a:ext>
            </a:extLst>
          </p:cNvPr>
          <p:cNvSpPr>
            <a:spLocks noGrp="1"/>
          </p:cNvSpPr>
          <p:nvPr>
            <p:ph type="sldNum" sz="quarter" idx="12"/>
          </p:nvPr>
        </p:nvSpPr>
        <p:spPr/>
        <p:txBody>
          <a:bodyPr/>
          <a:lstStyle/>
          <a:p>
            <a:fld id="{F658837B-40B5-4133-89E8-87618F4A7753}" type="slidenum">
              <a:rPr lang="es-MX" smtClean="0"/>
              <a:t>‹Nº›</a:t>
            </a:fld>
            <a:endParaRPr lang="es-MX"/>
          </a:p>
        </p:txBody>
      </p:sp>
    </p:spTree>
    <p:extLst>
      <p:ext uri="{BB962C8B-B14F-4D97-AF65-F5344CB8AC3E}">
        <p14:creationId xmlns:p14="http://schemas.microsoft.com/office/powerpoint/2010/main" val="35666530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F9C3F55-7E33-01EB-8C12-A434BFF0EA10}"/>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B7D9005-DED1-3994-5E68-01685BB4E8C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7722CBF7-E855-F89E-A13D-8921F66A1384}"/>
              </a:ext>
            </a:extLst>
          </p:cNvPr>
          <p:cNvSpPr>
            <a:spLocks noGrp="1"/>
          </p:cNvSpPr>
          <p:nvPr>
            <p:ph type="dt" sz="half" idx="10"/>
          </p:nvPr>
        </p:nvSpPr>
        <p:spPr/>
        <p:txBody>
          <a:bodyPr/>
          <a:lstStyle/>
          <a:p>
            <a:fld id="{40A08BCF-E8E4-421D-9AE8-30286139E82B}" type="datetimeFigureOut">
              <a:rPr lang="es-MX" smtClean="0"/>
              <a:t>01/02/2026</a:t>
            </a:fld>
            <a:endParaRPr lang="es-MX"/>
          </a:p>
        </p:txBody>
      </p:sp>
      <p:sp>
        <p:nvSpPr>
          <p:cNvPr id="5" name="Marcador de pie de página 4">
            <a:extLst>
              <a:ext uri="{FF2B5EF4-FFF2-40B4-BE49-F238E27FC236}">
                <a16:creationId xmlns:a16="http://schemas.microsoft.com/office/drawing/2014/main" id="{F3690028-106E-D171-5480-B50192BB363E}"/>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A25632D-F95B-C6E0-7032-6F234FBDC023}"/>
              </a:ext>
            </a:extLst>
          </p:cNvPr>
          <p:cNvSpPr>
            <a:spLocks noGrp="1"/>
          </p:cNvSpPr>
          <p:nvPr>
            <p:ph type="sldNum" sz="quarter" idx="12"/>
          </p:nvPr>
        </p:nvSpPr>
        <p:spPr/>
        <p:txBody>
          <a:bodyPr/>
          <a:lstStyle/>
          <a:p>
            <a:fld id="{F658837B-40B5-4133-89E8-87618F4A7753}" type="slidenum">
              <a:rPr lang="es-MX" smtClean="0"/>
              <a:t>‹Nº›</a:t>
            </a:fld>
            <a:endParaRPr lang="es-MX"/>
          </a:p>
        </p:txBody>
      </p:sp>
    </p:spTree>
    <p:extLst>
      <p:ext uri="{BB962C8B-B14F-4D97-AF65-F5344CB8AC3E}">
        <p14:creationId xmlns:p14="http://schemas.microsoft.com/office/powerpoint/2010/main" val="13087429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3FD03C-0AC2-CB69-05FC-C9F1B4A9EEB9}"/>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D00C1466-D4FD-8836-0A50-8B9A543700C5}"/>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662318D8-8656-9EAC-68CE-226731A0337A}"/>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B3DC8F24-9D14-35BB-B1E7-5C47495D92B2}"/>
              </a:ext>
            </a:extLst>
          </p:cNvPr>
          <p:cNvSpPr>
            <a:spLocks noGrp="1"/>
          </p:cNvSpPr>
          <p:nvPr>
            <p:ph type="dt" sz="half" idx="10"/>
          </p:nvPr>
        </p:nvSpPr>
        <p:spPr/>
        <p:txBody>
          <a:bodyPr/>
          <a:lstStyle/>
          <a:p>
            <a:fld id="{40A08BCF-E8E4-421D-9AE8-30286139E82B}" type="datetimeFigureOut">
              <a:rPr lang="es-MX" smtClean="0"/>
              <a:t>01/02/2026</a:t>
            </a:fld>
            <a:endParaRPr lang="es-MX"/>
          </a:p>
        </p:txBody>
      </p:sp>
      <p:sp>
        <p:nvSpPr>
          <p:cNvPr id="6" name="Marcador de pie de página 5">
            <a:extLst>
              <a:ext uri="{FF2B5EF4-FFF2-40B4-BE49-F238E27FC236}">
                <a16:creationId xmlns:a16="http://schemas.microsoft.com/office/drawing/2014/main" id="{FB21B375-DA0C-A570-7756-EEAF1B78621C}"/>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44E559A3-FDBE-01B6-A56A-54921CF8801A}"/>
              </a:ext>
            </a:extLst>
          </p:cNvPr>
          <p:cNvSpPr>
            <a:spLocks noGrp="1"/>
          </p:cNvSpPr>
          <p:nvPr>
            <p:ph type="sldNum" sz="quarter" idx="12"/>
          </p:nvPr>
        </p:nvSpPr>
        <p:spPr/>
        <p:txBody>
          <a:bodyPr/>
          <a:lstStyle/>
          <a:p>
            <a:fld id="{F658837B-40B5-4133-89E8-87618F4A7753}" type="slidenum">
              <a:rPr lang="es-MX" smtClean="0"/>
              <a:t>‹Nº›</a:t>
            </a:fld>
            <a:endParaRPr lang="es-MX"/>
          </a:p>
        </p:txBody>
      </p:sp>
    </p:spTree>
    <p:extLst>
      <p:ext uri="{BB962C8B-B14F-4D97-AF65-F5344CB8AC3E}">
        <p14:creationId xmlns:p14="http://schemas.microsoft.com/office/powerpoint/2010/main" val="29464976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F1B0F2-9A7E-022B-DE87-FB4CF41132D4}"/>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2E5B9788-29DE-ECE4-A396-3EB151E1EF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C5B08CC-EC6E-F58A-E698-87B82BCFA6C6}"/>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02312EFD-003D-3314-02F1-681554B4E7C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95FFFAD6-A41D-C229-7397-55F4DDF66591}"/>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4FB1081B-493C-9131-51F8-6AD3D17B2562}"/>
              </a:ext>
            </a:extLst>
          </p:cNvPr>
          <p:cNvSpPr>
            <a:spLocks noGrp="1"/>
          </p:cNvSpPr>
          <p:nvPr>
            <p:ph type="dt" sz="half" idx="10"/>
          </p:nvPr>
        </p:nvSpPr>
        <p:spPr/>
        <p:txBody>
          <a:bodyPr/>
          <a:lstStyle/>
          <a:p>
            <a:fld id="{40A08BCF-E8E4-421D-9AE8-30286139E82B}" type="datetimeFigureOut">
              <a:rPr lang="es-MX" smtClean="0"/>
              <a:t>01/02/2026</a:t>
            </a:fld>
            <a:endParaRPr lang="es-MX"/>
          </a:p>
        </p:txBody>
      </p:sp>
      <p:sp>
        <p:nvSpPr>
          <p:cNvPr id="8" name="Marcador de pie de página 7">
            <a:extLst>
              <a:ext uri="{FF2B5EF4-FFF2-40B4-BE49-F238E27FC236}">
                <a16:creationId xmlns:a16="http://schemas.microsoft.com/office/drawing/2014/main" id="{9FF7B95A-9993-CF3E-CA8E-A8517A5AC028}"/>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F09F0AC4-15DA-F8E0-E28B-6B76690AED38}"/>
              </a:ext>
            </a:extLst>
          </p:cNvPr>
          <p:cNvSpPr>
            <a:spLocks noGrp="1"/>
          </p:cNvSpPr>
          <p:nvPr>
            <p:ph type="sldNum" sz="quarter" idx="12"/>
          </p:nvPr>
        </p:nvSpPr>
        <p:spPr/>
        <p:txBody>
          <a:bodyPr/>
          <a:lstStyle/>
          <a:p>
            <a:fld id="{F658837B-40B5-4133-89E8-87618F4A7753}" type="slidenum">
              <a:rPr lang="es-MX" smtClean="0"/>
              <a:t>‹Nº›</a:t>
            </a:fld>
            <a:endParaRPr lang="es-MX"/>
          </a:p>
        </p:txBody>
      </p:sp>
    </p:spTree>
    <p:extLst>
      <p:ext uri="{BB962C8B-B14F-4D97-AF65-F5344CB8AC3E}">
        <p14:creationId xmlns:p14="http://schemas.microsoft.com/office/powerpoint/2010/main" val="25595312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753DD5-30F8-3861-973E-B2088DD81E19}"/>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39D372B6-CF0C-3A17-8A5B-C260C2264686}"/>
              </a:ext>
            </a:extLst>
          </p:cNvPr>
          <p:cNvSpPr>
            <a:spLocks noGrp="1"/>
          </p:cNvSpPr>
          <p:nvPr>
            <p:ph type="dt" sz="half" idx="10"/>
          </p:nvPr>
        </p:nvSpPr>
        <p:spPr/>
        <p:txBody>
          <a:bodyPr/>
          <a:lstStyle/>
          <a:p>
            <a:fld id="{40A08BCF-E8E4-421D-9AE8-30286139E82B}" type="datetimeFigureOut">
              <a:rPr lang="es-MX" smtClean="0"/>
              <a:t>01/02/2026</a:t>
            </a:fld>
            <a:endParaRPr lang="es-MX"/>
          </a:p>
        </p:txBody>
      </p:sp>
      <p:sp>
        <p:nvSpPr>
          <p:cNvPr id="4" name="Marcador de pie de página 3">
            <a:extLst>
              <a:ext uri="{FF2B5EF4-FFF2-40B4-BE49-F238E27FC236}">
                <a16:creationId xmlns:a16="http://schemas.microsoft.com/office/drawing/2014/main" id="{BACF05DB-FE77-B6DE-333B-D193A5CF08AE}"/>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94652DA7-11F9-9AD1-F307-390B8C8D039E}"/>
              </a:ext>
            </a:extLst>
          </p:cNvPr>
          <p:cNvSpPr>
            <a:spLocks noGrp="1"/>
          </p:cNvSpPr>
          <p:nvPr>
            <p:ph type="sldNum" sz="quarter" idx="12"/>
          </p:nvPr>
        </p:nvSpPr>
        <p:spPr/>
        <p:txBody>
          <a:bodyPr/>
          <a:lstStyle/>
          <a:p>
            <a:fld id="{F658837B-40B5-4133-89E8-87618F4A7753}" type="slidenum">
              <a:rPr lang="es-MX" smtClean="0"/>
              <a:t>‹Nº›</a:t>
            </a:fld>
            <a:endParaRPr lang="es-MX"/>
          </a:p>
        </p:txBody>
      </p:sp>
    </p:spTree>
    <p:extLst>
      <p:ext uri="{BB962C8B-B14F-4D97-AF65-F5344CB8AC3E}">
        <p14:creationId xmlns:p14="http://schemas.microsoft.com/office/powerpoint/2010/main" val="2461548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AE155A4F-965A-8FA6-FDA3-755EBE09F2DE}"/>
              </a:ext>
            </a:extLst>
          </p:cNvPr>
          <p:cNvSpPr>
            <a:spLocks noGrp="1"/>
          </p:cNvSpPr>
          <p:nvPr>
            <p:ph type="dt" sz="half" idx="10"/>
          </p:nvPr>
        </p:nvSpPr>
        <p:spPr/>
        <p:txBody>
          <a:bodyPr/>
          <a:lstStyle/>
          <a:p>
            <a:fld id="{40A08BCF-E8E4-421D-9AE8-30286139E82B}" type="datetimeFigureOut">
              <a:rPr lang="es-MX" smtClean="0"/>
              <a:t>01/02/2026</a:t>
            </a:fld>
            <a:endParaRPr lang="es-MX"/>
          </a:p>
        </p:txBody>
      </p:sp>
      <p:sp>
        <p:nvSpPr>
          <p:cNvPr id="3" name="Marcador de pie de página 2">
            <a:extLst>
              <a:ext uri="{FF2B5EF4-FFF2-40B4-BE49-F238E27FC236}">
                <a16:creationId xmlns:a16="http://schemas.microsoft.com/office/drawing/2014/main" id="{7C2F122A-9373-3261-447D-F484F8166AF0}"/>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FEC8655C-30FC-B818-2112-BA456D359F3C}"/>
              </a:ext>
            </a:extLst>
          </p:cNvPr>
          <p:cNvSpPr>
            <a:spLocks noGrp="1"/>
          </p:cNvSpPr>
          <p:nvPr>
            <p:ph type="sldNum" sz="quarter" idx="12"/>
          </p:nvPr>
        </p:nvSpPr>
        <p:spPr/>
        <p:txBody>
          <a:bodyPr/>
          <a:lstStyle/>
          <a:p>
            <a:fld id="{F658837B-40B5-4133-89E8-87618F4A7753}" type="slidenum">
              <a:rPr lang="es-MX" smtClean="0"/>
              <a:t>‹Nº›</a:t>
            </a:fld>
            <a:endParaRPr lang="es-MX"/>
          </a:p>
        </p:txBody>
      </p:sp>
    </p:spTree>
    <p:extLst>
      <p:ext uri="{BB962C8B-B14F-4D97-AF65-F5344CB8AC3E}">
        <p14:creationId xmlns:p14="http://schemas.microsoft.com/office/powerpoint/2010/main" val="3162106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09A9D7-BCD0-A1BD-62CC-ECA2A82C423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FC2E493F-128D-0A88-93C1-69B0C55E570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F7094159-2C05-AA7E-E0FF-45B0361D69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DD15DB5-2965-E495-A990-FB5F0A41E407}"/>
              </a:ext>
            </a:extLst>
          </p:cNvPr>
          <p:cNvSpPr>
            <a:spLocks noGrp="1"/>
          </p:cNvSpPr>
          <p:nvPr>
            <p:ph type="dt" sz="half" idx="10"/>
          </p:nvPr>
        </p:nvSpPr>
        <p:spPr/>
        <p:txBody>
          <a:bodyPr/>
          <a:lstStyle/>
          <a:p>
            <a:fld id="{40A08BCF-E8E4-421D-9AE8-30286139E82B}" type="datetimeFigureOut">
              <a:rPr lang="es-MX" smtClean="0"/>
              <a:t>01/02/2026</a:t>
            </a:fld>
            <a:endParaRPr lang="es-MX"/>
          </a:p>
        </p:txBody>
      </p:sp>
      <p:sp>
        <p:nvSpPr>
          <p:cNvPr id="6" name="Marcador de pie de página 5">
            <a:extLst>
              <a:ext uri="{FF2B5EF4-FFF2-40B4-BE49-F238E27FC236}">
                <a16:creationId xmlns:a16="http://schemas.microsoft.com/office/drawing/2014/main" id="{03E1AB09-AB01-68DF-9B7A-4A4E7BAC791E}"/>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5FC50B0-000F-53A3-5AFC-EE544CE2B389}"/>
              </a:ext>
            </a:extLst>
          </p:cNvPr>
          <p:cNvSpPr>
            <a:spLocks noGrp="1"/>
          </p:cNvSpPr>
          <p:nvPr>
            <p:ph type="sldNum" sz="quarter" idx="12"/>
          </p:nvPr>
        </p:nvSpPr>
        <p:spPr/>
        <p:txBody>
          <a:bodyPr/>
          <a:lstStyle/>
          <a:p>
            <a:fld id="{F658837B-40B5-4133-89E8-87618F4A7753}" type="slidenum">
              <a:rPr lang="es-MX" smtClean="0"/>
              <a:t>‹Nº›</a:t>
            </a:fld>
            <a:endParaRPr lang="es-MX"/>
          </a:p>
        </p:txBody>
      </p:sp>
    </p:spTree>
    <p:extLst>
      <p:ext uri="{BB962C8B-B14F-4D97-AF65-F5344CB8AC3E}">
        <p14:creationId xmlns:p14="http://schemas.microsoft.com/office/powerpoint/2010/main" val="14927169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0805EF-61DD-1EFB-6D89-962D3A5D136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7CA47DED-B13A-C090-248E-A3123AF6D0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A10DC706-1D78-62D3-D593-55DEFD54EE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CCF39B1-6D98-E541-D63B-B655AE2FE8FB}"/>
              </a:ext>
            </a:extLst>
          </p:cNvPr>
          <p:cNvSpPr>
            <a:spLocks noGrp="1"/>
          </p:cNvSpPr>
          <p:nvPr>
            <p:ph type="dt" sz="half" idx="10"/>
          </p:nvPr>
        </p:nvSpPr>
        <p:spPr/>
        <p:txBody>
          <a:bodyPr/>
          <a:lstStyle/>
          <a:p>
            <a:fld id="{40A08BCF-E8E4-421D-9AE8-30286139E82B}" type="datetimeFigureOut">
              <a:rPr lang="es-MX" smtClean="0"/>
              <a:t>01/02/2026</a:t>
            </a:fld>
            <a:endParaRPr lang="es-MX"/>
          </a:p>
        </p:txBody>
      </p:sp>
      <p:sp>
        <p:nvSpPr>
          <p:cNvPr id="6" name="Marcador de pie de página 5">
            <a:extLst>
              <a:ext uri="{FF2B5EF4-FFF2-40B4-BE49-F238E27FC236}">
                <a16:creationId xmlns:a16="http://schemas.microsoft.com/office/drawing/2014/main" id="{C284566A-8AC9-7BBB-D5CA-3A2DCDABCEC5}"/>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8F543A56-2CAF-1328-A79C-CFF444B3B241}"/>
              </a:ext>
            </a:extLst>
          </p:cNvPr>
          <p:cNvSpPr>
            <a:spLocks noGrp="1"/>
          </p:cNvSpPr>
          <p:nvPr>
            <p:ph type="sldNum" sz="quarter" idx="12"/>
          </p:nvPr>
        </p:nvSpPr>
        <p:spPr/>
        <p:txBody>
          <a:bodyPr/>
          <a:lstStyle/>
          <a:p>
            <a:fld id="{F658837B-40B5-4133-89E8-87618F4A7753}" type="slidenum">
              <a:rPr lang="es-MX" smtClean="0"/>
              <a:t>‹Nº›</a:t>
            </a:fld>
            <a:endParaRPr lang="es-MX"/>
          </a:p>
        </p:txBody>
      </p:sp>
    </p:spTree>
    <p:extLst>
      <p:ext uri="{BB962C8B-B14F-4D97-AF65-F5344CB8AC3E}">
        <p14:creationId xmlns:p14="http://schemas.microsoft.com/office/powerpoint/2010/main" val="22378703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7BA6FB-701D-FA9A-57D6-BFCAB4F58433}"/>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6E15E985-233E-5650-D38F-8CC30FD228BB}"/>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A7217C5E-29CA-56C7-D6B9-5A329B384A96}"/>
              </a:ext>
            </a:extLst>
          </p:cNvPr>
          <p:cNvSpPr>
            <a:spLocks noGrp="1"/>
          </p:cNvSpPr>
          <p:nvPr>
            <p:ph type="dt" sz="half" idx="10"/>
          </p:nvPr>
        </p:nvSpPr>
        <p:spPr/>
        <p:txBody>
          <a:bodyPr/>
          <a:lstStyle/>
          <a:p>
            <a:fld id="{40A08BCF-E8E4-421D-9AE8-30286139E82B}" type="datetimeFigureOut">
              <a:rPr lang="es-MX" smtClean="0"/>
              <a:t>01/02/2026</a:t>
            </a:fld>
            <a:endParaRPr lang="es-MX"/>
          </a:p>
        </p:txBody>
      </p:sp>
      <p:sp>
        <p:nvSpPr>
          <p:cNvPr id="5" name="Marcador de pie de página 4">
            <a:extLst>
              <a:ext uri="{FF2B5EF4-FFF2-40B4-BE49-F238E27FC236}">
                <a16:creationId xmlns:a16="http://schemas.microsoft.com/office/drawing/2014/main" id="{8028DC2D-2FB5-014C-1B44-DE0424BF983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989B930-C5DF-62ED-E279-FDC228AF5A91}"/>
              </a:ext>
            </a:extLst>
          </p:cNvPr>
          <p:cNvSpPr>
            <a:spLocks noGrp="1"/>
          </p:cNvSpPr>
          <p:nvPr>
            <p:ph type="sldNum" sz="quarter" idx="12"/>
          </p:nvPr>
        </p:nvSpPr>
        <p:spPr/>
        <p:txBody>
          <a:bodyPr/>
          <a:lstStyle/>
          <a:p>
            <a:fld id="{F658837B-40B5-4133-89E8-87618F4A7753}" type="slidenum">
              <a:rPr lang="es-MX" smtClean="0"/>
              <a:t>‹Nº›</a:t>
            </a:fld>
            <a:endParaRPr lang="es-MX"/>
          </a:p>
        </p:txBody>
      </p:sp>
    </p:spTree>
    <p:extLst>
      <p:ext uri="{BB962C8B-B14F-4D97-AF65-F5344CB8AC3E}">
        <p14:creationId xmlns:p14="http://schemas.microsoft.com/office/powerpoint/2010/main" val="17995641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8E4A6FEE-A748-0A08-14A9-107067E4901E}"/>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93746E85-CB57-9E62-0A3A-331E251EFD21}"/>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3AA0AC23-EBA7-6335-0AFD-7E675B1CD926}"/>
              </a:ext>
            </a:extLst>
          </p:cNvPr>
          <p:cNvSpPr>
            <a:spLocks noGrp="1"/>
          </p:cNvSpPr>
          <p:nvPr>
            <p:ph type="dt" sz="half" idx="10"/>
          </p:nvPr>
        </p:nvSpPr>
        <p:spPr/>
        <p:txBody>
          <a:bodyPr/>
          <a:lstStyle/>
          <a:p>
            <a:fld id="{40A08BCF-E8E4-421D-9AE8-30286139E82B}" type="datetimeFigureOut">
              <a:rPr lang="es-MX" smtClean="0"/>
              <a:t>01/02/2026</a:t>
            </a:fld>
            <a:endParaRPr lang="es-MX"/>
          </a:p>
        </p:txBody>
      </p:sp>
      <p:sp>
        <p:nvSpPr>
          <p:cNvPr id="5" name="Marcador de pie de página 4">
            <a:extLst>
              <a:ext uri="{FF2B5EF4-FFF2-40B4-BE49-F238E27FC236}">
                <a16:creationId xmlns:a16="http://schemas.microsoft.com/office/drawing/2014/main" id="{5C3EB5F4-D6C9-B30A-1C4C-0DAB6A73BFD4}"/>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DDE4021D-FA19-BF22-D0AE-DA7CA69A2CF0}"/>
              </a:ext>
            </a:extLst>
          </p:cNvPr>
          <p:cNvSpPr>
            <a:spLocks noGrp="1"/>
          </p:cNvSpPr>
          <p:nvPr>
            <p:ph type="sldNum" sz="quarter" idx="12"/>
          </p:nvPr>
        </p:nvSpPr>
        <p:spPr/>
        <p:txBody>
          <a:bodyPr/>
          <a:lstStyle/>
          <a:p>
            <a:fld id="{F658837B-40B5-4133-89E8-87618F4A7753}" type="slidenum">
              <a:rPr lang="es-MX" smtClean="0"/>
              <a:t>‹Nº›</a:t>
            </a:fld>
            <a:endParaRPr lang="es-MX"/>
          </a:p>
        </p:txBody>
      </p:sp>
    </p:spTree>
    <p:extLst>
      <p:ext uri="{BB962C8B-B14F-4D97-AF65-F5344CB8AC3E}">
        <p14:creationId xmlns:p14="http://schemas.microsoft.com/office/powerpoint/2010/main" val="36075797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BAF7CF5B-148E-129C-5EB4-1F3033F43A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AA973235-1E4C-5384-1105-71DEEF67A32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38554A9C-0440-B7C0-031D-CA12A4ED8AE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0A08BCF-E8E4-421D-9AE8-30286139E82B}" type="datetimeFigureOut">
              <a:rPr lang="es-MX" smtClean="0"/>
              <a:t>01/02/2026</a:t>
            </a:fld>
            <a:endParaRPr lang="es-MX"/>
          </a:p>
        </p:txBody>
      </p:sp>
      <p:sp>
        <p:nvSpPr>
          <p:cNvPr id="5" name="Marcador de pie de página 4">
            <a:extLst>
              <a:ext uri="{FF2B5EF4-FFF2-40B4-BE49-F238E27FC236}">
                <a16:creationId xmlns:a16="http://schemas.microsoft.com/office/drawing/2014/main" id="{F4F5EBCC-C2E5-AE53-7060-E0EEC73F070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6DC45962-84AE-B764-1BB6-E6C13B7C1E7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658837B-40B5-4133-89E8-87618F4A7753}" type="slidenum">
              <a:rPr lang="es-MX" smtClean="0"/>
              <a:t>‹Nº›</a:t>
            </a:fld>
            <a:endParaRPr lang="es-MX"/>
          </a:p>
        </p:txBody>
      </p:sp>
    </p:spTree>
    <p:extLst>
      <p:ext uri="{BB962C8B-B14F-4D97-AF65-F5344CB8AC3E}">
        <p14:creationId xmlns:p14="http://schemas.microsoft.com/office/powerpoint/2010/main" val="42724353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www.youtube.com/watch?v=Ual3MzX1RHk"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hyperlink" Target="https://www.youtube.com/watch?v=b4FrILpELL0" TargetMode="Externa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hyperlink" Target="https://www.youtube.com/watch?v=Ual3MzX1RHk" TargetMode="External"/><Relationship Id="rId2" Type="http://schemas.openxmlformats.org/officeDocument/2006/relationships/hyperlink" Target="https://www.youtube.com/watch?v=b4FrILpELL0" TargetMode="Externa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hyperlink" Target="https://www.youtube.com/watch?v=b4FrILpELL0" TargetMode="Externa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www.youtube.com/watch?v=a_EfwFzm1ys"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hyperlink" Target="https://www.youtube.com/watch?v=b4FrILpELL0" TargetMode="External"/></Relationships>
</file>

<file path=ppt/slides/_rels/slide12.xml.rels><?xml version="1.0" encoding="UTF-8" standalone="yes"?>
<Relationships xmlns="http://schemas.openxmlformats.org/package/2006/relationships"><Relationship Id="rId2" Type="http://schemas.openxmlformats.org/officeDocument/2006/relationships/hyperlink" Target="https://www.youtube.com/watch?v=GyA4E02fHPY" TargetMode="Externa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hyperlink" Target="https://www.youtube.com/watch?v=ilVz49IQgqw" TargetMode="Externa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hyperlink" Target="https://www.youtube.com/watch?v=b4FrILpELL0" TargetMode="Externa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hyperlink" Target="https://www.youtube.com/watch?v=lLDe0AhQ6SA" TargetMode="Externa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hyperlink" Target="https://www.youtube.com/watch?v=b4FrILpELL0" TargetMode="Externa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1B3E1-BFDB-33E7-0E78-22CF8460F77B}"/>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265F61C0-4002-3D5E-F65D-939E511DE0A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4814" y="287655"/>
            <a:ext cx="11553825" cy="933450"/>
          </a:xfrm>
          <a:prstGeom prst="rect">
            <a:avLst/>
          </a:prstGeom>
          <a:noFill/>
          <a:ln>
            <a:noFill/>
          </a:ln>
        </p:spPr>
      </p:pic>
      <p:pic>
        <p:nvPicPr>
          <p:cNvPr id="2" name="Imagen 1">
            <a:extLst>
              <a:ext uri="{FF2B5EF4-FFF2-40B4-BE49-F238E27FC236}">
                <a16:creationId xmlns:a16="http://schemas.microsoft.com/office/drawing/2014/main" id="{FF1F3541-E749-F0A0-3CDC-04344A397464}"/>
              </a:ext>
            </a:extLst>
          </p:cNvPr>
          <p:cNvPicPr>
            <a:picLocks noChangeAspect="1"/>
          </p:cNvPicPr>
          <p:nvPr/>
        </p:nvPicPr>
        <p:blipFill>
          <a:blip r:embed="rId3"/>
          <a:stretch>
            <a:fillRect/>
          </a:stretch>
        </p:blipFill>
        <p:spPr>
          <a:xfrm>
            <a:off x="93650" y="1221105"/>
            <a:ext cx="12098350" cy="5636895"/>
          </a:xfrm>
          <a:prstGeom prst="rect">
            <a:avLst/>
          </a:prstGeom>
        </p:spPr>
      </p:pic>
    </p:spTree>
    <p:extLst>
      <p:ext uri="{BB962C8B-B14F-4D97-AF65-F5344CB8AC3E}">
        <p14:creationId xmlns:p14="http://schemas.microsoft.com/office/powerpoint/2010/main" val="12978669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8AA33-587D-E28C-41AE-784047BDAEFA}"/>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D0EC34F6-51AB-A91E-2B7F-7B3284971F2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4814" y="287655"/>
            <a:ext cx="11553825" cy="626745"/>
          </a:xfrm>
          <a:prstGeom prst="rect">
            <a:avLst/>
          </a:prstGeom>
          <a:noFill/>
          <a:ln>
            <a:noFill/>
          </a:ln>
        </p:spPr>
      </p:pic>
      <p:graphicFrame>
        <p:nvGraphicFramePr>
          <p:cNvPr id="2" name="Tabla 1">
            <a:extLst>
              <a:ext uri="{FF2B5EF4-FFF2-40B4-BE49-F238E27FC236}">
                <a16:creationId xmlns:a16="http://schemas.microsoft.com/office/drawing/2014/main" id="{00673A05-A09C-2723-8313-F07186BF4342}"/>
              </a:ext>
            </a:extLst>
          </p:cNvPr>
          <p:cNvGraphicFramePr>
            <a:graphicFrameLocks noGrp="1"/>
          </p:cNvGraphicFramePr>
          <p:nvPr>
            <p:extLst>
              <p:ext uri="{D42A27DB-BD31-4B8C-83A1-F6EECF244321}">
                <p14:modId xmlns:p14="http://schemas.microsoft.com/office/powerpoint/2010/main" val="2229671826"/>
              </p:ext>
            </p:extLst>
          </p:nvPr>
        </p:nvGraphicFramePr>
        <p:xfrm>
          <a:off x="623888" y="1252025"/>
          <a:ext cx="10944224" cy="4905752"/>
        </p:xfrm>
        <a:graphic>
          <a:graphicData uri="http://schemas.openxmlformats.org/drawingml/2006/table">
            <a:tbl>
              <a:tblPr firstRow="1" firstCol="1" bandRow="1"/>
              <a:tblGrid>
                <a:gridCol w="1473533">
                  <a:extLst>
                    <a:ext uri="{9D8B030D-6E8A-4147-A177-3AD203B41FA5}">
                      <a16:colId xmlns:a16="http://schemas.microsoft.com/office/drawing/2014/main" val="1793607776"/>
                    </a:ext>
                  </a:extLst>
                </a:gridCol>
                <a:gridCol w="1656529">
                  <a:extLst>
                    <a:ext uri="{9D8B030D-6E8A-4147-A177-3AD203B41FA5}">
                      <a16:colId xmlns:a16="http://schemas.microsoft.com/office/drawing/2014/main" val="3680576335"/>
                    </a:ext>
                  </a:extLst>
                </a:gridCol>
                <a:gridCol w="689316">
                  <a:extLst>
                    <a:ext uri="{9D8B030D-6E8A-4147-A177-3AD203B41FA5}">
                      <a16:colId xmlns:a16="http://schemas.microsoft.com/office/drawing/2014/main" val="798922185"/>
                    </a:ext>
                  </a:extLst>
                </a:gridCol>
                <a:gridCol w="4283934">
                  <a:extLst>
                    <a:ext uri="{9D8B030D-6E8A-4147-A177-3AD203B41FA5}">
                      <a16:colId xmlns:a16="http://schemas.microsoft.com/office/drawing/2014/main" val="131858313"/>
                    </a:ext>
                  </a:extLst>
                </a:gridCol>
                <a:gridCol w="2840912">
                  <a:extLst>
                    <a:ext uri="{9D8B030D-6E8A-4147-A177-3AD203B41FA5}">
                      <a16:colId xmlns:a16="http://schemas.microsoft.com/office/drawing/2014/main" val="2374768068"/>
                    </a:ext>
                  </a:extLst>
                </a:gridCol>
              </a:tblGrid>
              <a:tr h="205255">
                <a:tc>
                  <a:txBody>
                    <a:bodyPr/>
                    <a:lstStyle/>
                    <a:p>
                      <a:pPr algn="l">
                        <a:lnSpc>
                          <a:spcPct val="107000"/>
                        </a:lnSpc>
                        <a:spcAft>
                          <a:spcPts val="800"/>
                        </a:spcAft>
                        <a:buNone/>
                      </a:pPr>
                      <a:r>
                        <a:rPr lang="es-MX" sz="1200" b="1" kern="100" dirty="0">
                          <a:solidFill>
                            <a:srgbClr val="4472C4"/>
                          </a:solidFill>
                          <a:effectLst/>
                          <a:latin typeface="+mn-lt"/>
                          <a:ea typeface="Calibri" panose="020F0502020204030204" pitchFamily="34" charset="0"/>
                          <a:cs typeface="Arial" panose="020B0604020202020204" pitchFamily="34" charset="0"/>
                        </a:rPr>
                        <a:t>     ESCUELA</a:t>
                      </a:r>
                      <a:endParaRPr lang="es-MX" sz="1200" kern="100" dirty="0">
                        <a:effectLst/>
                        <a:latin typeface="+mn-lt"/>
                        <a:ea typeface="Calibri" panose="020F0502020204030204" pitchFamily="34" charset="0"/>
                        <a:cs typeface="Times New Roman" panose="02020603050405020304" pitchFamily="18" charset="0"/>
                      </a:endParaRPr>
                    </a:p>
                  </a:txBody>
                  <a:tcPr marL="32352" marR="323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1200" kern="100">
                          <a:effectLst/>
                          <a:latin typeface="+mn-lt"/>
                          <a:ea typeface="Calibri" panose="020F0502020204030204" pitchFamily="34" charset="0"/>
                          <a:cs typeface="Arial" panose="020B0604020202020204" pitchFamily="34" charset="0"/>
                        </a:rPr>
                        <a:t>  C.E.P.I. IZTACCIHUATL</a:t>
                      </a:r>
                      <a:endParaRPr lang="es-MX" sz="1200" kern="100">
                        <a:effectLst/>
                        <a:latin typeface="+mn-lt"/>
                        <a:ea typeface="Calibri" panose="020F0502020204030204" pitchFamily="34" charset="0"/>
                        <a:cs typeface="Times New Roman" panose="02020603050405020304" pitchFamily="18" charset="0"/>
                      </a:endParaRPr>
                    </a:p>
                  </a:txBody>
                  <a:tcPr marL="32352" marR="323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2">
                  <a:txBody>
                    <a:bodyPr/>
                    <a:lstStyle/>
                    <a:p>
                      <a:pPr algn="l">
                        <a:lnSpc>
                          <a:spcPct val="107000"/>
                        </a:lnSpc>
                        <a:spcAft>
                          <a:spcPts val="800"/>
                        </a:spcAft>
                        <a:buNone/>
                      </a:pPr>
                      <a:r>
                        <a:rPr lang="es-MX" sz="1200" kern="100">
                          <a:effectLst/>
                          <a:latin typeface="+mn-lt"/>
                          <a:ea typeface="Calibri" panose="020F0502020204030204" pitchFamily="34" charset="0"/>
                          <a:cs typeface="Arial" panose="020B0604020202020204" pitchFamily="34" charset="0"/>
                        </a:rPr>
                        <a:t>                                              </a:t>
                      </a:r>
                      <a:r>
                        <a:rPr lang="es-MX" sz="1200" b="1" kern="100">
                          <a:effectLst/>
                          <a:latin typeface="+mn-lt"/>
                          <a:ea typeface="Calibri" panose="020F0502020204030204" pitchFamily="34" charset="0"/>
                          <a:cs typeface="Arial" panose="020B0604020202020204" pitchFamily="34" charset="0"/>
                        </a:rPr>
                        <a:t>C.C.T</a:t>
                      </a:r>
                      <a:r>
                        <a:rPr lang="es-MX" sz="1200" kern="100">
                          <a:effectLst/>
                          <a:latin typeface="+mn-lt"/>
                          <a:ea typeface="Calibri" panose="020F0502020204030204" pitchFamily="34" charset="0"/>
                          <a:cs typeface="Arial" panose="020B0604020202020204" pitchFamily="34" charset="0"/>
                        </a:rPr>
                        <a:t>.: </a:t>
                      </a:r>
                      <a:endParaRPr lang="es-MX" sz="1200" kern="100">
                        <a:effectLst/>
                        <a:latin typeface="+mn-lt"/>
                        <a:ea typeface="Calibri" panose="020F0502020204030204" pitchFamily="34" charset="0"/>
                        <a:cs typeface="Times New Roman" panose="02020603050405020304" pitchFamily="18" charset="0"/>
                      </a:endParaRPr>
                    </a:p>
                  </a:txBody>
                  <a:tcPr marL="32352" marR="323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pPr algn="l">
                        <a:lnSpc>
                          <a:spcPct val="107000"/>
                        </a:lnSpc>
                        <a:spcAft>
                          <a:spcPts val="800"/>
                        </a:spcAft>
                        <a:buNone/>
                      </a:pPr>
                      <a:r>
                        <a:rPr lang="es-MX" sz="1200" kern="100">
                          <a:effectLst/>
                          <a:latin typeface="+mn-lt"/>
                          <a:ea typeface="Calibri" panose="020F0502020204030204" pitchFamily="34" charset="0"/>
                          <a:cs typeface="Arial" panose="020B0604020202020204" pitchFamily="34" charset="0"/>
                        </a:rPr>
                        <a:t>                                              </a:t>
                      </a:r>
                      <a:r>
                        <a:rPr lang="es-MX" sz="1200" b="1" kern="100">
                          <a:effectLst/>
                          <a:latin typeface="+mn-lt"/>
                          <a:ea typeface="Calibri" panose="020F0502020204030204" pitchFamily="34" charset="0"/>
                          <a:cs typeface="Arial" panose="020B0604020202020204" pitchFamily="34" charset="0"/>
                        </a:rPr>
                        <a:t>C.C.T</a:t>
                      </a:r>
                      <a:r>
                        <a:rPr lang="es-MX" sz="1200" kern="100">
                          <a:effectLst/>
                          <a:latin typeface="+mn-lt"/>
                          <a:ea typeface="Calibri" panose="020F0502020204030204" pitchFamily="34" charset="0"/>
                          <a:cs typeface="Arial" panose="020B0604020202020204" pitchFamily="34" charset="0"/>
                        </a:rPr>
                        <a:t>.: </a:t>
                      </a:r>
                      <a:endParaRPr lang="es-MX" sz="1200" kern="100">
                        <a:effectLst/>
                        <a:latin typeface="+mn-lt"/>
                        <a:ea typeface="Calibri" panose="020F0502020204030204" pitchFamily="34" charset="0"/>
                        <a:cs typeface="Times New Roman" panose="02020603050405020304" pitchFamily="18" charset="0"/>
                      </a:endParaRPr>
                    </a:p>
                  </a:txBody>
                  <a:tcPr marL="32352" marR="323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1200" kern="100" dirty="0">
                          <a:effectLst/>
                          <a:latin typeface="+mn-lt"/>
                          <a:ea typeface="Calibri" panose="020F0502020204030204" pitchFamily="34" charset="0"/>
                          <a:cs typeface="Arial" panose="020B0604020202020204" pitchFamily="34" charset="0"/>
                        </a:rPr>
                        <a:t>                       21DCC0762J</a:t>
                      </a:r>
                    </a:p>
                    <a:p>
                      <a:pPr algn="l">
                        <a:lnSpc>
                          <a:spcPct val="107000"/>
                        </a:lnSpc>
                        <a:spcAft>
                          <a:spcPts val="800"/>
                        </a:spcAft>
                        <a:buNone/>
                      </a:pPr>
                      <a:endParaRPr lang="es-MX" sz="1200" kern="100" dirty="0">
                        <a:effectLst/>
                        <a:latin typeface="+mn-lt"/>
                        <a:ea typeface="Calibri" panose="020F0502020204030204" pitchFamily="34" charset="0"/>
                        <a:cs typeface="Times New Roman" panose="02020603050405020304" pitchFamily="18" charset="0"/>
                      </a:endParaRPr>
                    </a:p>
                  </a:txBody>
                  <a:tcPr marL="32352" marR="323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4299829"/>
                  </a:ext>
                </a:extLst>
              </a:tr>
              <a:tr h="205255">
                <a:tc gridSpan="2">
                  <a:txBody>
                    <a:bodyPr/>
                    <a:lstStyle/>
                    <a:p>
                      <a:pPr algn="l">
                        <a:lnSpc>
                          <a:spcPct val="107000"/>
                        </a:lnSpc>
                        <a:spcAft>
                          <a:spcPts val="800"/>
                        </a:spcAft>
                        <a:buNone/>
                      </a:pPr>
                      <a:r>
                        <a:rPr lang="es-MX" sz="1200" kern="100">
                          <a:effectLst/>
                          <a:latin typeface="+mn-lt"/>
                          <a:ea typeface="Calibri" panose="020F0502020204030204" pitchFamily="34" charset="0"/>
                          <a:cs typeface="Arial" panose="020B0604020202020204" pitchFamily="34" charset="0"/>
                        </a:rPr>
                        <a:t>FASE: 2</a:t>
                      </a:r>
                      <a:endParaRPr lang="es-MX" sz="1200" kern="100">
                        <a:effectLst/>
                        <a:latin typeface="+mn-lt"/>
                        <a:ea typeface="Calibri" panose="020F0502020204030204" pitchFamily="34" charset="0"/>
                        <a:cs typeface="Times New Roman" panose="02020603050405020304" pitchFamily="18" charset="0"/>
                      </a:endParaRPr>
                    </a:p>
                  </a:txBody>
                  <a:tcPr marL="32352" marR="323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s-MX"/>
                    </a:p>
                  </a:txBody>
                  <a:tcPr/>
                </a:tc>
                <a:tc gridSpan="2">
                  <a:txBody>
                    <a:bodyPr/>
                    <a:lstStyle/>
                    <a:p>
                      <a:pPr algn="l">
                        <a:lnSpc>
                          <a:spcPct val="107000"/>
                        </a:lnSpc>
                        <a:spcAft>
                          <a:spcPts val="800"/>
                        </a:spcAft>
                        <a:buNone/>
                      </a:pPr>
                      <a:r>
                        <a:rPr lang="es-MX" sz="1200" kern="100" dirty="0">
                          <a:effectLst/>
                          <a:latin typeface="+mn-lt"/>
                          <a:ea typeface="Calibri" panose="020F0502020204030204" pitchFamily="34" charset="0"/>
                          <a:cs typeface="Arial" panose="020B0604020202020204" pitchFamily="34" charset="0"/>
                        </a:rPr>
                        <a:t> </a:t>
                      </a:r>
                      <a:r>
                        <a:rPr lang="es-MX" sz="1200" b="1" kern="100" dirty="0">
                          <a:effectLst/>
                          <a:latin typeface="+mn-lt"/>
                          <a:ea typeface="Calibri" panose="020F0502020204030204" pitchFamily="34" charset="0"/>
                          <a:cs typeface="Arial" panose="020B0604020202020204" pitchFamily="34" charset="0"/>
                        </a:rPr>
                        <a:t>Maestra de Grupo:          Juana Baltazar Jacobo</a:t>
                      </a:r>
                      <a:endParaRPr lang="es-MX" sz="1200" kern="100" dirty="0">
                        <a:effectLst/>
                        <a:latin typeface="+mn-lt"/>
                        <a:ea typeface="Calibri" panose="020F0502020204030204" pitchFamily="34" charset="0"/>
                        <a:cs typeface="Times New Roman" panose="02020603050405020304" pitchFamily="18" charset="0"/>
                      </a:endParaRPr>
                    </a:p>
                  </a:txBody>
                  <a:tcPr marL="32352" marR="323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pPr algn="l">
                        <a:lnSpc>
                          <a:spcPct val="107000"/>
                        </a:lnSpc>
                        <a:spcAft>
                          <a:spcPts val="800"/>
                        </a:spcAft>
                        <a:buNone/>
                      </a:pPr>
                      <a:r>
                        <a:rPr lang="es-MX" sz="1200" kern="100">
                          <a:effectLst/>
                          <a:latin typeface="+mn-lt"/>
                          <a:ea typeface="Calibri" panose="020F0502020204030204" pitchFamily="34" charset="0"/>
                          <a:cs typeface="Arial" panose="020B0604020202020204" pitchFamily="34" charset="0"/>
                        </a:rPr>
                        <a:t> </a:t>
                      </a:r>
                      <a:r>
                        <a:rPr lang="es-MX" sz="1200" b="1" kern="100">
                          <a:effectLst/>
                          <a:latin typeface="+mn-lt"/>
                          <a:ea typeface="Calibri" panose="020F0502020204030204" pitchFamily="34" charset="0"/>
                          <a:cs typeface="Arial" panose="020B0604020202020204" pitchFamily="34" charset="0"/>
                        </a:rPr>
                        <a:t>Maestra de Grupo:      Juana Baltazar Jacobo</a:t>
                      </a:r>
                      <a:endParaRPr lang="es-MX" sz="1200" kern="100">
                        <a:effectLst/>
                        <a:latin typeface="+mn-lt"/>
                        <a:ea typeface="Calibri" panose="020F0502020204030204" pitchFamily="34" charset="0"/>
                        <a:cs typeface="Times New Roman" panose="02020603050405020304" pitchFamily="18" charset="0"/>
                      </a:endParaRPr>
                    </a:p>
                  </a:txBody>
                  <a:tcPr marL="32352" marR="323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1200" b="1" kern="100">
                          <a:effectLst/>
                          <a:latin typeface="+mn-lt"/>
                          <a:ea typeface="Calibri" panose="020F0502020204030204" pitchFamily="34" charset="0"/>
                          <a:cs typeface="Arial" panose="020B0604020202020204" pitchFamily="34" charset="0"/>
                        </a:rPr>
                        <a:t>      GRADO:</a:t>
                      </a:r>
                      <a:r>
                        <a:rPr lang="es-MX" sz="1200" kern="100">
                          <a:effectLst/>
                          <a:latin typeface="+mn-lt"/>
                          <a:ea typeface="Calibri" panose="020F0502020204030204" pitchFamily="34" charset="0"/>
                          <a:cs typeface="Arial" panose="020B0604020202020204" pitchFamily="34" charset="0"/>
                        </a:rPr>
                        <a:t>             1 °  “A”</a:t>
                      </a:r>
                      <a:endParaRPr lang="es-MX" sz="1200" kern="100">
                        <a:effectLst/>
                        <a:latin typeface="+mn-lt"/>
                        <a:ea typeface="Calibri" panose="020F0502020204030204" pitchFamily="34" charset="0"/>
                        <a:cs typeface="Times New Roman" panose="02020603050405020304" pitchFamily="18" charset="0"/>
                      </a:endParaRPr>
                    </a:p>
                  </a:txBody>
                  <a:tcPr marL="32352" marR="323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46017402"/>
                  </a:ext>
                </a:extLst>
              </a:tr>
              <a:tr h="205255">
                <a:tc gridSpan="5">
                  <a:txBody>
                    <a:bodyPr/>
                    <a:lstStyle/>
                    <a:p>
                      <a:pPr algn="l">
                        <a:lnSpc>
                          <a:spcPct val="107000"/>
                        </a:lnSpc>
                        <a:spcAft>
                          <a:spcPts val="800"/>
                        </a:spcAft>
                        <a:buNone/>
                      </a:pPr>
                      <a:r>
                        <a:rPr lang="es-MX" sz="1200" b="1" kern="100">
                          <a:effectLst/>
                          <a:latin typeface="+mn-lt"/>
                          <a:ea typeface="Calibri" panose="020F0502020204030204" pitchFamily="34" charset="0"/>
                          <a:cs typeface="Times New Roman" panose="02020603050405020304" pitchFamily="18" charset="0"/>
                        </a:rPr>
                        <a:t> </a:t>
                      </a:r>
                      <a:endParaRPr lang="es-MX" sz="1200" kern="100">
                        <a:effectLst/>
                        <a:latin typeface="+mn-lt"/>
                        <a:ea typeface="Calibri" panose="020F0502020204030204" pitchFamily="34" charset="0"/>
                        <a:cs typeface="Times New Roman" panose="02020603050405020304" pitchFamily="18" charset="0"/>
                      </a:endParaRPr>
                    </a:p>
                  </a:txBody>
                  <a:tcPr marL="32352" marR="323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s-MX"/>
                    </a:p>
                  </a:txBody>
                  <a:tcPr/>
                </a:tc>
                <a:tc hMerge="1">
                  <a:txBody>
                    <a:bodyPr/>
                    <a:lstStyle/>
                    <a:p>
                      <a:endParaRPr lang="es-MX"/>
                    </a:p>
                  </a:txBody>
                  <a:tcPr/>
                </a:tc>
                <a:tc hMerge="1">
                  <a:txBody>
                    <a:bodyPr/>
                    <a:lstStyle/>
                    <a:p>
                      <a:endParaRPr lang="es-MX"/>
                    </a:p>
                  </a:txBody>
                  <a:tcPr/>
                </a:tc>
                <a:tc hMerge="1">
                  <a:txBody>
                    <a:bodyPr/>
                    <a:lstStyle/>
                    <a:p>
                      <a:endParaRPr lang="es-MX"/>
                    </a:p>
                  </a:txBody>
                  <a:tcPr/>
                </a:tc>
                <a:extLst>
                  <a:ext uri="{0D108BD9-81ED-4DB2-BD59-A6C34878D82A}">
                    <a16:rowId xmlns:a16="http://schemas.microsoft.com/office/drawing/2014/main" val="3668555870"/>
                  </a:ext>
                </a:extLst>
              </a:tr>
              <a:tr h="355854">
                <a:tc gridSpan="3">
                  <a:txBody>
                    <a:bodyPr/>
                    <a:lstStyle/>
                    <a:p>
                      <a:pPr algn="l">
                        <a:lnSpc>
                          <a:spcPct val="107000"/>
                        </a:lnSpc>
                        <a:spcAft>
                          <a:spcPts val="800"/>
                        </a:spcAft>
                        <a:buNone/>
                      </a:pPr>
                      <a:r>
                        <a:rPr lang="es-MX" sz="1200" b="1" kern="100" dirty="0">
                          <a:solidFill>
                            <a:srgbClr val="4472C4"/>
                          </a:solidFill>
                          <a:effectLst/>
                          <a:latin typeface="+mn-lt"/>
                          <a:ea typeface="Calibri" panose="020F0502020204030204" pitchFamily="34" charset="0"/>
                          <a:cs typeface="Arial" panose="020B0604020202020204" pitchFamily="34" charset="0"/>
                        </a:rPr>
                        <a:t>TEMA NODAL</a:t>
                      </a:r>
                      <a:endParaRPr lang="es-MX" sz="1200" kern="100" dirty="0">
                        <a:effectLst/>
                        <a:latin typeface="+mn-lt"/>
                        <a:ea typeface="Calibri" panose="020F0502020204030204" pitchFamily="34" charset="0"/>
                        <a:cs typeface="Times New Roman" panose="02020603050405020304" pitchFamily="18" charset="0"/>
                      </a:endParaRPr>
                    </a:p>
                  </a:txBody>
                  <a:tcPr marL="32352" marR="323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s-MX"/>
                    </a:p>
                  </a:txBody>
                  <a:tcPr/>
                </a:tc>
                <a:tc hMerge="1">
                  <a:txBody>
                    <a:bodyPr/>
                    <a:lstStyle/>
                    <a:p>
                      <a:pPr algn="l">
                        <a:lnSpc>
                          <a:spcPct val="107000"/>
                        </a:lnSpc>
                        <a:spcAft>
                          <a:spcPts val="800"/>
                        </a:spcAft>
                        <a:buNone/>
                      </a:pPr>
                      <a:endParaRPr lang="es-MX" sz="1200" kern="100">
                        <a:effectLst/>
                        <a:latin typeface="+mn-lt"/>
                        <a:ea typeface="Calibri" panose="020F0502020204030204" pitchFamily="34" charset="0"/>
                        <a:cs typeface="Times New Roman" panose="02020603050405020304" pitchFamily="18" charset="0"/>
                      </a:endParaRPr>
                    </a:p>
                  </a:txBody>
                  <a:tcPr marL="32352" marR="323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2">
                  <a:txBody>
                    <a:bodyPr/>
                    <a:lstStyle/>
                    <a:p>
                      <a:pPr algn="l">
                        <a:lnSpc>
                          <a:spcPct val="107000"/>
                        </a:lnSpc>
                        <a:spcBef>
                          <a:spcPts val="800"/>
                        </a:spcBef>
                        <a:spcAft>
                          <a:spcPts val="400"/>
                        </a:spcAft>
                        <a:buNone/>
                      </a:pPr>
                      <a:r>
                        <a:rPr lang="es-MX" sz="1200" b="1" kern="100">
                          <a:solidFill>
                            <a:srgbClr val="2F5496"/>
                          </a:solidFill>
                          <a:effectLst/>
                          <a:latin typeface="+mn-lt"/>
                          <a:ea typeface="Times New Roman" panose="02020603050405020304" pitchFamily="18" charset="0"/>
                          <a:cs typeface="Times New Roman" panose="02020603050405020304" pitchFamily="18" charset="0"/>
                        </a:rPr>
                        <a:t>Revitalicemos Saberes, Lengua Y Cultura De San José Chapulco</a:t>
                      </a:r>
                    </a:p>
                  </a:txBody>
                  <a:tcPr marL="32352" marR="323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s-MX"/>
                    </a:p>
                  </a:txBody>
                  <a:tcPr/>
                </a:tc>
                <a:extLst>
                  <a:ext uri="{0D108BD9-81ED-4DB2-BD59-A6C34878D82A}">
                    <a16:rowId xmlns:a16="http://schemas.microsoft.com/office/drawing/2014/main" val="2176977178"/>
                  </a:ext>
                </a:extLst>
              </a:tr>
              <a:tr h="355854">
                <a:tc gridSpan="3">
                  <a:txBody>
                    <a:bodyPr/>
                    <a:lstStyle/>
                    <a:p>
                      <a:pPr algn="l">
                        <a:lnSpc>
                          <a:spcPct val="107000"/>
                        </a:lnSpc>
                        <a:spcAft>
                          <a:spcPts val="800"/>
                        </a:spcAft>
                        <a:buNone/>
                      </a:pPr>
                      <a:r>
                        <a:rPr lang="es-MX" sz="1200" kern="100" dirty="0">
                          <a:solidFill>
                            <a:srgbClr val="4472C4"/>
                          </a:solidFill>
                          <a:effectLst/>
                          <a:latin typeface="+mn-lt"/>
                          <a:ea typeface="Calibri" panose="020F0502020204030204" pitchFamily="34" charset="0"/>
                          <a:cs typeface="Times New Roman" panose="02020603050405020304" pitchFamily="18" charset="0"/>
                        </a:rPr>
                        <a:t>TEMA</a:t>
                      </a:r>
                      <a:endParaRPr lang="es-MX" sz="1200" kern="100" dirty="0">
                        <a:effectLst/>
                        <a:latin typeface="+mn-lt"/>
                        <a:ea typeface="Calibri" panose="020F0502020204030204" pitchFamily="34" charset="0"/>
                        <a:cs typeface="Times New Roman" panose="02020603050405020304" pitchFamily="18" charset="0"/>
                      </a:endParaRPr>
                    </a:p>
                  </a:txBody>
                  <a:tcPr marL="32352" marR="323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s-MX"/>
                    </a:p>
                  </a:txBody>
                  <a:tcPr/>
                </a:tc>
                <a:tc hMerge="1">
                  <a:txBody>
                    <a:bodyPr/>
                    <a:lstStyle/>
                    <a:p>
                      <a:pPr algn="l">
                        <a:lnSpc>
                          <a:spcPct val="107000"/>
                        </a:lnSpc>
                        <a:spcAft>
                          <a:spcPts val="800"/>
                        </a:spcAft>
                        <a:buNone/>
                      </a:pPr>
                      <a:endParaRPr lang="es-MX" sz="1200" kern="100">
                        <a:effectLst/>
                        <a:latin typeface="+mn-lt"/>
                        <a:ea typeface="Calibri" panose="020F0502020204030204" pitchFamily="34" charset="0"/>
                        <a:cs typeface="Times New Roman" panose="02020603050405020304" pitchFamily="18" charset="0"/>
                      </a:endParaRPr>
                    </a:p>
                  </a:txBody>
                  <a:tcPr marL="32352" marR="323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2">
                  <a:txBody>
                    <a:bodyPr/>
                    <a:lstStyle/>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Saberes, sabores y colores del maíz de San José Chapulco</a:t>
                      </a:r>
                    </a:p>
                  </a:txBody>
                  <a:tcPr marL="32352" marR="323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s-MX"/>
                    </a:p>
                  </a:txBody>
                  <a:tcPr/>
                </a:tc>
                <a:extLst>
                  <a:ext uri="{0D108BD9-81ED-4DB2-BD59-A6C34878D82A}">
                    <a16:rowId xmlns:a16="http://schemas.microsoft.com/office/drawing/2014/main" val="1643023969"/>
                  </a:ext>
                </a:extLst>
              </a:tr>
              <a:tr h="382713">
                <a:tc gridSpan="3">
                  <a:txBody>
                    <a:bodyPr/>
                    <a:lstStyle/>
                    <a:p>
                      <a:pPr algn="l">
                        <a:lnSpc>
                          <a:spcPct val="107000"/>
                        </a:lnSpc>
                        <a:spcAft>
                          <a:spcPts val="800"/>
                        </a:spcAft>
                        <a:buNone/>
                      </a:pPr>
                      <a:r>
                        <a:rPr lang="es-MX" sz="1200" b="1" kern="100" dirty="0">
                          <a:solidFill>
                            <a:srgbClr val="4472C4"/>
                          </a:solidFill>
                          <a:effectLst/>
                          <a:latin typeface="+mn-lt"/>
                          <a:ea typeface="Calibri" panose="020F0502020204030204" pitchFamily="34" charset="0"/>
                          <a:cs typeface="Arial" panose="020B0604020202020204" pitchFamily="34" charset="0"/>
                        </a:rPr>
                        <a:t>METODOLOGIA</a:t>
                      </a:r>
                      <a:endParaRPr lang="es-MX" sz="1200" kern="100" dirty="0">
                        <a:effectLst/>
                        <a:latin typeface="+mn-lt"/>
                        <a:ea typeface="Calibri" panose="020F0502020204030204" pitchFamily="34" charset="0"/>
                        <a:cs typeface="Times New Roman" panose="02020603050405020304" pitchFamily="18" charset="0"/>
                      </a:endParaRPr>
                    </a:p>
                  </a:txBody>
                  <a:tcPr marL="32352" marR="323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s-MX"/>
                    </a:p>
                  </a:txBody>
                  <a:tcPr/>
                </a:tc>
                <a:tc hMerge="1">
                  <a:txBody>
                    <a:bodyPr/>
                    <a:lstStyle/>
                    <a:p>
                      <a:pPr algn="l">
                        <a:lnSpc>
                          <a:spcPct val="107000"/>
                        </a:lnSpc>
                        <a:spcAft>
                          <a:spcPts val="800"/>
                        </a:spcAft>
                        <a:buNone/>
                      </a:pPr>
                      <a:endParaRPr lang="es-MX" sz="1200" kern="100">
                        <a:effectLst/>
                        <a:latin typeface="+mn-lt"/>
                        <a:ea typeface="Calibri" panose="020F0502020204030204" pitchFamily="34" charset="0"/>
                        <a:cs typeface="Times New Roman" panose="02020603050405020304" pitchFamily="18" charset="0"/>
                      </a:endParaRPr>
                    </a:p>
                  </a:txBody>
                  <a:tcPr marL="32352" marR="323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2">
                  <a:txBody>
                    <a:bodyPr/>
                    <a:lstStyle/>
                    <a:p>
                      <a:pPr algn="l">
                        <a:lnSpc>
                          <a:spcPct val="107000"/>
                        </a:lnSpc>
                        <a:spcAft>
                          <a:spcPts val="800"/>
                        </a:spcAft>
                        <a:buNone/>
                      </a:pPr>
                      <a:r>
                        <a:rPr lang="es-MX" sz="1200" kern="100" dirty="0">
                          <a:effectLst/>
                          <a:latin typeface="+mn-lt"/>
                          <a:ea typeface="Calibri" panose="020F0502020204030204" pitchFamily="34" charset="0"/>
                          <a:cs typeface="Arial" panose="020B0604020202020204" pitchFamily="34" charset="0"/>
                        </a:rPr>
                        <a:t> APRENDIZAJE SITUADO</a:t>
                      </a:r>
                      <a:endParaRPr lang="es-MX" sz="1200" kern="100" dirty="0">
                        <a:effectLst/>
                        <a:latin typeface="+mn-lt"/>
                        <a:ea typeface="Calibri" panose="020F0502020204030204" pitchFamily="34" charset="0"/>
                        <a:cs typeface="Times New Roman" panose="02020603050405020304" pitchFamily="18" charset="0"/>
                      </a:endParaRPr>
                    </a:p>
                  </a:txBody>
                  <a:tcPr marL="32352" marR="323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s-MX"/>
                    </a:p>
                  </a:txBody>
                  <a:tcPr/>
                </a:tc>
                <a:extLst>
                  <a:ext uri="{0D108BD9-81ED-4DB2-BD59-A6C34878D82A}">
                    <a16:rowId xmlns:a16="http://schemas.microsoft.com/office/drawing/2014/main" val="749723070"/>
                  </a:ext>
                </a:extLst>
              </a:tr>
              <a:tr h="417821">
                <a:tc gridSpan="3">
                  <a:txBody>
                    <a:bodyPr/>
                    <a:lstStyle/>
                    <a:p>
                      <a:pPr algn="l">
                        <a:lnSpc>
                          <a:spcPct val="107000"/>
                        </a:lnSpc>
                        <a:spcAft>
                          <a:spcPts val="800"/>
                        </a:spcAft>
                        <a:buNone/>
                      </a:pPr>
                      <a:r>
                        <a:rPr lang="es-MX" sz="1200" b="1" kern="100" dirty="0">
                          <a:solidFill>
                            <a:srgbClr val="4472C4"/>
                          </a:solidFill>
                          <a:effectLst/>
                          <a:latin typeface="+mn-lt"/>
                          <a:ea typeface="Calibri" panose="020F0502020204030204" pitchFamily="34" charset="0"/>
                          <a:cs typeface="Arial" panose="020B0604020202020204" pitchFamily="34" charset="0"/>
                        </a:rPr>
                        <a:t> PROBLEMA O SITUACIÓN</a:t>
                      </a:r>
                      <a:endParaRPr lang="es-MX" sz="1200" kern="100" dirty="0">
                        <a:effectLst/>
                        <a:latin typeface="+mn-lt"/>
                        <a:ea typeface="Calibri" panose="020F0502020204030204" pitchFamily="34" charset="0"/>
                        <a:cs typeface="Times New Roman" panose="02020603050405020304" pitchFamily="18" charset="0"/>
                      </a:endParaRPr>
                    </a:p>
                  </a:txBody>
                  <a:tcPr marL="32352" marR="323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s-MX"/>
                    </a:p>
                  </a:txBody>
                  <a:tcPr/>
                </a:tc>
                <a:tc hMerge="1">
                  <a:txBody>
                    <a:bodyPr/>
                    <a:lstStyle/>
                    <a:p>
                      <a:pPr algn="l">
                        <a:lnSpc>
                          <a:spcPct val="107000"/>
                        </a:lnSpc>
                        <a:spcAft>
                          <a:spcPts val="800"/>
                        </a:spcAft>
                        <a:buNone/>
                      </a:pPr>
                      <a:endParaRPr lang="es-MX" sz="1200" kern="100" dirty="0">
                        <a:effectLst/>
                        <a:latin typeface="+mn-lt"/>
                        <a:ea typeface="Calibri" panose="020F0502020204030204" pitchFamily="34" charset="0"/>
                        <a:cs typeface="Times New Roman" panose="02020603050405020304" pitchFamily="18" charset="0"/>
                      </a:endParaRPr>
                    </a:p>
                  </a:txBody>
                  <a:tcPr marL="32352" marR="323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2">
                  <a:txBody>
                    <a:bodyPr/>
                    <a:lstStyle/>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Las niñas y los niños consumen alimentos sin conocer su origen, significado cultural ni su valor para la salud y la identidad de su comunidad.</a:t>
                      </a:r>
                    </a:p>
                  </a:txBody>
                  <a:tcPr marL="32352" marR="323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s-MX"/>
                    </a:p>
                  </a:txBody>
                  <a:tcPr/>
                </a:tc>
                <a:extLst>
                  <a:ext uri="{0D108BD9-81ED-4DB2-BD59-A6C34878D82A}">
                    <a16:rowId xmlns:a16="http://schemas.microsoft.com/office/drawing/2014/main" val="1684442753"/>
                  </a:ext>
                </a:extLst>
              </a:tr>
              <a:tr h="528173">
                <a:tc gridSpan="3">
                  <a:txBody>
                    <a:bodyPr/>
                    <a:lstStyle/>
                    <a:p>
                      <a:pPr algn="l">
                        <a:lnSpc>
                          <a:spcPct val="107000"/>
                        </a:lnSpc>
                        <a:spcAft>
                          <a:spcPts val="800"/>
                        </a:spcAft>
                        <a:buNone/>
                      </a:pPr>
                      <a:r>
                        <a:rPr lang="es-MX" sz="1200" b="1" kern="100">
                          <a:solidFill>
                            <a:srgbClr val="4472C4"/>
                          </a:solidFill>
                          <a:effectLst/>
                          <a:latin typeface="+mn-lt"/>
                          <a:ea typeface="Calibri" panose="020F0502020204030204" pitchFamily="34" charset="0"/>
                          <a:cs typeface="Arial" panose="020B0604020202020204" pitchFamily="34" charset="0"/>
                        </a:rPr>
                        <a:t> </a:t>
                      </a:r>
                      <a:endParaRPr lang="es-MX" sz="1200" kern="100">
                        <a:effectLst/>
                        <a:latin typeface="+mn-lt"/>
                        <a:ea typeface="Calibri" panose="020F0502020204030204" pitchFamily="34" charset="0"/>
                        <a:cs typeface="Times New Roman" panose="02020603050405020304" pitchFamily="18" charset="0"/>
                      </a:endParaRPr>
                    </a:p>
                    <a:p>
                      <a:pPr algn="l">
                        <a:lnSpc>
                          <a:spcPct val="107000"/>
                        </a:lnSpc>
                        <a:spcAft>
                          <a:spcPts val="800"/>
                        </a:spcAft>
                        <a:buNone/>
                      </a:pPr>
                      <a:r>
                        <a:rPr lang="es-MX" sz="1200" b="1" kern="100">
                          <a:solidFill>
                            <a:srgbClr val="4472C4"/>
                          </a:solidFill>
                          <a:effectLst/>
                          <a:latin typeface="+mn-lt"/>
                          <a:ea typeface="Calibri" panose="020F0502020204030204" pitchFamily="34" charset="0"/>
                          <a:cs typeface="Arial" panose="020B0604020202020204" pitchFamily="34" charset="0"/>
                        </a:rPr>
                        <a:t>PROPÓSITO</a:t>
                      </a:r>
                      <a:endParaRPr lang="es-MX" sz="1200" kern="100">
                        <a:effectLst/>
                        <a:latin typeface="+mn-lt"/>
                        <a:ea typeface="Calibri" panose="020F0502020204030204" pitchFamily="34" charset="0"/>
                        <a:cs typeface="Times New Roman" panose="02020603050405020304" pitchFamily="18" charset="0"/>
                      </a:endParaRPr>
                    </a:p>
                  </a:txBody>
                  <a:tcPr marL="32352" marR="323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s-MX"/>
                    </a:p>
                  </a:txBody>
                  <a:tcPr/>
                </a:tc>
                <a:tc hMerge="1">
                  <a:txBody>
                    <a:bodyPr/>
                    <a:lstStyle/>
                    <a:p>
                      <a:pPr algn="l">
                        <a:lnSpc>
                          <a:spcPct val="107000"/>
                        </a:lnSpc>
                        <a:spcAft>
                          <a:spcPts val="800"/>
                        </a:spcAft>
                        <a:buNone/>
                      </a:pPr>
                      <a:endParaRPr lang="es-MX" sz="1200" kern="100">
                        <a:effectLst/>
                        <a:latin typeface="+mn-lt"/>
                        <a:ea typeface="Calibri" panose="020F0502020204030204" pitchFamily="34" charset="0"/>
                        <a:cs typeface="Times New Roman" panose="02020603050405020304" pitchFamily="18" charset="0"/>
                      </a:endParaRPr>
                    </a:p>
                  </a:txBody>
                  <a:tcPr marL="32352" marR="323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2">
                  <a:txBody>
                    <a:bodyPr/>
                    <a:lstStyle/>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Que las niñas y los niños reconozcan el maíz como un alimento fundamental de su comunidad, valorando sus sabores, colores, usos y significado cultural.</a:t>
                      </a:r>
                    </a:p>
                  </a:txBody>
                  <a:tcPr marL="32352" marR="323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s-MX"/>
                    </a:p>
                  </a:txBody>
                  <a:tcPr/>
                </a:tc>
                <a:extLst>
                  <a:ext uri="{0D108BD9-81ED-4DB2-BD59-A6C34878D82A}">
                    <a16:rowId xmlns:a16="http://schemas.microsoft.com/office/drawing/2014/main" val="3945539083"/>
                  </a:ext>
                </a:extLst>
              </a:tr>
              <a:tr h="842952">
                <a:tc gridSpan="3">
                  <a:txBody>
                    <a:bodyPr/>
                    <a:lstStyle/>
                    <a:p>
                      <a:pPr algn="l">
                        <a:lnSpc>
                          <a:spcPct val="107000"/>
                        </a:lnSpc>
                        <a:spcAft>
                          <a:spcPts val="800"/>
                        </a:spcAft>
                        <a:buNone/>
                      </a:pPr>
                      <a:r>
                        <a:rPr lang="es-MX" sz="1200" b="1" kern="100">
                          <a:solidFill>
                            <a:srgbClr val="4472C4"/>
                          </a:solidFill>
                          <a:effectLst/>
                          <a:latin typeface="+mn-lt"/>
                          <a:ea typeface="Calibri" panose="020F0502020204030204" pitchFamily="34" charset="0"/>
                          <a:cs typeface="Arial" panose="020B0604020202020204" pitchFamily="34" charset="0"/>
                        </a:rPr>
                        <a:t> </a:t>
                      </a:r>
                      <a:endParaRPr lang="es-MX" sz="1200" kern="100">
                        <a:effectLst/>
                        <a:latin typeface="+mn-lt"/>
                        <a:ea typeface="Calibri" panose="020F0502020204030204" pitchFamily="34" charset="0"/>
                        <a:cs typeface="Times New Roman" panose="02020603050405020304" pitchFamily="18" charset="0"/>
                      </a:endParaRPr>
                    </a:p>
                    <a:p>
                      <a:pPr algn="l">
                        <a:lnSpc>
                          <a:spcPct val="107000"/>
                        </a:lnSpc>
                        <a:spcAft>
                          <a:spcPts val="800"/>
                        </a:spcAft>
                        <a:buNone/>
                      </a:pPr>
                      <a:r>
                        <a:rPr lang="es-MX" sz="1200" b="1" kern="100">
                          <a:solidFill>
                            <a:srgbClr val="4472C4"/>
                          </a:solidFill>
                          <a:effectLst/>
                          <a:latin typeface="+mn-lt"/>
                          <a:ea typeface="Calibri" panose="020F0502020204030204" pitchFamily="34" charset="0"/>
                          <a:cs typeface="Arial" panose="020B0604020202020204" pitchFamily="34" charset="0"/>
                        </a:rPr>
                        <a:t>ACTIVIDADES PERMANENTES </a:t>
                      </a:r>
                      <a:endParaRPr lang="es-MX" sz="1200" kern="100">
                        <a:effectLst/>
                        <a:latin typeface="+mn-lt"/>
                        <a:ea typeface="Calibri" panose="020F0502020204030204" pitchFamily="34" charset="0"/>
                        <a:cs typeface="Times New Roman" panose="02020603050405020304" pitchFamily="18" charset="0"/>
                      </a:endParaRPr>
                    </a:p>
                  </a:txBody>
                  <a:tcPr marL="32352" marR="323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s-MX"/>
                    </a:p>
                  </a:txBody>
                  <a:tcPr/>
                </a:tc>
                <a:tc hMerge="1">
                  <a:txBody>
                    <a:bodyPr/>
                    <a:lstStyle/>
                    <a:p>
                      <a:pPr algn="l">
                        <a:lnSpc>
                          <a:spcPct val="107000"/>
                        </a:lnSpc>
                        <a:spcAft>
                          <a:spcPts val="800"/>
                        </a:spcAft>
                        <a:buNone/>
                      </a:pPr>
                      <a:endParaRPr lang="es-MX" sz="1200" kern="100">
                        <a:effectLst/>
                        <a:latin typeface="+mn-lt"/>
                        <a:ea typeface="Calibri" panose="020F0502020204030204" pitchFamily="34" charset="0"/>
                        <a:cs typeface="Times New Roman" panose="02020603050405020304" pitchFamily="18" charset="0"/>
                      </a:endParaRPr>
                    </a:p>
                  </a:txBody>
                  <a:tcPr marL="32352" marR="323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2">
                  <a:txBody>
                    <a:bodyPr/>
                    <a:lstStyle/>
                    <a:p>
                      <a:pPr algn="l">
                        <a:lnSpc>
                          <a:spcPct val="107000"/>
                        </a:lnSpc>
                        <a:spcAft>
                          <a:spcPts val="800"/>
                        </a:spcAft>
                        <a:buNone/>
                      </a:pPr>
                      <a:r>
                        <a:rPr lang="es-MX" sz="1200" kern="100">
                          <a:effectLst/>
                          <a:latin typeface="+mn-lt"/>
                          <a:ea typeface="Calibri" panose="020F0502020204030204" pitchFamily="34" charset="0"/>
                          <a:cs typeface="Times New Roman" panose="02020603050405020304" pitchFamily="18" charset="0"/>
                        </a:rPr>
                        <a:t>- Asamblea diaria en lengua materna.</a:t>
                      </a:r>
                      <a:br>
                        <a:rPr lang="es-MX" sz="1200" kern="100">
                          <a:effectLst/>
                          <a:latin typeface="+mn-lt"/>
                          <a:ea typeface="Calibri" panose="020F0502020204030204" pitchFamily="34" charset="0"/>
                          <a:cs typeface="Times New Roman" panose="02020603050405020304" pitchFamily="18" charset="0"/>
                        </a:rPr>
                      </a:br>
                      <a:r>
                        <a:rPr lang="es-MX" sz="1200" kern="100">
                          <a:effectLst/>
                          <a:latin typeface="+mn-lt"/>
                          <a:ea typeface="Calibri" panose="020F0502020204030204" pitchFamily="34" charset="0"/>
                          <a:cs typeface="Times New Roman" panose="02020603050405020304" pitchFamily="18" charset="0"/>
                        </a:rPr>
                        <a:t>- Canciones, rimas y juegos tradicionales.</a:t>
                      </a:r>
                      <a:br>
                        <a:rPr lang="es-MX" sz="1200" kern="100">
                          <a:effectLst/>
                          <a:latin typeface="+mn-lt"/>
                          <a:ea typeface="Calibri" panose="020F0502020204030204" pitchFamily="34" charset="0"/>
                          <a:cs typeface="Times New Roman" panose="02020603050405020304" pitchFamily="18" charset="0"/>
                        </a:rPr>
                      </a:br>
                      <a:r>
                        <a:rPr lang="es-MX" sz="1200" kern="100">
                          <a:effectLst/>
                          <a:latin typeface="+mn-lt"/>
                          <a:ea typeface="Calibri" panose="020F0502020204030204" pitchFamily="34" charset="0"/>
                          <a:cs typeface="Times New Roman" panose="02020603050405020304" pitchFamily="18" charset="0"/>
                        </a:rPr>
                        <a:t>- Observación y diálogo sobre alimentos de la comunidad.</a:t>
                      </a:r>
                      <a:br>
                        <a:rPr lang="es-MX" sz="1200" kern="100">
                          <a:effectLst/>
                          <a:latin typeface="+mn-lt"/>
                          <a:ea typeface="Calibri" panose="020F0502020204030204" pitchFamily="34" charset="0"/>
                          <a:cs typeface="Times New Roman" panose="02020603050405020304" pitchFamily="18" charset="0"/>
                        </a:rPr>
                      </a:br>
                      <a:r>
                        <a:rPr lang="es-MX" sz="1200" kern="100">
                          <a:effectLst/>
                          <a:latin typeface="+mn-lt"/>
                          <a:ea typeface="Calibri" panose="020F0502020204030204" pitchFamily="34" charset="0"/>
                          <a:cs typeface="Times New Roman" panose="02020603050405020304" pitchFamily="18" charset="0"/>
                        </a:rPr>
                        <a:t>- Rutinas de higiene antes y después de actividades con alimentos.</a:t>
                      </a:r>
                    </a:p>
                  </a:txBody>
                  <a:tcPr marL="32352" marR="323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s-MX"/>
                    </a:p>
                  </a:txBody>
                  <a:tcPr/>
                </a:tc>
                <a:extLst>
                  <a:ext uri="{0D108BD9-81ED-4DB2-BD59-A6C34878D82A}">
                    <a16:rowId xmlns:a16="http://schemas.microsoft.com/office/drawing/2014/main" val="2853931453"/>
                  </a:ext>
                </a:extLst>
              </a:tr>
              <a:tr h="1125592">
                <a:tc gridSpan="3">
                  <a:txBody>
                    <a:bodyPr/>
                    <a:lstStyle/>
                    <a:p>
                      <a:pPr algn="l">
                        <a:lnSpc>
                          <a:spcPct val="107000"/>
                        </a:lnSpc>
                        <a:spcAft>
                          <a:spcPts val="800"/>
                        </a:spcAft>
                        <a:buNone/>
                      </a:pPr>
                      <a:r>
                        <a:rPr lang="es-MX" sz="1200" b="1" kern="100">
                          <a:solidFill>
                            <a:srgbClr val="4472C4"/>
                          </a:solidFill>
                          <a:effectLst/>
                          <a:latin typeface="+mn-lt"/>
                          <a:ea typeface="Calibri" panose="020F0502020204030204" pitchFamily="34" charset="0"/>
                          <a:cs typeface="Arial" panose="020B0604020202020204" pitchFamily="34" charset="0"/>
                        </a:rPr>
                        <a:t> </a:t>
                      </a:r>
                      <a:endParaRPr lang="es-MX" sz="1200" kern="100">
                        <a:effectLst/>
                        <a:latin typeface="+mn-lt"/>
                        <a:ea typeface="Calibri" panose="020F0502020204030204" pitchFamily="34" charset="0"/>
                        <a:cs typeface="Times New Roman" panose="02020603050405020304" pitchFamily="18" charset="0"/>
                      </a:endParaRPr>
                    </a:p>
                    <a:p>
                      <a:pPr algn="l">
                        <a:lnSpc>
                          <a:spcPct val="107000"/>
                        </a:lnSpc>
                        <a:spcAft>
                          <a:spcPts val="800"/>
                        </a:spcAft>
                        <a:buNone/>
                      </a:pPr>
                      <a:r>
                        <a:rPr lang="es-MX" sz="1200" b="1" kern="100">
                          <a:solidFill>
                            <a:srgbClr val="4472C4"/>
                          </a:solidFill>
                          <a:effectLst/>
                          <a:latin typeface="+mn-lt"/>
                          <a:ea typeface="Calibri" panose="020F0502020204030204" pitchFamily="34" charset="0"/>
                          <a:cs typeface="Arial" panose="020B0604020202020204" pitchFamily="34" charset="0"/>
                        </a:rPr>
                        <a:t>EJES ARTICULADORES</a:t>
                      </a:r>
                      <a:endParaRPr lang="es-MX" sz="1200" kern="100">
                        <a:effectLst/>
                        <a:latin typeface="+mn-lt"/>
                        <a:ea typeface="Calibri" panose="020F0502020204030204" pitchFamily="34" charset="0"/>
                        <a:cs typeface="Times New Roman" panose="02020603050405020304" pitchFamily="18" charset="0"/>
                      </a:endParaRPr>
                    </a:p>
                  </a:txBody>
                  <a:tcPr marL="32352" marR="323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s-MX"/>
                    </a:p>
                  </a:txBody>
                  <a:tcPr/>
                </a:tc>
                <a:tc hMerge="1">
                  <a:txBody>
                    <a:bodyPr/>
                    <a:lstStyle/>
                    <a:p>
                      <a:pPr algn="l">
                        <a:lnSpc>
                          <a:spcPct val="107000"/>
                        </a:lnSpc>
                        <a:spcAft>
                          <a:spcPts val="800"/>
                        </a:spcAft>
                        <a:buNone/>
                      </a:pPr>
                      <a:endParaRPr lang="es-MX" sz="1200" kern="100">
                        <a:effectLst/>
                        <a:latin typeface="+mn-lt"/>
                        <a:ea typeface="Calibri" panose="020F0502020204030204" pitchFamily="34" charset="0"/>
                        <a:cs typeface="Times New Roman" panose="02020603050405020304" pitchFamily="18" charset="0"/>
                      </a:endParaRPr>
                    </a:p>
                  </a:txBody>
                  <a:tcPr marL="32352" marR="323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2">
                  <a:txBody>
                    <a:bodyPr/>
                    <a:lstStyle/>
                    <a:p>
                      <a:pPr algn="l">
                        <a:lnSpc>
                          <a:spcPct val="100000"/>
                        </a:lnSpc>
                        <a:spcAft>
                          <a:spcPts val="800"/>
                        </a:spcAft>
                        <a:buNone/>
                      </a:pPr>
                      <a:r>
                        <a:rPr lang="es-MX" sz="1200" kern="100" dirty="0">
                          <a:effectLst/>
                          <a:latin typeface="+mn-lt"/>
                          <a:ea typeface="Calibri" panose="020F0502020204030204" pitchFamily="34" charset="0"/>
                          <a:cs typeface="Arial" panose="020B0604020202020204" pitchFamily="34" charset="0"/>
                        </a:rPr>
                        <a:t>Inclusión.</a:t>
                      </a:r>
                      <a:endParaRPr lang="es-MX" sz="1200" kern="100" dirty="0">
                        <a:effectLst/>
                        <a:latin typeface="+mn-lt"/>
                        <a:ea typeface="Calibri" panose="020F0502020204030204" pitchFamily="34" charset="0"/>
                        <a:cs typeface="Times New Roman" panose="02020603050405020304" pitchFamily="18" charset="0"/>
                      </a:endParaRPr>
                    </a:p>
                    <a:p>
                      <a:pPr algn="l">
                        <a:lnSpc>
                          <a:spcPct val="100000"/>
                        </a:lnSpc>
                        <a:spcAft>
                          <a:spcPts val="800"/>
                        </a:spcAft>
                        <a:buNone/>
                      </a:pPr>
                      <a:r>
                        <a:rPr lang="es-MX" sz="1200" kern="100" dirty="0">
                          <a:effectLst/>
                          <a:latin typeface="+mn-lt"/>
                          <a:ea typeface="Calibri" panose="020F0502020204030204" pitchFamily="34" charset="0"/>
                          <a:cs typeface="Arial" panose="020B0604020202020204" pitchFamily="34" charset="0"/>
                        </a:rPr>
                        <a:t>Pensamiento crítico.</a:t>
                      </a:r>
                      <a:endParaRPr lang="es-MX" sz="1200" kern="100" dirty="0">
                        <a:effectLst/>
                        <a:latin typeface="+mn-lt"/>
                        <a:ea typeface="Calibri" panose="020F0502020204030204" pitchFamily="34" charset="0"/>
                        <a:cs typeface="Times New Roman" panose="02020603050405020304" pitchFamily="18" charset="0"/>
                      </a:endParaRPr>
                    </a:p>
                    <a:p>
                      <a:pPr algn="l">
                        <a:lnSpc>
                          <a:spcPct val="100000"/>
                        </a:lnSpc>
                        <a:spcAft>
                          <a:spcPts val="800"/>
                        </a:spcAft>
                        <a:buNone/>
                      </a:pPr>
                      <a:r>
                        <a:rPr lang="es-MX" sz="1200" kern="100" dirty="0">
                          <a:effectLst/>
                          <a:latin typeface="+mn-lt"/>
                          <a:ea typeface="Calibri" panose="020F0502020204030204" pitchFamily="34" charset="0"/>
                          <a:cs typeface="Arial" panose="020B0604020202020204" pitchFamily="34" charset="0"/>
                        </a:rPr>
                        <a:t>Interculturalidad crítica.</a:t>
                      </a:r>
                      <a:endParaRPr lang="es-MX" sz="1200" kern="100" dirty="0">
                        <a:effectLst/>
                        <a:latin typeface="+mn-lt"/>
                        <a:ea typeface="Calibri" panose="020F0502020204030204" pitchFamily="34" charset="0"/>
                        <a:cs typeface="Times New Roman" panose="02020603050405020304" pitchFamily="18" charset="0"/>
                      </a:endParaRPr>
                    </a:p>
                    <a:p>
                      <a:pPr algn="l">
                        <a:lnSpc>
                          <a:spcPct val="100000"/>
                        </a:lnSpc>
                        <a:spcAft>
                          <a:spcPts val="800"/>
                        </a:spcAft>
                        <a:buNone/>
                      </a:pPr>
                      <a:r>
                        <a:rPr lang="es-MX" sz="1200" kern="100" dirty="0">
                          <a:effectLst/>
                          <a:latin typeface="+mn-lt"/>
                          <a:ea typeface="Calibri" panose="020F0502020204030204" pitchFamily="34" charset="0"/>
                          <a:cs typeface="Arial" panose="020B0604020202020204" pitchFamily="34" charset="0"/>
                        </a:rPr>
                        <a:t>Artes y experiencias estéticas.</a:t>
                      </a:r>
                      <a:endParaRPr lang="es-MX" sz="1200" kern="100" dirty="0">
                        <a:effectLst/>
                        <a:latin typeface="+mn-lt"/>
                        <a:ea typeface="Calibri" panose="020F0502020204030204" pitchFamily="34" charset="0"/>
                        <a:cs typeface="Times New Roman" panose="02020603050405020304" pitchFamily="18" charset="0"/>
                      </a:endParaRPr>
                    </a:p>
                  </a:txBody>
                  <a:tcPr marL="32352" marR="323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s-MX"/>
                    </a:p>
                  </a:txBody>
                  <a:tcPr/>
                </a:tc>
                <a:extLst>
                  <a:ext uri="{0D108BD9-81ED-4DB2-BD59-A6C34878D82A}">
                    <a16:rowId xmlns:a16="http://schemas.microsoft.com/office/drawing/2014/main" val="169280856"/>
                  </a:ext>
                </a:extLst>
              </a:tr>
            </a:tbl>
          </a:graphicData>
        </a:graphic>
      </p:graphicFrame>
    </p:spTree>
    <p:extLst>
      <p:ext uri="{BB962C8B-B14F-4D97-AF65-F5344CB8AC3E}">
        <p14:creationId xmlns:p14="http://schemas.microsoft.com/office/powerpoint/2010/main" val="37216822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E2264-7E28-A6B3-147A-86D81FCBEFC2}"/>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E824E100-DF29-1D63-048F-4D107CFB733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4814" y="287655"/>
            <a:ext cx="11553825" cy="626745"/>
          </a:xfrm>
          <a:prstGeom prst="rect">
            <a:avLst/>
          </a:prstGeom>
          <a:noFill/>
          <a:ln>
            <a:noFill/>
          </a:ln>
        </p:spPr>
      </p:pic>
      <p:graphicFrame>
        <p:nvGraphicFramePr>
          <p:cNvPr id="2" name="Tabla 1">
            <a:extLst>
              <a:ext uri="{FF2B5EF4-FFF2-40B4-BE49-F238E27FC236}">
                <a16:creationId xmlns:a16="http://schemas.microsoft.com/office/drawing/2014/main" id="{DAECA3BA-631A-55F6-2E01-DABA03304194}"/>
              </a:ext>
            </a:extLst>
          </p:cNvPr>
          <p:cNvGraphicFramePr>
            <a:graphicFrameLocks noGrp="1"/>
          </p:cNvGraphicFramePr>
          <p:nvPr>
            <p:extLst>
              <p:ext uri="{D42A27DB-BD31-4B8C-83A1-F6EECF244321}">
                <p14:modId xmlns:p14="http://schemas.microsoft.com/office/powerpoint/2010/main" val="568072672"/>
              </p:ext>
            </p:extLst>
          </p:nvPr>
        </p:nvGraphicFramePr>
        <p:xfrm>
          <a:off x="822960" y="1182718"/>
          <a:ext cx="10944224" cy="3195320"/>
        </p:xfrm>
        <a:graphic>
          <a:graphicData uri="http://schemas.openxmlformats.org/drawingml/2006/table">
            <a:tbl>
              <a:tblPr firstRow="1" firstCol="1" bandRow="1"/>
              <a:tblGrid>
                <a:gridCol w="3819378">
                  <a:extLst>
                    <a:ext uri="{9D8B030D-6E8A-4147-A177-3AD203B41FA5}">
                      <a16:colId xmlns:a16="http://schemas.microsoft.com/office/drawing/2014/main" val="1793607776"/>
                    </a:ext>
                  </a:extLst>
                </a:gridCol>
                <a:gridCol w="7124846">
                  <a:extLst>
                    <a:ext uri="{9D8B030D-6E8A-4147-A177-3AD203B41FA5}">
                      <a16:colId xmlns:a16="http://schemas.microsoft.com/office/drawing/2014/main" val="131858313"/>
                    </a:ext>
                  </a:extLst>
                </a:gridCol>
              </a:tblGrid>
              <a:tr h="1432618">
                <a:tc>
                  <a:txBody>
                    <a:bodyPr/>
                    <a:lstStyle/>
                    <a:p>
                      <a:pPr algn="l">
                        <a:lnSpc>
                          <a:spcPct val="107000"/>
                        </a:lnSpc>
                        <a:spcAft>
                          <a:spcPts val="800"/>
                        </a:spcAft>
                        <a:buNone/>
                      </a:pPr>
                      <a:r>
                        <a:rPr lang="es-MX" sz="1200" b="1" kern="100" dirty="0">
                          <a:solidFill>
                            <a:srgbClr val="4472C4"/>
                          </a:solidFill>
                          <a:effectLst/>
                          <a:latin typeface="+mn-lt"/>
                          <a:ea typeface="Calibri" panose="020F0502020204030204" pitchFamily="34" charset="0"/>
                          <a:cs typeface="Arial" panose="020B0604020202020204" pitchFamily="34" charset="0"/>
                        </a:rPr>
                        <a:t> </a:t>
                      </a:r>
                      <a:endParaRPr lang="es-MX" sz="1200" kern="100" dirty="0">
                        <a:effectLst/>
                        <a:latin typeface="+mn-lt"/>
                        <a:ea typeface="Calibri" panose="020F0502020204030204" pitchFamily="34" charset="0"/>
                        <a:cs typeface="Times New Roman" panose="02020603050405020304" pitchFamily="18" charset="0"/>
                      </a:endParaRPr>
                    </a:p>
                    <a:p>
                      <a:pPr algn="l">
                        <a:lnSpc>
                          <a:spcPct val="107000"/>
                        </a:lnSpc>
                        <a:spcAft>
                          <a:spcPts val="800"/>
                        </a:spcAft>
                        <a:buNone/>
                      </a:pPr>
                      <a:r>
                        <a:rPr lang="es-MX" sz="1200" b="1" kern="100" dirty="0">
                          <a:solidFill>
                            <a:srgbClr val="4472C4"/>
                          </a:solidFill>
                          <a:effectLst/>
                          <a:latin typeface="+mn-lt"/>
                          <a:ea typeface="Calibri" panose="020F0502020204030204" pitchFamily="34" charset="0"/>
                          <a:cs typeface="Arial" panose="020B0604020202020204" pitchFamily="34" charset="0"/>
                        </a:rPr>
                        <a:t> </a:t>
                      </a:r>
                      <a:endParaRPr lang="es-MX" sz="1200" kern="100" dirty="0">
                        <a:effectLst/>
                        <a:latin typeface="+mn-lt"/>
                        <a:ea typeface="Calibri" panose="020F0502020204030204" pitchFamily="34" charset="0"/>
                        <a:cs typeface="Times New Roman" panose="02020603050405020304" pitchFamily="18" charset="0"/>
                      </a:endParaRPr>
                    </a:p>
                    <a:p>
                      <a:pPr algn="l">
                        <a:lnSpc>
                          <a:spcPct val="107000"/>
                        </a:lnSpc>
                        <a:spcAft>
                          <a:spcPts val="800"/>
                        </a:spcAft>
                        <a:buNone/>
                      </a:pPr>
                      <a:r>
                        <a:rPr lang="es-MX" sz="1200" b="1" kern="100" dirty="0">
                          <a:solidFill>
                            <a:srgbClr val="4472C4"/>
                          </a:solidFill>
                          <a:effectLst/>
                          <a:latin typeface="+mn-lt"/>
                          <a:ea typeface="Calibri" panose="020F0502020204030204" pitchFamily="34" charset="0"/>
                          <a:cs typeface="Arial" panose="020B0604020202020204" pitchFamily="34" charset="0"/>
                        </a:rPr>
                        <a:t> </a:t>
                      </a:r>
                      <a:endParaRPr lang="es-MX" sz="1200" kern="100" dirty="0">
                        <a:effectLst/>
                        <a:latin typeface="+mn-lt"/>
                        <a:ea typeface="Calibri" panose="020F0502020204030204" pitchFamily="34" charset="0"/>
                        <a:cs typeface="Times New Roman" panose="02020603050405020304" pitchFamily="18" charset="0"/>
                      </a:endParaRPr>
                    </a:p>
                    <a:p>
                      <a:pPr algn="l">
                        <a:lnSpc>
                          <a:spcPct val="107000"/>
                        </a:lnSpc>
                        <a:spcAft>
                          <a:spcPts val="800"/>
                        </a:spcAft>
                        <a:buNone/>
                      </a:pPr>
                      <a:r>
                        <a:rPr lang="es-MX" sz="1200" b="1" kern="100" dirty="0">
                          <a:solidFill>
                            <a:srgbClr val="4472C4"/>
                          </a:solidFill>
                          <a:effectLst/>
                          <a:latin typeface="+mn-lt"/>
                          <a:ea typeface="Calibri" panose="020F0502020204030204" pitchFamily="34" charset="0"/>
                          <a:cs typeface="Arial" panose="020B0604020202020204" pitchFamily="34" charset="0"/>
                        </a:rPr>
                        <a:t> </a:t>
                      </a:r>
                      <a:endParaRPr lang="es-MX" sz="1200" kern="100" dirty="0">
                        <a:effectLst/>
                        <a:latin typeface="+mn-lt"/>
                        <a:ea typeface="Calibri" panose="020F0502020204030204" pitchFamily="34" charset="0"/>
                        <a:cs typeface="Times New Roman" panose="02020603050405020304" pitchFamily="18" charset="0"/>
                      </a:endParaRPr>
                    </a:p>
                    <a:p>
                      <a:pPr algn="l">
                        <a:lnSpc>
                          <a:spcPct val="107000"/>
                        </a:lnSpc>
                        <a:spcAft>
                          <a:spcPts val="800"/>
                        </a:spcAft>
                        <a:buNone/>
                      </a:pPr>
                      <a:r>
                        <a:rPr lang="es-MX" sz="1200" b="1" kern="100" dirty="0">
                          <a:solidFill>
                            <a:srgbClr val="4472C4"/>
                          </a:solidFill>
                          <a:effectLst/>
                          <a:latin typeface="+mn-lt"/>
                          <a:ea typeface="Calibri" panose="020F0502020204030204" pitchFamily="34" charset="0"/>
                          <a:cs typeface="Arial" panose="020B0604020202020204" pitchFamily="34" charset="0"/>
                        </a:rPr>
                        <a:t> </a:t>
                      </a:r>
                      <a:r>
                        <a:rPr lang="es-MX" sz="1200" b="0" kern="100" dirty="0">
                          <a:solidFill>
                            <a:schemeClr val="tx1"/>
                          </a:solidFill>
                          <a:effectLst/>
                          <a:latin typeface="+mn-lt"/>
                          <a:ea typeface="Calibri" panose="020F0502020204030204" pitchFamily="34" charset="0"/>
                          <a:cs typeface="Times New Roman" panose="02020603050405020304" pitchFamily="18" charset="0"/>
                        </a:rPr>
                        <a:t>                  </a:t>
                      </a:r>
                      <a:r>
                        <a:rPr lang="es-MX" sz="1200" b="1" kern="100" dirty="0">
                          <a:solidFill>
                            <a:srgbClr val="4472C4"/>
                          </a:solidFill>
                          <a:effectLst/>
                          <a:latin typeface="+mn-lt"/>
                          <a:ea typeface="Calibri" panose="020F0502020204030204" pitchFamily="34" charset="0"/>
                          <a:cs typeface="Arial" panose="020B0604020202020204" pitchFamily="34" charset="0"/>
                        </a:rPr>
                        <a:t>ESTRATEGIAS NACIONALES</a:t>
                      </a:r>
                      <a:endParaRPr lang="es-MX" sz="1200" kern="100" dirty="0">
                        <a:effectLst/>
                        <a:latin typeface="+mn-lt"/>
                        <a:ea typeface="Calibri" panose="020F0502020204030204" pitchFamily="34" charset="0"/>
                        <a:cs typeface="Times New Roman" panose="02020603050405020304" pitchFamily="18" charset="0"/>
                      </a:endParaRPr>
                    </a:p>
                  </a:txBody>
                  <a:tcPr marL="32352" marR="323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1200" b="1" kern="100" dirty="0">
                          <a:effectLst/>
                          <a:latin typeface="+mn-lt"/>
                          <a:ea typeface="Calibri" panose="020F0502020204030204" pitchFamily="34" charset="0"/>
                          <a:cs typeface="Arial" panose="020B0604020202020204" pitchFamily="34" charset="0"/>
                        </a:rPr>
                        <a:t>Estrategia nacional para la enseñanza de lenguas y culturas indígenas afromexicanas</a:t>
                      </a:r>
                      <a:r>
                        <a:rPr lang="es-MX" sz="1200" kern="100" dirty="0">
                          <a:effectLst/>
                          <a:latin typeface="+mn-lt"/>
                          <a:ea typeface="Calibri" panose="020F0502020204030204" pitchFamily="34" charset="0"/>
                          <a:cs typeface="Arial" panose="020B0604020202020204" pitchFamily="34" charset="0"/>
                        </a:rPr>
                        <a:t>. </a:t>
                      </a:r>
                      <a:endParaRPr lang="es-MX" sz="1200" kern="100" dirty="0">
                        <a:effectLst/>
                        <a:latin typeface="+mn-lt"/>
                        <a:ea typeface="Calibri" panose="020F0502020204030204" pitchFamily="34" charset="0"/>
                        <a:cs typeface="Times New Roman" panose="02020603050405020304" pitchFamily="18" charset="0"/>
                      </a:endParaRPr>
                    </a:p>
                    <a:p>
                      <a:pPr marL="342900" lvl="0" indent="-342900" algn="l">
                        <a:lnSpc>
                          <a:spcPct val="115000"/>
                        </a:lnSpc>
                        <a:spcAft>
                          <a:spcPts val="10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Se promueve el uso de la </a:t>
                      </a:r>
                      <a:r>
                        <a:rPr lang="es-MX" sz="1200" b="1" kern="100" dirty="0">
                          <a:effectLst/>
                          <a:latin typeface="+mn-lt"/>
                          <a:ea typeface="Calibri" panose="020F0502020204030204" pitchFamily="34" charset="0"/>
                          <a:cs typeface="Times New Roman" panose="02020603050405020304" pitchFamily="18" charset="0"/>
                        </a:rPr>
                        <a:t>lengua materna</a:t>
                      </a:r>
                      <a:r>
                        <a:rPr lang="es-MX" sz="1200" kern="100" dirty="0">
                          <a:effectLst/>
                          <a:latin typeface="+mn-lt"/>
                          <a:ea typeface="Calibri" panose="020F0502020204030204" pitchFamily="34" charset="0"/>
                          <a:cs typeface="Times New Roman" panose="02020603050405020304" pitchFamily="18" charset="0"/>
                        </a:rPr>
                        <a:t> en las actividades de diálogo, narración de cuentos, juegos del lenguaje y socialización de saberes relacionados con el maíz, fortaleciendo la identidad cultural y el sentido de pertenencia de las niñas y los niños.</a:t>
                      </a:r>
                    </a:p>
                    <a:p>
                      <a:pPr algn="l">
                        <a:lnSpc>
                          <a:spcPct val="107000"/>
                        </a:lnSpc>
                        <a:spcAft>
                          <a:spcPts val="800"/>
                        </a:spcAft>
                        <a:buNone/>
                      </a:pPr>
                      <a:r>
                        <a:rPr lang="es-MX" sz="1200" b="1" kern="100" dirty="0">
                          <a:effectLst/>
                          <a:latin typeface="+mn-lt"/>
                          <a:ea typeface="Calibri" panose="020F0502020204030204" pitchFamily="34" charset="0"/>
                          <a:cs typeface="Arial" panose="020B0604020202020204" pitchFamily="34" charset="0"/>
                        </a:rPr>
                        <a:t>Estrategia nacional con perspectiva de género para mantener a las escuelas libres de violencia y acoso.</a:t>
                      </a:r>
                      <a:endParaRPr lang="es-MX" sz="1200" kern="100" dirty="0">
                        <a:effectLst/>
                        <a:latin typeface="+mn-lt"/>
                        <a:ea typeface="Calibri" panose="020F0502020204030204" pitchFamily="34" charset="0"/>
                        <a:cs typeface="Times New Roman" panose="02020603050405020304" pitchFamily="18" charset="0"/>
                      </a:endParaRPr>
                    </a:p>
                    <a:p>
                      <a:pPr algn="l">
                        <a:lnSpc>
                          <a:spcPct val="107000"/>
                        </a:lnSpc>
                        <a:spcAft>
                          <a:spcPts val="800"/>
                        </a:spcAft>
                        <a:buNone/>
                      </a:pPr>
                      <a:r>
                        <a:rPr lang="es-MX" sz="1200" kern="100" dirty="0">
                          <a:effectLst/>
                          <a:latin typeface="+mn-lt"/>
                          <a:ea typeface="Calibri" panose="020F0502020204030204" pitchFamily="34" charset="0"/>
                          <a:cs typeface="Arial" panose="020B0604020202020204" pitchFamily="34" charset="0"/>
                        </a:rPr>
                        <a:t> </a:t>
                      </a:r>
                      <a:endParaRPr lang="es-MX" sz="1200" kern="100" dirty="0">
                        <a:effectLst/>
                        <a:latin typeface="+mn-lt"/>
                        <a:ea typeface="Calibri" panose="020F0502020204030204" pitchFamily="34" charset="0"/>
                        <a:cs typeface="Times New Roman" panose="02020603050405020304" pitchFamily="18" charset="0"/>
                      </a:endParaRPr>
                    </a:p>
                    <a:p>
                      <a:pPr marL="342900" lvl="0" indent="-342900" algn="l">
                        <a:lnSpc>
                          <a:spcPct val="107000"/>
                        </a:lnSpc>
                        <a:spcAft>
                          <a:spcPts val="8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Se favorece la participación </a:t>
                      </a:r>
                      <a:r>
                        <a:rPr lang="es-MX" sz="1200" b="1" kern="100" dirty="0">
                          <a:effectLst/>
                          <a:latin typeface="+mn-lt"/>
                          <a:ea typeface="Calibri" panose="020F0502020204030204" pitchFamily="34" charset="0"/>
                          <a:cs typeface="Times New Roman" panose="02020603050405020304" pitchFamily="18" charset="0"/>
                        </a:rPr>
                        <a:t>igualitaria</a:t>
                      </a:r>
                      <a:r>
                        <a:rPr lang="es-MX" sz="1200" kern="100" dirty="0">
                          <a:effectLst/>
                          <a:latin typeface="+mn-lt"/>
                          <a:ea typeface="Calibri" panose="020F0502020204030204" pitchFamily="34" charset="0"/>
                          <a:cs typeface="Times New Roman" panose="02020603050405020304" pitchFamily="18" charset="0"/>
                        </a:rPr>
                        <a:t> de niñas y niños en todas las actividades del proyecto, promoviendo el respeto, la colaboración, la escucha y la convivencia armónica dentro del aula y la comunidad.</a:t>
                      </a:r>
                    </a:p>
                  </a:txBody>
                  <a:tcPr marL="32352" marR="323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40846330"/>
                  </a:ext>
                </a:extLst>
              </a:tr>
              <a:tr h="0">
                <a:tc>
                  <a:txBody>
                    <a:bodyPr/>
                    <a:lstStyle/>
                    <a:p>
                      <a:pPr algn="l">
                        <a:lnSpc>
                          <a:spcPct val="107000"/>
                        </a:lnSpc>
                        <a:spcAft>
                          <a:spcPts val="800"/>
                        </a:spcAft>
                        <a:buNone/>
                      </a:pPr>
                      <a:r>
                        <a:rPr lang="es-MX" sz="1200" b="1" kern="100" dirty="0">
                          <a:solidFill>
                            <a:srgbClr val="4472C4"/>
                          </a:solidFill>
                          <a:effectLst/>
                          <a:latin typeface="+mn-lt"/>
                          <a:ea typeface="Calibri" panose="020F0502020204030204" pitchFamily="34" charset="0"/>
                          <a:cs typeface="Arial" panose="020B0604020202020204" pitchFamily="34" charset="0"/>
                        </a:rPr>
                        <a:t> </a:t>
                      </a:r>
                      <a:endParaRPr lang="es-MX" sz="1200" kern="100" dirty="0">
                        <a:effectLst/>
                        <a:latin typeface="+mn-lt"/>
                        <a:ea typeface="Calibri" panose="020F0502020204030204" pitchFamily="34" charset="0"/>
                        <a:cs typeface="Times New Roman" panose="02020603050405020304" pitchFamily="18" charset="0"/>
                      </a:endParaRPr>
                    </a:p>
                    <a:p>
                      <a:pPr algn="l">
                        <a:lnSpc>
                          <a:spcPct val="107000"/>
                        </a:lnSpc>
                        <a:spcAft>
                          <a:spcPts val="800"/>
                        </a:spcAft>
                        <a:buNone/>
                      </a:pPr>
                      <a:r>
                        <a:rPr lang="es-MX" sz="1200" b="1" kern="100" dirty="0">
                          <a:solidFill>
                            <a:srgbClr val="4472C4"/>
                          </a:solidFill>
                          <a:effectLst/>
                          <a:latin typeface="+mn-lt"/>
                          <a:ea typeface="Calibri" panose="020F0502020204030204" pitchFamily="34" charset="0"/>
                          <a:cs typeface="Arial" panose="020B0604020202020204" pitchFamily="34" charset="0"/>
                        </a:rPr>
                        <a:t>           SABERES LOCALES</a:t>
                      </a:r>
                      <a:endParaRPr lang="es-MX" sz="1200" kern="100" dirty="0">
                        <a:effectLst/>
                        <a:latin typeface="+mn-lt"/>
                        <a:ea typeface="Calibri" panose="020F0502020204030204" pitchFamily="34" charset="0"/>
                        <a:cs typeface="Times New Roman" panose="02020603050405020304" pitchFamily="18" charset="0"/>
                      </a:endParaRPr>
                    </a:p>
                  </a:txBody>
                  <a:tcPr marL="32352" marR="323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342900" lvl="0" indent="-342900" algn="l">
                        <a:lnSpc>
                          <a:spcPct val="107000"/>
                        </a:lnSpc>
                        <a:buFont typeface="Wingdings" panose="05000000000000000000" pitchFamily="2" charset="2"/>
                        <a:buChar char=""/>
                        <a:tabLst>
                          <a:tab pos="2082800" algn="l"/>
                        </a:tabLst>
                      </a:pPr>
                      <a:r>
                        <a:rPr lang="es-MX" sz="1200" kern="100">
                          <a:effectLst/>
                          <a:latin typeface="+mn-lt"/>
                          <a:ea typeface="Calibri" panose="020F0502020204030204" pitchFamily="34" charset="0"/>
                          <a:cs typeface="Times New Roman" panose="02020603050405020304" pitchFamily="18" charset="0"/>
                        </a:rPr>
                        <a:t>Reconocimiento del </a:t>
                      </a:r>
                      <a:r>
                        <a:rPr lang="es-MX" sz="1200" b="1" kern="100">
                          <a:effectLst/>
                          <a:latin typeface="+mn-lt"/>
                          <a:ea typeface="Calibri" panose="020F0502020204030204" pitchFamily="34" charset="0"/>
                          <a:cs typeface="Times New Roman" panose="02020603050405020304" pitchFamily="18" charset="0"/>
                        </a:rPr>
                        <a:t>maíz como base de la alimentación, cultura e identidad</a:t>
                      </a:r>
                      <a:r>
                        <a:rPr lang="es-MX" sz="1200" kern="100">
                          <a:effectLst/>
                          <a:latin typeface="+mn-lt"/>
                          <a:ea typeface="Calibri" panose="020F0502020204030204" pitchFamily="34" charset="0"/>
                          <a:cs typeface="Times New Roman" panose="02020603050405020304" pitchFamily="18" charset="0"/>
                        </a:rPr>
                        <a:t> de la comunidad de San José Chapulco</a:t>
                      </a:r>
                    </a:p>
                    <a:p>
                      <a:pPr marL="342900" lvl="0" indent="-342900" algn="l">
                        <a:lnSpc>
                          <a:spcPct val="107000"/>
                        </a:lnSpc>
                        <a:spcAft>
                          <a:spcPts val="800"/>
                        </a:spcAft>
                        <a:buFont typeface="Wingdings" panose="05000000000000000000" pitchFamily="2" charset="2"/>
                        <a:buChar char=""/>
                      </a:pPr>
                      <a:r>
                        <a:rPr lang="es-MX" sz="1200" kern="100">
                          <a:effectLst/>
                          <a:latin typeface="+mn-lt"/>
                          <a:ea typeface="Calibri" panose="020F0502020204030204" pitchFamily="34" charset="0"/>
                          <a:cs typeface="Times New Roman" panose="02020603050405020304" pitchFamily="18" charset="0"/>
                        </a:rPr>
                        <a:t>Conocimiento de los </a:t>
                      </a:r>
                      <a:r>
                        <a:rPr lang="es-MX" sz="1200" b="1" kern="100">
                          <a:effectLst/>
                          <a:latin typeface="+mn-lt"/>
                          <a:ea typeface="Calibri" panose="020F0502020204030204" pitchFamily="34" charset="0"/>
                          <a:cs typeface="Times New Roman" panose="02020603050405020304" pitchFamily="18" charset="0"/>
                        </a:rPr>
                        <a:t>colores, formas y tipos de maíz</a:t>
                      </a:r>
                      <a:r>
                        <a:rPr lang="es-MX" sz="1200" kern="100">
                          <a:effectLst/>
                          <a:latin typeface="+mn-lt"/>
                          <a:ea typeface="Calibri" panose="020F0502020204030204" pitchFamily="34" charset="0"/>
                          <a:cs typeface="Times New Roman" panose="02020603050405020304" pitchFamily="18" charset="0"/>
                        </a:rPr>
                        <a:t> que se cultivan o consumen en la comunidad.</a:t>
                      </a:r>
                    </a:p>
                  </a:txBody>
                  <a:tcPr marL="32352" marR="323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62752307"/>
                  </a:ext>
                </a:extLst>
              </a:tr>
              <a:tr h="105174">
                <a:tc>
                  <a:txBody>
                    <a:bodyPr/>
                    <a:lstStyle/>
                    <a:p>
                      <a:pPr algn="l">
                        <a:lnSpc>
                          <a:spcPct val="107000"/>
                        </a:lnSpc>
                        <a:spcAft>
                          <a:spcPts val="800"/>
                        </a:spcAft>
                        <a:buNone/>
                      </a:pPr>
                      <a:r>
                        <a:rPr lang="es-MX" sz="1200" b="1" kern="100">
                          <a:solidFill>
                            <a:srgbClr val="4472C4"/>
                          </a:solidFill>
                          <a:effectLst/>
                          <a:latin typeface="+mn-lt"/>
                          <a:ea typeface="Calibri" panose="020F0502020204030204" pitchFamily="34" charset="0"/>
                          <a:cs typeface="Arial" panose="020B0604020202020204" pitchFamily="34" charset="0"/>
                        </a:rPr>
                        <a:t>        TIEMPO</a:t>
                      </a:r>
                      <a:endParaRPr lang="es-MX" sz="1200" kern="100">
                        <a:effectLst/>
                        <a:latin typeface="+mn-lt"/>
                        <a:ea typeface="Calibri" panose="020F0502020204030204" pitchFamily="34" charset="0"/>
                        <a:cs typeface="Times New Roman" panose="02020603050405020304" pitchFamily="18" charset="0"/>
                      </a:endParaRPr>
                    </a:p>
                  </a:txBody>
                  <a:tcPr marL="32352" marR="323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1200" b="1" kern="100" dirty="0">
                          <a:effectLst/>
                          <a:latin typeface="+mn-lt"/>
                          <a:ea typeface="Calibri" panose="020F0502020204030204" pitchFamily="34" charset="0"/>
                          <a:cs typeface="Arial" panose="020B0604020202020204" pitchFamily="34" charset="0"/>
                        </a:rPr>
                        <a:t>    </a:t>
                      </a:r>
                      <a:r>
                        <a:rPr lang="es-MX" sz="1200" kern="100" dirty="0">
                          <a:effectLst/>
                          <a:latin typeface="+mn-lt"/>
                          <a:ea typeface="Calibri" panose="020F0502020204030204" pitchFamily="34" charset="0"/>
                          <a:cs typeface="Times New Roman" panose="02020603050405020304" pitchFamily="18" charset="0"/>
                        </a:rPr>
                        <a:t>Del 13 de enero al 05 de febrero</a:t>
                      </a:r>
                    </a:p>
                  </a:txBody>
                  <a:tcPr marL="32352" marR="323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6970223"/>
                  </a:ext>
                </a:extLst>
              </a:tr>
            </a:tbl>
          </a:graphicData>
        </a:graphic>
      </p:graphicFrame>
    </p:spTree>
    <p:extLst>
      <p:ext uri="{BB962C8B-B14F-4D97-AF65-F5344CB8AC3E}">
        <p14:creationId xmlns:p14="http://schemas.microsoft.com/office/powerpoint/2010/main" val="23602606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C70E1-1C8E-F366-F970-B378969B15ED}"/>
            </a:ext>
          </a:extLst>
        </p:cNvPr>
        <p:cNvGrpSpPr/>
        <p:nvPr/>
      </p:nvGrpSpPr>
      <p:grpSpPr>
        <a:xfrm>
          <a:off x="0" y="0"/>
          <a:ext cx="0" cy="0"/>
          <a:chOff x="0" y="0"/>
          <a:chExt cx="0" cy="0"/>
        </a:xfrm>
      </p:grpSpPr>
      <p:graphicFrame>
        <p:nvGraphicFramePr>
          <p:cNvPr id="3" name="Tabla 2">
            <a:extLst>
              <a:ext uri="{FF2B5EF4-FFF2-40B4-BE49-F238E27FC236}">
                <a16:creationId xmlns:a16="http://schemas.microsoft.com/office/drawing/2014/main" id="{C315C6DE-CBAE-4FB0-60C0-0E14630CCBAA}"/>
              </a:ext>
            </a:extLst>
          </p:cNvPr>
          <p:cNvGraphicFramePr>
            <a:graphicFrameLocks noGrp="1"/>
          </p:cNvGraphicFramePr>
          <p:nvPr>
            <p:extLst>
              <p:ext uri="{D42A27DB-BD31-4B8C-83A1-F6EECF244321}">
                <p14:modId xmlns:p14="http://schemas.microsoft.com/office/powerpoint/2010/main" val="3287565123"/>
              </p:ext>
            </p:extLst>
          </p:nvPr>
        </p:nvGraphicFramePr>
        <p:xfrm>
          <a:off x="264490" y="296436"/>
          <a:ext cx="11214747" cy="6181951"/>
        </p:xfrm>
        <a:graphic>
          <a:graphicData uri="http://schemas.openxmlformats.org/drawingml/2006/table">
            <a:tbl>
              <a:tblPr firstRow="1" firstCol="1" bandRow="1"/>
              <a:tblGrid>
                <a:gridCol w="1632056">
                  <a:extLst>
                    <a:ext uri="{9D8B030D-6E8A-4147-A177-3AD203B41FA5}">
                      <a16:colId xmlns:a16="http://schemas.microsoft.com/office/drawing/2014/main" val="3859185036"/>
                    </a:ext>
                  </a:extLst>
                </a:gridCol>
                <a:gridCol w="6028715">
                  <a:extLst>
                    <a:ext uri="{9D8B030D-6E8A-4147-A177-3AD203B41FA5}">
                      <a16:colId xmlns:a16="http://schemas.microsoft.com/office/drawing/2014/main" val="1380995282"/>
                    </a:ext>
                  </a:extLst>
                </a:gridCol>
                <a:gridCol w="3553976">
                  <a:extLst>
                    <a:ext uri="{9D8B030D-6E8A-4147-A177-3AD203B41FA5}">
                      <a16:colId xmlns:a16="http://schemas.microsoft.com/office/drawing/2014/main" val="2276006147"/>
                    </a:ext>
                  </a:extLst>
                </a:gridCol>
              </a:tblGrid>
              <a:tr h="617177">
                <a:tc>
                  <a:txBody>
                    <a:bodyPr/>
                    <a:lstStyle/>
                    <a:p>
                      <a:pPr algn="l">
                        <a:lnSpc>
                          <a:spcPct val="107000"/>
                        </a:lnSpc>
                        <a:spcAft>
                          <a:spcPts val="800"/>
                        </a:spcAft>
                        <a:buNone/>
                      </a:pPr>
                      <a:endParaRPr lang="es-MX" sz="1000" b="1" kern="100" dirty="0">
                        <a:effectLst/>
                        <a:latin typeface="Aptos" panose="020B0004020202020204" pitchFamily="34" charset="0"/>
                        <a:ea typeface="Calibri" panose="020F0502020204030204" pitchFamily="34" charset="0"/>
                        <a:cs typeface="Times New Roman" panose="02020603050405020304" pitchFamily="18" charset="0"/>
                      </a:endParaRPr>
                    </a:p>
                    <a:p>
                      <a:pPr algn="l">
                        <a:lnSpc>
                          <a:spcPct val="107000"/>
                        </a:lnSpc>
                        <a:spcAft>
                          <a:spcPts val="800"/>
                        </a:spcAft>
                        <a:buNone/>
                      </a:pPr>
                      <a:r>
                        <a:rPr lang="es-MX" sz="1000" b="1" kern="100" dirty="0">
                          <a:effectLst/>
                          <a:latin typeface="Aptos" panose="020B0004020202020204" pitchFamily="34" charset="0"/>
                          <a:ea typeface="Calibri" panose="020F0502020204030204" pitchFamily="34" charset="0"/>
                          <a:cs typeface="Times New Roman" panose="02020603050405020304" pitchFamily="18" charset="0"/>
                        </a:rPr>
                        <a:t>CAMPO FORMATIVO</a:t>
                      </a:r>
                      <a:endParaRPr lang="es-MX" sz="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6628" marR="4662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1000" b="1" kern="100" dirty="0">
                          <a:effectLst/>
                          <a:latin typeface="Aptos" panose="020B0004020202020204" pitchFamily="34" charset="0"/>
                          <a:ea typeface="Calibri" panose="020F0502020204030204" pitchFamily="34" charset="0"/>
                          <a:cs typeface="Times New Roman" panose="02020603050405020304" pitchFamily="18" charset="0"/>
                        </a:rPr>
                        <a:t>                                                </a:t>
                      </a:r>
                    </a:p>
                    <a:p>
                      <a:pPr algn="l">
                        <a:lnSpc>
                          <a:spcPct val="107000"/>
                        </a:lnSpc>
                        <a:spcAft>
                          <a:spcPts val="800"/>
                        </a:spcAft>
                        <a:buNone/>
                      </a:pPr>
                      <a:r>
                        <a:rPr lang="es-MX" sz="1000" b="1" kern="100" dirty="0">
                          <a:effectLst/>
                          <a:latin typeface="Aptos" panose="020B0004020202020204" pitchFamily="34" charset="0"/>
                          <a:ea typeface="Calibri" panose="020F0502020204030204" pitchFamily="34" charset="0"/>
                          <a:cs typeface="Times New Roman" panose="02020603050405020304" pitchFamily="18" charset="0"/>
                        </a:rPr>
                        <a:t>                                                                              CONTENIDOS</a:t>
                      </a:r>
                      <a:endParaRPr lang="es-MX" sz="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6628" marR="4662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endParaRPr lang="es-MX" sz="1000" b="1" kern="100" dirty="0">
                        <a:effectLst/>
                        <a:latin typeface="Aptos" panose="020B0004020202020204" pitchFamily="34" charset="0"/>
                        <a:ea typeface="Calibri" panose="020F0502020204030204" pitchFamily="34" charset="0"/>
                        <a:cs typeface="Times New Roman" panose="02020603050405020304" pitchFamily="18" charset="0"/>
                      </a:endParaRPr>
                    </a:p>
                    <a:p>
                      <a:pPr algn="l">
                        <a:lnSpc>
                          <a:spcPct val="107000"/>
                        </a:lnSpc>
                        <a:spcAft>
                          <a:spcPts val="800"/>
                        </a:spcAft>
                        <a:buNone/>
                      </a:pPr>
                      <a:r>
                        <a:rPr lang="es-MX" sz="1000" b="1" kern="100" dirty="0">
                          <a:effectLst/>
                          <a:latin typeface="Aptos" panose="020B0004020202020204" pitchFamily="34" charset="0"/>
                          <a:ea typeface="Calibri" panose="020F0502020204030204" pitchFamily="34" charset="0"/>
                          <a:cs typeface="Times New Roman" panose="02020603050405020304" pitchFamily="18" charset="0"/>
                        </a:rPr>
                        <a:t>PROCESOS DE DESARROLLO</a:t>
                      </a:r>
                    </a:p>
                    <a:p>
                      <a:pPr algn="l">
                        <a:lnSpc>
                          <a:spcPct val="107000"/>
                        </a:lnSpc>
                        <a:spcAft>
                          <a:spcPts val="800"/>
                        </a:spcAft>
                        <a:buNone/>
                      </a:pPr>
                      <a:endParaRPr lang="es-MX" sz="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6628" marR="4662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30384337"/>
                  </a:ext>
                </a:extLst>
              </a:tr>
              <a:tr h="1883882">
                <a:tc>
                  <a:txBody>
                    <a:bodyPr/>
                    <a:lstStyle/>
                    <a:p>
                      <a:pPr algn="l">
                        <a:lnSpc>
                          <a:spcPct val="107000"/>
                        </a:lnSpc>
                        <a:spcAft>
                          <a:spcPts val="800"/>
                        </a:spcAft>
                        <a:buNone/>
                      </a:pPr>
                      <a:r>
                        <a:rPr lang="es-MX" sz="1200" kern="100" dirty="0">
                          <a:effectLst/>
                          <a:latin typeface="+mn-lt"/>
                          <a:ea typeface="Calibri" panose="020F0502020204030204" pitchFamily="34" charset="0"/>
                          <a:cs typeface="Arial" panose="020B0604020202020204" pitchFamily="34" charset="0"/>
                        </a:rPr>
                        <a:t> </a:t>
                      </a:r>
                      <a:endParaRPr lang="es-MX" sz="1200" kern="100" dirty="0">
                        <a:effectLst/>
                        <a:latin typeface="+mn-lt"/>
                        <a:ea typeface="Calibri" panose="020F0502020204030204" pitchFamily="34" charset="0"/>
                        <a:cs typeface="Times New Roman" panose="02020603050405020304" pitchFamily="18" charset="0"/>
                      </a:endParaRPr>
                    </a:p>
                    <a:p>
                      <a:pPr algn="l">
                        <a:lnSpc>
                          <a:spcPct val="107000"/>
                        </a:lnSpc>
                        <a:spcAft>
                          <a:spcPts val="800"/>
                        </a:spcAft>
                        <a:buNone/>
                      </a:pPr>
                      <a:r>
                        <a:rPr lang="es-MX" sz="1200" kern="100" dirty="0">
                          <a:effectLst/>
                          <a:latin typeface="+mn-lt"/>
                          <a:ea typeface="Calibri" panose="020F0502020204030204" pitchFamily="34" charset="0"/>
                          <a:cs typeface="Arial" panose="020B0604020202020204" pitchFamily="34" charset="0"/>
                        </a:rPr>
                        <a:t> </a:t>
                      </a:r>
                      <a:endParaRPr lang="es-MX" sz="1200" kern="100" dirty="0">
                        <a:effectLst/>
                        <a:latin typeface="+mn-lt"/>
                        <a:ea typeface="Calibri" panose="020F0502020204030204" pitchFamily="34" charset="0"/>
                        <a:cs typeface="Times New Roman" panose="02020603050405020304" pitchFamily="18" charset="0"/>
                      </a:endParaRPr>
                    </a:p>
                    <a:p>
                      <a:pPr algn="l">
                        <a:lnSpc>
                          <a:spcPct val="107000"/>
                        </a:lnSpc>
                        <a:spcAft>
                          <a:spcPts val="800"/>
                        </a:spcAft>
                        <a:buNone/>
                      </a:pPr>
                      <a:r>
                        <a:rPr lang="es-MX" sz="1200" kern="100" dirty="0">
                          <a:effectLst/>
                          <a:latin typeface="+mn-lt"/>
                          <a:ea typeface="Calibri" panose="020F0502020204030204" pitchFamily="34" charset="0"/>
                          <a:cs typeface="Arial" panose="020B0604020202020204" pitchFamily="34" charset="0"/>
                        </a:rPr>
                        <a:t> </a:t>
                      </a:r>
                      <a:r>
                        <a:rPr lang="es-MX" sz="1200" kern="100" dirty="0">
                          <a:solidFill>
                            <a:srgbClr val="000000"/>
                          </a:solidFill>
                          <a:effectLst/>
                          <a:latin typeface="+mn-lt"/>
                          <a:ea typeface="Calibri" panose="020F0502020204030204" pitchFamily="34" charset="0"/>
                          <a:cs typeface="Arial" panose="020B0604020202020204" pitchFamily="34" charset="0"/>
                        </a:rPr>
                        <a:t>Lenguajes</a:t>
                      </a:r>
                      <a:endParaRPr lang="es-MX" sz="1200" kern="100" dirty="0">
                        <a:effectLst/>
                        <a:latin typeface="+mn-lt"/>
                        <a:ea typeface="Calibri" panose="020F0502020204030204" pitchFamily="34" charset="0"/>
                        <a:cs typeface="Times New Roman" panose="02020603050405020304" pitchFamily="18" charset="0"/>
                      </a:endParaRPr>
                    </a:p>
                  </a:txBody>
                  <a:tcPr marL="46628" marR="4662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0000"/>
                    </a:solidFill>
                  </a:tcPr>
                </a:tc>
                <a:tc>
                  <a:txBody>
                    <a:bodyPr/>
                    <a:lstStyle/>
                    <a:p>
                      <a:pPr marL="342900" lvl="0" indent="-342900" algn="l">
                        <a:lnSpc>
                          <a:spcPct val="107000"/>
                        </a:lnSpc>
                        <a:buFont typeface="Wingdings" panose="05000000000000000000" pitchFamily="2" charset="2"/>
                        <a:buChar char=""/>
                        <a:tabLst>
                          <a:tab pos="2082800" algn="l"/>
                        </a:tabLst>
                      </a:pPr>
                      <a:r>
                        <a:rPr lang="es-MX" sz="1200" kern="100" dirty="0">
                          <a:effectLst/>
                          <a:latin typeface="+mn-lt"/>
                          <a:ea typeface="Calibri" panose="020F0502020204030204" pitchFamily="34" charset="0"/>
                          <a:cs typeface="Arial" panose="020B0604020202020204" pitchFamily="34" charset="0"/>
                        </a:rPr>
                        <a:t>Narración de historias mediante diversos lenguajes, en un ambiente donde niñas y niños participen y se apropien de la cultura, a través de diferentes textos. </a:t>
                      </a:r>
                      <a:endParaRPr lang="es-MX" sz="1200" kern="100" dirty="0">
                        <a:effectLst/>
                        <a:latin typeface="+mn-lt"/>
                        <a:ea typeface="Calibri" panose="020F0502020204030204" pitchFamily="34" charset="0"/>
                        <a:cs typeface="Times New Roman" panose="02020603050405020304" pitchFamily="18" charset="0"/>
                      </a:endParaRPr>
                    </a:p>
                    <a:p>
                      <a:pPr marL="342900" lvl="0" indent="-342900" algn="l">
                        <a:lnSpc>
                          <a:spcPct val="107000"/>
                        </a:lnSpc>
                        <a:buFont typeface="Wingdings" panose="05000000000000000000" pitchFamily="2" charset="2"/>
                        <a:buChar char=""/>
                        <a:tabLst>
                          <a:tab pos="2082800" algn="l"/>
                        </a:tabLst>
                      </a:pPr>
                      <a:r>
                        <a:rPr lang="es-MX" sz="1200" kern="100" dirty="0">
                          <a:effectLst/>
                          <a:latin typeface="+mn-lt"/>
                          <a:ea typeface="Calibri" panose="020F0502020204030204" pitchFamily="34" charset="0"/>
                          <a:cs typeface="Arial" panose="020B0604020202020204" pitchFamily="34" charset="0"/>
                        </a:rPr>
                        <a:t>Reconocimiento y aprecio de la diversidad lingüística, al identificar las formas en que se comunican las distintas personas de la comunidad.          </a:t>
                      </a:r>
                      <a:endParaRPr lang="es-MX" sz="1200" kern="100" dirty="0">
                        <a:effectLst/>
                        <a:latin typeface="+mn-lt"/>
                        <a:ea typeface="Calibri" panose="020F0502020204030204" pitchFamily="34" charset="0"/>
                        <a:cs typeface="Times New Roman" panose="02020603050405020304" pitchFamily="18" charset="0"/>
                      </a:endParaRPr>
                    </a:p>
                    <a:p>
                      <a:pPr marL="342900" lvl="0" indent="-342900" algn="l">
                        <a:lnSpc>
                          <a:spcPct val="107000"/>
                        </a:lnSpc>
                        <a:buFont typeface="Wingdings" panose="05000000000000000000" pitchFamily="2" charset="2"/>
                        <a:buChar char=""/>
                        <a:tabLst>
                          <a:tab pos="2082800" algn="l"/>
                        </a:tabLst>
                      </a:pPr>
                      <a:r>
                        <a:rPr lang="es-MX" sz="1200" kern="100" dirty="0">
                          <a:effectLst/>
                          <a:latin typeface="+mn-lt"/>
                          <a:ea typeface="Calibri" panose="020F0502020204030204" pitchFamily="34" charset="0"/>
                          <a:cs typeface="Arial" panose="020B0604020202020204" pitchFamily="34" charset="0"/>
                        </a:rPr>
                        <a:t>Producciones gráficas dirigidas a destinatarias y destinatarios diversos, para establecer vínculos sociales y acercarse a la cultura escrita</a:t>
                      </a:r>
                      <a:endParaRPr lang="es-MX" sz="1200" kern="100" dirty="0">
                        <a:effectLst/>
                        <a:latin typeface="+mn-lt"/>
                        <a:ea typeface="Calibri" panose="020F0502020204030204" pitchFamily="34" charset="0"/>
                        <a:cs typeface="Times New Roman" panose="02020603050405020304" pitchFamily="18" charset="0"/>
                      </a:endParaRPr>
                    </a:p>
                  </a:txBody>
                  <a:tcPr marL="46628" marR="4662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342900" lvl="0" indent="-342900" algn="l">
                        <a:lnSpc>
                          <a:spcPct val="107000"/>
                        </a:lnSpc>
                        <a:buFont typeface="Symbol" panose="05050102010706020507" pitchFamily="18" charset="2"/>
                        <a:buChar char=""/>
                      </a:pPr>
                      <a:r>
                        <a:rPr lang="es-MX" sz="1200" kern="100" dirty="0">
                          <a:effectLst/>
                          <a:latin typeface="+mn-lt"/>
                          <a:ea typeface="Calibri" panose="020F0502020204030204" pitchFamily="34" charset="0"/>
                          <a:cs typeface="Times New Roman" panose="02020603050405020304" pitchFamily="18" charset="0"/>
                        </a:rPr>
                        <a:t>Describe lugares o personajes de las historias o textos literarios que conoce y los relaciona con personas, paisajes y otros elementos de su comunidad.                                                                 </a:t>
                      </a:r>
                    </a:p>
                    <a:p>
                      <a:pPr marL="342900" lvl="0" indent="-342900" algn="l">
                        <a:lnSpc>
                          <a:spcPct val="107000"/>
                        </a:lnSpc>
                        <a:buFont typeface="Symbol" panose="05050102010706020507" pitchFamily="18" charset="2"/>
                        <a:buChar char=""/>
                      </a:pPr>
                      <a:r>
                        <a:rPr lang="es-MX" sz="1200" kern="100" dirty="0">
                          <a:effectLst/>
                          <a:latin typeface="+mn-lt"/>
                          <a:ea typeface="Calibri" panose="020F0502020204030204" pitchFamily="34" charset="0"/>
                          <a:cs typeface="Times New Roman" panose="02020603050405020304" pitchFamily="18" charset="0"/>
                        </a:rPr>
                        <a:t>Reconoce que hay personas que se comunican en lenguas distintas a la propia.</a:t>
                      </a:r>
                    </a:p>
                    <a:p>
                      <a:pPr marL="342900" lvl="0" indent="-342900" algn="l">
                        <a:lnSpc>
                          <a:spcPct val="107000"/>
                        </a:lnSpc>
                        <a:spcAft>
                          <a:spcPts val="800"/>
                        </a:spcAft>
                        <a:buFont typeface="Symbol" panose="05050102010706020507" pitchFamily="18" charset="2"/>
                        <a:buChar char=""/>
                      </a:pPr>
                      <a:r>
                        <a:rPr lang="es-MX" sz="1200" kern="100" dirty="0">
                          <a:effectLst/>
                          <a:latin typeface="+mn-lt"/>
                          <a:ea typeface="Calibri" panose="020F0502020204030204" pitchFamily="34" charset="0"/>
                          <a:cs typeface="Times New Roman" panose="02020603050405020304" pitchFamily="18" charset="0"/>
                        </a:rPr>
                        <a:t> Identifica su nombre escrito y otras palabras, en distintos objetos personales del aula o su casa</a:t>
                      </a:r>
                    </a:p>
                  </a:txBody>
                  <a:tcPr marL="46628" marR="4662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04851347"/>
                  </a:ext>
                </a:extLst>
              </a:tr>
              <a:tr h="1269583">
                <a:tc>
                  <a:txBody>
                    <a:bodyPr/>
                    <a:lstStyle/>
                    <a:p>
                      <a:pPr algn="l">
                        <a:lnSpc>
                          <a:spcPct val="107000"/>
                        </a:lnSpc>
                        <a:spcAft>
                          <a:spcPts val="800"/>
                        </a:spcAft>
                        <a:buNone/>
                      </a:pPr>
                      <a:endParaRPr lang="es-MX" sz="1200" kern="100" dirty="0">
                        <a:solidFill>
                          <a:srgbClr val="000000"/>
                        </a:solidFill>
                        <a:effectLst/>
                        <a:latin typeface="+mn-lt"/>
                        <a:ea typeface="Calibri" panose="020F0502020204030204" pitchFamily="34" charset="0"/>
                        <a:cs typeface="Times New Roman" panose="02020603050405020304" pitchFamily="18" charset="0"/>
                      </a:endParaRPr>
                    </a:p>
                    <a:p>
                      <a:pPr algn="l">
                        <a:lnSpc>
                          <a:spcPct val="107000"/>
                        </a:lnSpc>
                        <a:spcAft>
                          <a:spcPts val="800"/>
                        </a:spcAft>
                        <a:buNone/>
                      </a:pPr>
                      <a:endParaRPr lang="es-MX" sz="1200" kern="100" dirty="0">
                        <a:solidFill>
                          <a:srgbClr val="000000"/>
                        </a:solidFill>
                        <a:effectLst/>
                        <a:latin typeface="+mn-lt"/>
                        <a:ea typeface="Calibri" panose="020F0502020204030204" pitchFamily="34" charset="0"/>
                        <a:cs typeface="Times New Roman" panose="02020603050405020304" pitchFamily="18" charset="0"/>
                      </a:endParaRPr>
                    </a:p>
                    <a:p>
                      <a:pPr algn="l">
                        <a:lnSpc>
                          <a:spcPct val="107000"/>
                        </a:lnSpc>
                        <a:spcAft>
                          <a:spcPts val="800"/>
                        </a:spcAft>
                        <a:buNone/>
                      </a:pPr>
                      <a:r>
                        <a:rPr lang="es-MX" sz="1200" kern="100" dirty="0">
                          <a:solidFill>
                            <a:srgbClr val="000000"/>
                          </a:solidFill>
                          <a:effectLst/>
                          <a:latin typeface="+mn-lt"/>
                          <a:ea typeface="Calibri" panose="020F0502020204030204" pitchFamily="34" charset="0"/>
                          <a:cs typeface="Times New Roman" panose="02020603050405020304" pitchFamily="18" charset="0"/>
                        </a:rPr>
                        <a:t>SABERES Y PENSAMIENTO CIENTÍFICO</a:t>
                      </a:r>
                      <a:endParaRPr lang="es-MX" sz="1200" kern="100" dirty="0">
                        <a:effectLst/>
                        <a:latin typeface="+mn-lt"/>
                        <a:ea typeface="Calibri" panose="020F0502020204030204" pitchFamily="34" charset="0"/>
                        <a:cs typeface="Times New Roman" panose="02020603050405020304" pitchFamily="18" charset="0"/>
                      </a:endParaRPr>
                    </a:p>
                  </a:txBody>
                  <a:tcPr marL="46628" marR="4662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70C0"/>
                    </a:solidFill>
                  </a:tcPr>
                </a:tc>
                <a:tc>
                  <a:txBody>
                    <a:bodyPr/>
                    <a:lstStyle/>
                    <a:p>
                      <a:pPr marL="342900" lvl="0" indent="-342900" algn="l">
                        <a:lnSpc>
                          <a:spcPct val="107000"/>
                        </a:lnSpc>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Clasificación y experimentación con objetos y elementos del entorno que reflejan la diversidad de la comunidad o región.                                                </a:t>
                      </a:r>
                    </a:p>
                    <a:p>
                      <a:pPr marL="342900" lvl="0" indent="-342900" algn="l">
                        <a:lnSpc>
                          <a:spcPct val="107000"/>
                        </a:lnSpc>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Los saberes numéricos como herramienta para resolver situaciones del entorno, en diversos contextos socioculturales.</a:t>
                      </a:r>
                    </a:p>
                  </a:txBody>
                  <a:tcPr marL="46628" marR="4662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342900" lvl="0" indent="-342900" algn="l">
                        <a:lnSpc>
                          <a:spcPct val="107000"/>
                        </a:lnSpc>
                        <a:buFont typeface="Wingdings" panose="05000000000000000000" pitchFamily="2" charset="2"/>
                        <a:buChar char=""/>
                      </a:pPr>
                      <a:r>
                        <a:rPr lang="es-MX" sz="1200" kern="100">
                          <a:effectLst/>
                          <a:latin typeface="+mn-lt"/>
                          <a:ea typeface="Calibri" panose="020F0502020204030204" pitchFamily="34" charset="0"/>
                          <a:cs typeface="Times New Roman" panose="02020603050405020304" pitchFamily="18" charset="0"/>
                        </a:rPr>
                        <a:t>Explora las características de elementos y objetos de su entorno y establece con sus pares, semejanzas y diferencias; usa materiales del arte para representarlas                                  </a:t>
                      </a:r>
                    </a:p>
                    <a:p>
                      <a:pPr marL="342900" lvl="0" indent="-342900" algn="l">
                        <a:lnSpc>
                          <a:spcPct val="107000"/>
                        </a:lnSpc>
                        <a:spcAft>
                          <a:spcPts val="800"/>
                        </a:spcAft>
                        <a:buFont typeface="Wingdings" panose="05000000000000000000" pitchFamily="2" charset="2"/>
                        <a:buChar char=""/>
                      </a:pPr>
                      <a:r>
                        <a:rPr lang="es-MX" sz="1200" kern="100">
                          <a:effectLst/>
                          <a:latin typeface="+mn-lt"/>
                          <a:ea typeface="Calibri" panose="020F0502020204030204" pitchFamily="34" charset="0"/>
                          <a:cs typeface="Times New Roman" panose="02020603050405020304" pitchFamily="18" charset="0"/>
                        </a:rPr>
                        <a:t> Dice en su lengua materna, números en canciones o juegos.</a:t>
                      </a:r>
                    </a:p>
                  </a:txBody>
                  <a:tcPr marL="46628" marR="4662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07340763"/>
                  </a:ext>
                </a:extLst>
              </a:tr>
              <a:tr h="905054">
                <a:tc>
                  <a:txBody>
                    <a:bodyPr/>
                    <a:lstStyle/>
                    <a:p>
                      <a:pPr algn="l">
                        <a:lnSpc>
                          <a:spcPct val="107000"/>
                        </a:lnSpc>
                        <a:spcAft>
                          <a:spcPts val="800"/>
                        </a:spcAft>
                        <a:buNone/>
                      </a:pPr>
                      <a:endParaRPr lang="es-MX" sz="1200" kern="100" dirty="0">
                        <a:solidFill>
                          <a:srgbClr val="000000"/>
                        </a:solidFill>
                        <a:effectLst/>
                        <a:latin typeface="+mn-lt"/>
                        <a:ea typeface="Calibri" panose="020F0502020204030204" pitchFamily="34" charset="0"/>
                        <a:cs typeface="Times New Roman" panose="02020603050405020304" pitchFamily="18" charset="0"/>
                      </a:endParaRPr>
                    </a:p>
                    <a:p>
                      <a:pPr algn="l">
                        <a:lnSpc>
                          <a:spcPct val="107000"/>
                        </a:lnSpc>
                        <a:spcAft>
                          <a:spcPts val="800"/>
                        </a:spcAft>
                        <a:buNone/>
                      </a:pPr>
                      <a:r>
                        <a:rPr lang="es-MX" sz="1200" kern="100" dirty="0">
                          <a:solidFill>
                            <a:srgbClr val="000000"/>
                          </a:solidFill>
                          <a:effectLst/>
                          <a:latin typeface="+mn-lt"/>
                          <a:ea typeface="Calibri" panose="020F0502020204030204" pitchFamily="34" charset="0"/>
                          <a:cs typeface="Times New Roman" panose="02020603050405020304" pitchFamily="18" charset="0"/>
                        </a:rPr>
                        <a:t>ÉTICA NATURALEZA Y SOCIEDAD</a:t>
                      </a:r>
                      <a:endParaRPr lang="es-MX" sz="1200" kern="100" dirty="0">
                        <a:effectLst/>
                        <a:latin typeface="+mn-lt"/>
                        <a:ea typeface="Calibri" panose="020F0502020204030204" pitchFamily="34" charset="0"/>
                        <a:cs typeface="Times New Roman" panose="02020603050405020304" pitchFamily="18" charset="0"/>
                      </a:endParaRPr>
                    </a:p>
                  </a:txBody>
                  <a:tcPr marL="46628" marR="4662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marL="342900" lvl="0" indent="-342900" algn="l">
                        <a:lnSpc>
                          <a:spcPct val="107000"/>
                        </a:lnSpc>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Transformación responsable del entorno al satisfacer necesidades básicas de alimentación, vestido y vivienda</a:t>
                      </a:r>
                    </a:p>
                    <a:p>
                      <a:pPr marL="228600" algn="l">
                        <a:lnSpc>
                          <a:spcPct val="107000"/>
                        </a:lnSpc>
                        <a:buNone/>
                      </a:pPr>
                      <a:r>
                        <a:rPr lang="es-MX" sz="1200" kern="100" dirty="0">
                          <a:effectLst/>
                          <a:latin typeface="+mn-lt"/>
                          <a:ea typeface="Calibri" panose="020F0502020204030204" pitchFamily="34" charset="0"/>
                          <a:cs typeface="Times New Roman" panose="02020603050405020304" pitchFamily="18" charset="0"/>
                        </a:rPr>
                        <a:t> </a:t>
                      </a:r>
                    </a:p>
                  </a:txBody>
                  <a:tcPr marL="46628" marR="4662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342900" lvl="0" indent="-342900" algn="l">
                        <a:lnSpc>
                          <a:spcPct val="107000"/>
                        </a:lnSpc>
                        <a:buFont typeface="Wingdings" panose="05000000000000000000" pitchFamily="2" charset="2"/>
                        <a:buChar char=""/>
                      </a:pPr>
                      <a:r>
                        <a:rPr lang="es-MX" sz="1200" kern="100">
                          <a:effectLst/>
                          <a:latin typeface="+mn-lt"/>
                          <a:ea typeface="Calibri" panose="020F0502020204030204" pitchFamily="34" charset="0"/>
                          <a:cs typeface="Times New Roman" panose="02020603050405020304" pitchFamily="18" charset="0"/>
                        </a:rPr>
                        <a:t>Identifica objetos, prendas de vestir o alimentos que provienen de la naturaleza y los usa o consume de manera racional.</a:t>
                      </a:r>
                    </a:p>
                    <a:p>
                      <a:pPr marL="342900" lvl="0" indent="-342900" algn="l">
                        <a:lnSpc>
                          <a:spcPct val="107000"/>
                        </a:lnSpc>
                        <a:spcAft>
                          <a:spcPts val="800"/>
                        </a:spcAft>
                        <a:buFont typeface="Wingdings" panose="05000000000000000000" pitchFamily="2" charset="2"/>
                        <a:buChar char=""/>
                      </a:pPr>
                      <a:r>
                        <a:rPr lang="es-MX" sz="1200" kern="100">
                          <a:effectLst/>
                          <a:latin typeface="+mn-lt"/>
                          <a:ea typeface="Calibri" panose="020F0502020204030204" pitchFamily="34" charset="0"/>
                          <a:cs typeface="Times New Roman" panose="02020603050405020304" pitchFamily="18" charset="0"/>
                        </a:rPr>
                        <a:t> </a:t>
                      </a:r>
                    </a:p>
                  </a:txBody>
                  <a:tcPr marL="46628" marR="4662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18905457"/>
                  </a:ext>
                </a:extLst>
              </a:tr>
              <a:tr h="1484939">
                <a:tc>
                  <a:txBody>
                    <a:bodyPr/>
                    <a:lstStyle/>
                    <a:p>
                      <a:pPr algn="l">
                        <a:lnSpc>
                          <a:spcPct val="107000"/>
                        </a:lnSpc>
                        <a:spcAft>
                          <a:spcPts val="800"/>
                        </a:spcAft>
                        <a:buNone/>
                      </a:pPr>
                      <a:endParaRPr lang="es-MX" sz="1200" kern="100" dirty="0">
                        <a:solidFill>
                          <a:srgbClr val="000000"/>
                        </a:solidFill>
                        <a:effectLst/>
                        <a:latin typeface="+mn-lt"/>
                        <a:ea typeface="Calibri" panose="020F0502020204030204" pitchFamily="34" charset="0"/>
                        <a:cs typeface="Times New Roman" panose="02020603050405020304" pitchFamily="18" charset="0"/>
                      </a:endParaRPr>
                    </a:p>
                    <a:p>
                      <a:pPr algn="l">
                        <a:lnSpc>
                          <a:spcPct val="107000"/>
                        </a:lnSpc>
                        <a:spcAft>
                          <a:spcPts val="800"/>
                        </a:spcAft>
                        <a:buNone/>
                      </a:pPr>
                      <a:r>
                        <a:rPr lang="es-MX" sz="1200" kern="100" dirty="0">
                          <a:solidFill>
                            <a:srgbClr val="000000"/>
                          </a:solidFill>
                          <a:effectLst/>
                          <a:latin typeface="+mn-lt"/>
                          <a:ea typeface="Calibri" panose="020F0502020204030204" pitchFamily="34" charset="0"/>
                          <a:cs typeface="Times New Roman" panose="02020603050405020304" pitchFamily="18" charset="0"/>
                        </a:rPr>
                        <a:t>DE LO HUMANO Y LO COMUNITARIO</a:t>
                      </a:r>
                    </a:p>
                  </a:txBody>
                  <a:tcPr marL="46628" marR="4662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030A0"/>
                    </a:solidFill>
                  </a:tcPr>
                </a:tc>
                <a:tc>
                  <a:txBody>
                    <a:bodyPr/>
                    <a:lstStyle/>
                    <a:p>
                      <a:pPr marL="342900" lvl="0" indent="-342900" algn="l">
                        <a:lnSpc>
                          <a:spcPct val="107000"/>
                        </a:lnSpc>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Consumo de alimentos y bebidas que benefician la salud, de acuerdo con los contextos socioculturales</a:t>
                      </a:r>
                    </a:p>
                    <a:p>
                      <a:pPr marL="228600" algn="l">
                        <a:lnSpc>
                          <a:spcPct val="107000"/>
                        </a:lnSpc>
                        <a:buNone/>
                      </a:pPr>
                      <a:r>
                        <a:rPr lang="es-MX" sz="1200" kern="100" dirty="0">
                          <a:effectLst/>
                          <a:latin typeface="+mn-lt"/>
                          <a:ea typeface="Calibri" panose="020F0502020204030204" pitchFamily="34" charset="0"/>
                          <a:cs typeface="Times New Roman" panose="02020603050405020304" pitchFamily="18" charset="0"/>
                        </a:rPr>
                        <a:t> </a:t>
                      </a:r>
                    </a:p>
                  </a:txBody>
                  <a:tcPr marL="46628" marR="4662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342900" lvl="0" indent="-342900" algn="l">
                        <a:lnSpc>
                          <a:spcPct val="107000"/>
                        </a:lnSpc>
                        <a:spcAft>
                          <a:spcPts val="8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Expresa gustos y preferencias de bebidas y alimentos que hay en su comunidad, al explorar aromas, colores, texturas y sabores, guardando </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medidas de seguridad e higiene</a:t>
                      </a:r>
                    </a:p>
                  </a:txBody>
                  <a:tcPr marL="46628" marR="4662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16034153"/>
                  </a:ext>
                </a:extLst>
              </a:tr>
            </a:tbl>
          </a:graphicData>
        </a:graphic>
      </p:graphicFrame>
    </p:spTree>
    <p:extLst>
      <p:ext uri="{BB962C8B-B14F-4D97-AF65-F5344CB8AC3E}">
        <p14:creationId xmlns:p14="http://schemas.microsoft.com/office/powerpoint/2010/main" val="24601538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5CFA9-9283-1DA0-A582-A763CC9FAB6F}"/>
            </a:ext>
          </a:extLst>
        </p:cNvPr>
        <p:cNvGrpSpPr/>
        <p:nvPr/>
      </p:nvGrpSpPr>
      <p:grpSpPr>
        <a:xfrm>
          <a:off x="0" y="0"/>
          <a:ext cx="0" cy="0"/>
          <a:chOff x="0" y="0"/>
          <a:chExt cx="0" cy="0"/>
        </a:xfrm>
      </p:grpSpPr>
      <p:graphicFrame>
        <p:nvGraphicFramePr>
          <p:cNvPr id="2" name="Tabla 1">
            <a:extLst>
              <a:ext uri="{FF2B5EF4-FFF2-40B4-BE49-F238E27FC236}">
                <a16:creationId xmlns:a16="http://schemas.microsoft.com/office/drawing/2014/main" id="{672E015C-074A-81A8-A303-99E90D7530E6}"/>
              </a:ext>
            </a:extLst>
          </p:cNvPr>
          <p:cNvGraphicFramePr>
            <a:graphicFrameLocks noGrp="1"/>
          </p:cNvGraphicFramePr>
          <p:nvPr>
            <p:extLst>
              <p:ext uri="{D42A27DB-BD31-4B8C-83A1-F6EECF244321}">
                <p14:modId xmlns:p14="http://schemas.microsoft.com/office/powerpoint/2010/main" val="465577513"/>
              </p:ext>
            </p:extLst>
          </p:nvPr>
        </p:nvGraphicFramePr>
        <p:xfrm>
          <a:off x="194922" y="195943"/>
          <a:ext cx="11802156" cy="6126696"/>
        </p:xfrm>
        <a:graphic>
          <a:graphicData uri="http://schemas.openxmlformats.org/drawingml/2006/table">
            <a:tbl>
              <a:tblPr firstRow="1" firstCol="1" bandRow="1"/>
              <a:tblGrid>
                <a:gridCol w="1829821">
                  <a:extLst>
                    <a:ext uri="{9D8B030D-6E8A-4147-A177-3AD203B41FA5}">
                      <a16:colId xmlns:a16="http://schemas.microsoft.com/office/drawing/2014/main" val="2238296207"/>
                    </a:ext>
                  </a:extLst>
                </a:gridCol>
                <a:gridCol w="8414657">
                  <a:extLst>
                    <a:ext uri="{9D8B030D-6E8A-4147-A177-3AD203B41FA5}">
                      <a16:colId xmlns:a16="http://schemas.microsoft.com/office/drawing/2014/main" val="1001451854"/>
                    </a:ext>
                  </a:extLst>
                </a:gridCol>
                <a:gridCol w="1557678">
                  <a:extLst>
                    <a:ext uri="{9D8B030D-6E8A-4147-A177-3AD203B41FA5}">
                      <a16:colId xmlns:a16="http://schemas.microsoft.com/office/drawing/2014/main" val="333630288"/>
                    </a:ext>
                  </a:extLst>
                </a:gridCol>
              </a:tblGrid>
              <a:tr h="753895">
                <a:tc gridSpan="3">
                  <a:txBody>
                    <a:bodyPr/>
                    <a:lstStyle/>
                    <a:p>
                      <a:pPr algn="ctr">
                        <a:lnSpc>
                          <a:spcPct val="100000"/>
                        </a:lnSpc>
                        <a:spcAft>
                          <a:spcPts val="800"/>
                        </a:spcAft>
                        <a:buNone/>
                      </a:pPr>
                      <a:r>
                        <a:rPr lang="es-MX" sz="1200" b="1" u="none" kern="100" dirty="0">
                          <a:solidFill>
                            <a:srgbClr val="2E74B5"/>
                          </a:solidFill>
                          <a:effectLst/>
                          <a:latin typeface="+mn-lt"/>
                          <a:ea typeface="Calibri" panose="020F0502020204030204" pitchFamily="34" charset="0"/>
                          <a:cs typeface="Times New Roman" panose="02020603050405020304" pitchFamily="18" charset="0"/>
                        </a:rPr>
                        <a:t>  sesión     </a:t>
                      </a:r>
                      <a:r>
                        <a:rPr lang="es-MX" sz="1200" b="1" u="none" kern="100" dirty="0">
                          <a:solidFill>
                            <a:schemeClr val="tx1"/>
                          </a:solidFill>
                          <a:effectLst/>
                          <a:latin typeface="+mn-lt"/>
                          <a:ea typeface="Calibri" panose="020F0502020204030204" pitchFamily="34" charset="0"/>
                          <a:cs typeface="Times New Roman" panose="02020603050405020304" pitchFamily="18" charset="0"/>
                        </a:rPr>
                        <a:t>1</a:t>
                      </a:r>
                    </a:p>
                    <a:p>
                      <a:pPr algn="ctr">
                        <a:lnSpc>
                          <a:spcPct val="100000"/>
                        </a:lnSpc>
                        <a:spcAft>
                          <a:spcPts val="800"/>
                        </a:spcAft>
                        <a:buNone/>
                      </a:pPr>
                      <a:r>
                        <a:rPr lang="es-MX" sz="1200" b="1" kern="100" dirty="0">
                          <a:solidFill>
                            <a:srgbClr val="2E74B5"/>
                          </a:solidFill>
                          <a:effectLst/>
                          <a:latin typeface="+mn-lt"/>
                          <a:ea typeface="Calibri" panose="020F0502020204030204" pitchFamily="34" charset="0"/>
                          <a:cs typeface="Times New Roman" panose="02020603050405020304" pitchFamily="18" charset="0"/>
                        </a:rPr>
                        <a:t>                                                    Fecha:   </a:t>
                      </a:r>
                      <a:r>
                        <a:rPr lang="es-MX" sz="1200" b="1" kern="100" dirty="0">
                          <a:effectLst/>
                          <a:latin typeface="+mn-lt"/>
                          <a:ea typeface="Calibri" panose="020F0502020204030204" pitchFamily="34" charset="0"/>
                          <a:cs typeface="Times New Roman" panose="02020603050405020304" pitchFamily="18" charset="0"/>
                        </a:rPr>
                        <a:t>lunes   12 de enero de 2026</a:t>
                      </a:r>
                      <a:endParaRPr lang="es-MX" sz="1200" kern="100" dirty="0">
                        <a:effectLst/>
                        <a:latin typeface="+mn-lt"/>
                        <a:ea typeface="Calibri" panose="020F0502020204030204" pitchFamily="34" charset="0"/>
                        <a:cs typeface="Times New Roman" panose="02020603050405020304" pitchFamily="18" charset="0"/>
                      </a:endParaRPr>
                    </a:p>
                    <a:p>
                      <a:pPr algn="ctr">
                        <a:lnSpc>
                          <a:spcPct val="100000"/>
                        </a:lnSpc>
                        <a:spcAft>
                          <a:spcPts val="800"/>
                        </a:spcAft>
                        <a:buNone/>
                      </a:pPr>
                      <a:r>
                        <a:rPr lang="es-MX" sz="1200" b="1" kern="100" dirty="0">
                          <a:solidFill>
                            <a:srgbClr val="2E74B5"/>
                          </a:solidFill>
                          <a:effectLst/>
                          <a:latin typeface="+mn-lt"/>
                          <a:ea typeface="Calibri" panose="020F0502020204030204" pitchFamily="34" charset="0"/>
                          <a:cs typeface="Times New Roman" panose="02020603050405020304" pitchFamily="18" charset="0"/>
                        </a:rPr>
                        <a:t>                                                      Subtema:   </a:t>
                      </a:r>
                      <a:r>
                        <a:rPr lang="es-MX" sz="1200" b="1" kern="100" dirty="0">
                          <a:effectLst/>
                          <a:latin typeface="+mn-lt"/>
                          <a:ea typeface="Calibri" panose="020F0502020204030204" pitchFamily="34" charset="0"/>
                          <a:cs typeface="Times New Roman" panose="02020603050405020304" pitchFamily="18" charset="0"/>
                        </a:rPr>
                        <a:t>El maíz en mi comunidad</a:t>
                      </a:r>
                      <a:endParaRPr lang="es-MX" sz="1200" kern="100" dirty="0">
                        <a:effectLst/>
                        <a:latin typeface="+mn-lt"/>
                        <a:ea typeface="Calibri" panose="020F0502020204030204" pitchFamily="34" charset="0"/>
                        <a:cs typeface="Times New Roman" panose="02020603050405020304" pitchFamily="18" charset="0"/>
                      </a:endParaRPr>
                    </a:p>
                    <a:p>
                      <a:pPr algn="ctr">
                        <a:lnSpc>
                          <a:spcPct val="100000"/>
                        </a:lnSpc>
                        <a:spcAft>
                          <a:spcPts val="1000"/>
                        </a:spcAft>
                        <a:buNone/>
                      </a:pPr>
                      <a:r>
                        <a:rPr lang="es-MX" sz="1200" b="1" kern="100" dirty="0">
                          <a:solidFill>
                            <a:srgbClr val="2E74B5"/>
                          </a:solidFill>
                          <a:effectLst/>
                          <a:latin typeface="+mn-lt"/>
                          <a:ea typeface="Calibri" panose="020F0502020204030204" pitchFamily="34" charset="0"/>
                          <a:cs typeface="Times New Roman" panose="02020603050405020304" pitchFamily="18" charset="0"/>
                        </a:rPr>
                        <a:t>                                                     Actividad:</a:t>
                      </a:r>
                      <a:r>
                        <a:rPr lang="es-MX" sz="1200" b="1" kern="100" dirty="0">
                          <a:effectLst/>
                          <a:latin typeface="+mn-lt"/>
                          <a:ea typeface="Calibri" panose="020F0502020204030204" pitchFamily="34" charset="0"/>
                          <a:cs typeface="Times New Roman" panose="02020603050405020304" pitchFamily="18" charset="0"/>
                        </a:rPr>
                        <a:t>    ¿Qué sabemos del maíz?</a:t>
                      </a:r>
                      <a:endParaRPr lang="es-MX" sz="1200" kern="100" dirty="0">
                        <a:effectLst/>
                        <a:latin typeface="+mn-lt"/>
                        <a:ea typeface="Calibri" panose="020F0502020204030204" pitchFamily="34" charset="0"/>
                        <a:cs typeface="Times New Roman" panose="02020603050405020304" pitchFamily="18" charset="0"/>
                      </a:endParaRPr>
                    </a:p>
                  </a:txBody>
                  <a:tcPr marL="46839" marR="468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s-MX"/>
                    </a:p>
                  </a:txBody>
                  <a:tcPr/>
                </a:tc>
                <a:tc hMerge="1">
                  <a:txBody>
                    <a:bodyPr/>
                    <a:lstStyle/>
                    <a:p>
                      <a:endParaRPr lang="es-MX"/>
                    </a:p>
                  </a:txBody>
                  <a:tcPr/>
                </a:tc>
                <a:extLst>
                  <a:ext uri="{0D108BD9-81ED-4DB2-BD59-A6C34878D82A}">
                    <a16:rowId xmlns:a16="http://schemas.microsoft.com/office/drawing/2014/main" val="3119333358"/>
                  </a:ext>
                </a:extLst>
              </a:tr>
              <a:tr h="184383">
                <a:tc>
                  <a:txBody>
                    <a:bodyPr/>
                    <a:lstStyle/>
                    <a:p>
                      <a:pPr>
                        <a:lnSpc>
                          <a:spcPct val="107000"/>
                        </a:lnSpc>
                        <a:spcAft>
                          <a:spcPts val="800"/>
                        </a:spcAft>
                        <a:buNone/>
                      </a:pPr>
                      <a:r>
                        <a:rPr lang="es-MX" sz="1200" b="1" kern="100">
                          <a:effectLst/>
                          <a:latin typeface="+mn-lt"/>
                          <a:ea typeface="Calibri" panose="020F0502020204030204" pitchFamily="34" charset="0"/>
                          <a:cs typeface="Times New Roman" panose="02020603050405020304" pitchFamily="18" charset="0"/>
                        </a:rPr>
                        <a:t>Momento</a:t>
                      </a:r>
                      <a:endParaRPr lang="es-MX" sz="1200" kern="100">
                        <a:effectLst/>
                        <a:latin typeface="+mn-lt"/>
                        <a:ea typeface="Calibri" panose="020F0502020204030204" pitchFamily="34" charset="0"/>
                        <a:cs typeface="Times New Roman" panose="02020603050405020304" pitchFamily="18" charset="0"/>
                      </a:endParaRPr>
                    </a:p>
                  </a:txBody>
                  <a:tcPr marL="46839" marR="468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s-MX" sz="1200" b="1" kern="100">
                          <a:effectLst/>
                          <a:latin typeface="+mn-lt"/>
                          <a:ea typeface="Calibri" panose="020F0502020204030204" pitchFamily="34" charset="0"/>
                          <a:cs typeface="Times New Roman" panose="02020603050405020304" pitchFamily="18" charset="0"/>
                        </a:rPr>
                        <a:t>                                                               Actividades</a:t>
                      </a:r>
                      <a:endParaRPr lang="es-MX" sz="1200" kern="100">
                        <a:effectLst/>
                        <a:latin typeface="+mn-lt"/>
                        <a:ea typeface="Calibri" panose="020F0502020204030204" pitchFamily="34" charset="0"/>
                        <a:cs typeface="Times New Roman" panose="02020603050405020304" pitchFamily="18" charset="0"/>
                      </a:endParaRPr>
                    </a:p>
                  </a:txBody>
                  <a:tcPr marL="46839" marR="468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s-MX" sz="1000" b="1" kern="100">
                          <a:effectLst/>
                          <a:latin typeface="Aptos" panose="020B0004020202020204" pitchFamily="34" charset="0"/>
                          <a:ea typeface="Calibri" panose="020F0502020204030204" pitchFamily="34" charset="0"/>
                          <a:cs typeface="Times New Roman" panose="02020603050405020304" pitchFamily="18" charset="0"/>
                        </a:rPr>
                        <a:t>recursos</a:t>
                      </a:r>
                      <a:endParaRPr lang="es-MX"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46839" marR="468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78404060"/>
                  </a:ext>
                </a:extLst>
              </a:tr>
              <a:tr h="4426935">
                <a:tc>
                  <a:txBody>
                    <a:bodyPr/>
                    <a:lstStyle/>
                    <a:p>
                      <a:pPr>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Partir de la Realidad.</a:t>
                      </a:r>
                    </a:p>
                  </a:txBody>
                  <a:tcPr marL="46839" marR="468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342900" lvl="0" indent="-342900">
                        <a:lnSpc>
                          <a:spcPct val="100000"/>
                        </a:lnSpc>
                        <a:spcAft>
                          <a:spcPts val="10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Invitar a los alumnos(as) que todos  sentados en el piso formando un circulo dialoguemos a cerca del maíz, mediante las siguientes preguntas ¿conocen el maíz? ¿saben para qué se usa el maíz? ¿Quién lo prepara en su familia? ¿alguna vez han comido el maíz?, la docente registra las ideas de los alumnos en el pizarrón </a:t>
                      </a:r>
                    </a:p>
                    <a:p>
                      <a:pPr marL="342900" lvl="0" indent="-342900">
                        <a:lnSpc>
                          <a:spcPct val="100000"/>
                        </a:lnSpc>
                        <a:spcAft>
                          <a:spcPts val="10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Solicitar a los alumnos (as) que observen la lámina grande que contiene imágenes derivas del maíz como: tortilla, mazorcas, tamales. gorditas, atole, palomitas elote etc.</a:t>
                      </a:r>
                    </a:p>
                    <a:p>
                      <a:pPr marL="342900" lvl="0" indent="-342900">
                        <a:lnSpc>
                          <a:spcPct val="100000"/>
                        </a:lnSpc>
                        <a:spcAft>
                          <a:spcPts val="10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Solicitar a los alumnos que escuchen y observen muy atentos la proyección de la   leyenda del maíz en la cultura mexicana </a:t>
                      </a:r>
                      <a:r>
                        <a:rPr lang="es-MX" sz="1200" u="sng" kern="100" dirty="0">
                          <a:solidFill>
                            <a:srgbClr val="0563C1"/>
                          </a:solidFill>
                          <a:effectLst/>
                          <a:latin typeface="+mn-lt"/>
                          <a:ea typeface="Calibri" panose="020F0502020204030204" pitchFamily="34" charset="0"/>
                          <a:cs typeface="Times New Roman" panose="02020603050405020304" pitchFamily="18" charset="0"/>
                          <a:hlinkClick r:id="rId3"/>
                        </a:rPr>
                        <a:t>https://www.youtube.com/watch?v=Ual3MzX1RHk</a:t>
                      </a:r>
                      <a:r>
                        <a:rPr lang="es-MX" sz="1200" kern="100" dirty="0">
                          <a:effectLst/>
                          <a:latin typeface="+mn-lt"/>
                          <a:ea typeface="Calibri" panose="020F0502020204030204" pitchFamily="34" charset="0"/>
                          <a:cs typeface="Times New Roman" panose="02020603050405020304" pitchFamily="18" charset="0"/>
                        </a:rPr>
                        <a:t> ,al finalizar, la maestra invitara al grupo a dialogar a cerca del cuento  </a:t>
                      </a:r>
                    </a:p>
                    <a:p>
                      <a:pPr marL="342900" lvl="0" indent="-342900">
                        <a:lnSpc>
                          <a:spcPct val="100000"/>
                        </a:lnSpc>
                        <a:spcAft>
                          <a:spcPts val="10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Solicitar a los alumnos (as) que de forma ordenada pasaran a observar algunos objetos que se encuentran expuestos en un lugar del salón, al ir observando el (a) alumno ira mencionando el nombre del objeto que observa, lo conoce, lo ha visto o lo ha comido, cada alumno ira respondiendo de acuerdo con lo que observa.</a:t>
                      </a:r>
                    </a:p>
                    <a:p>
                      <a:pPr marL="342900" lvl="0" indent="-342900">
                        <a:lnSpc>
                          <a:spcPct val="100000"/>
                        </a:lnSpc>
                        <a:spcAft>
                          <a:spcPts val="10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Compartir con los alumnos (as) una lamina donde por medio de imágenes el alumno conozca que es el maíz y que necesita para crecer , posteriormente el en lluvia de ideas los alumnos expresaran sus ideas o inquietudes para conocer mas a cerca de los colores y sabores del maíz.</a:t>
                      </a:r>
                    </a:p>
                    <a:p>
                      <a:pPr marL="342900" lvl="0" indent="-342900">
                        <a:lnSpc>
                          <a:spcPct val="100000"/>
                        </a:lnSpc>
                        <a:spcAft>
                          <a:spcPts val="10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Dialogar con los alumnos (as) que les gusto a cerca de las actividades que se realizaron dentro del salón a cerca del maíz. </a:t>
                      </a:r>
                    </a:p>
                    <a:p>
                      <a:pPr marL="228600">
                        <a:lnSpc>
                          <a:spcPct val="100000"/>
                        </a:lnSpc>
                        <a:spcAft>
                          <a:spcPts val="1000"/>
                        </a:spcAft>
                        <a:buNone/>
                      </a:pPr>
                      <a:r>
                        <a:rPr lang="es-MX" sz="1200" kern="100" dirty="0">
                          <a:effectLst/>
                          <a:latin typeface="+mn-lt"/>
                          <a:ea typeface="Calibri" panose="020F0502020204030204" pitchFamily="34" charset="0"/>
                          <a:cs typeface="Times New Roman" panose="02020603050405020304" pitchFamily="18" charset="0"/>
                        </a:rPr>
                        <a:t>Ahora que ya conocen algunos derivados del maíz, en casita realizar un dibujo en la libreta de trabajo de algún producto que se consuma en familia e investigar su nombre en lengua materna (</a:t>
                      </a:r>
                      <a:r>
                        <a:rPr lang="es-MX" sz="1200" kern="100" dirty="0" err="1">
                          <a:effectLst/>
                          <a:latin typeface="+mn-lt"/>
                          <a:ea typeface="Calibri" panose="020F0502020204030204" pitchFamily="34" charset="0"/>
                          <a:cs typeface="Times New Roman" panose="02020603050405020304" pitchFamily="18" charset="0"/>
                        </a:rPr>
                        <a:t>nahuatl</a:t>
                      </a:r>
                      <a:r>
                        <a:rPr lang="es-MX" sz="1200" kern="100" dirty="0">
                          <a:effectLst/>
                          <a:latin typeface="+mn-lt"/>
                          <a:ea typeface="Calibri" panose="020F0502020204030204" pitchFamily="34" charset="0"/>
                          <a:cs typeface="Times New Roman" panose="02020603050405020304" pitchFamily="18" charset="0"/>
                        </a:rPr>
                        <a:t>)</a:t>
                      </a:r>
                    </a:p>
                  </a:txBody>
                  <a:tcPr marL="46839" marR="468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s-MX" sz="800" kern="100" dirty="0">
                          <a:effectLst/>
                          <a:latin typeface="Aptos" panose="020B0004020202020204" pitchFamily="34" charset="0"/>
                          <a:ea typeface="Calibri" panose="020F0502020204030204" pitchFamily="34" charset="0"/>
                          <a:cs typeface="Times New Roman" panose="02020603050405020304" pitchFamily="18" charset="0"/>
                        </a:rPr>
                        <a:t> </a:t>
                      </a:r>
                      <a:endParaRPr lang="es-MX" sz="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Lamina</a:t>
                      </a:r>
                    </a:p>
                    <a:p>
                      <a:pPr>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Imágenes</a:t>
                      </a:r>
                    </a:p>
                    <a:p>
                      <a:pPr>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Proyector</a:t>
                      </a:r>
                    </a:p>
                    <a:p>
                      <a:pPr>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Objetos</a:t>
                      </a:r>
                    </a:p>
                    <a:p>
                      <a:pPr>
                        <a:lnSpc>
                          <a:spcPct val="107000"/>
                        </a:lnSpc>
                        <a:spcAft>
                          <a:spcPts val="800"/>
                        </a:spcAft>
                        <a:buNone/>
                      </a:pPr>
                      <a:r>
                        <a:rPr lang="es-MX" sz="800" kern="100" dirty="0">
                          <a:effectLst/>
                          <a:latin typeface="Aptos" panose="020B0004020202020204" pitchFamily="34" charset="0"/>
                          <a:ea typeface="Calibri" panose="020F0502020204030204" pitchFamily="34" charset="0"/>
                          <a:cs typeface="Times New Roman" panose="02020603050405020304" pitchFamily="18" charset="0"/>
                        </a:rPr>
                        <a:t> </a:t>
                      </a:r>
                      <a:endParaRPr lang="es-MX" sz="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s-MX" sz="800" kern="100" dirty="0">
                          <a:effectLst/>
                          <a:latin typeface="Aptos" panose="020B0004020202020204" pitchFamily="34" charset="0"/>
                          <a:ea typeface="Calibri" panose="020F0502020204030204" pitchFamily="34" charset="0"/>
                          <a:cs typeface="Times New Roman" panose="02020603050405020304" pitchFamily="18" charset="0"/>
                        </a:rPr>
                        <a:t> </a:t>
                      </a:r>
                      <a:endParaRPr lang="es-MX"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6839" marR="468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87608517"/>
                  </a:ext>
                </a:extLst>
              </a:tr>
              <a:tr h="474465">
                <a:tc>
                  <a:txBody>
                    <a:bodyPr/>
                    <a:lstStyle/>
                    <a:p>
                      <a:pPr>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Marcos de </a:t>
                      </a:r>
                      <a:r>
                        <a:rPr lang="es-MX" sz="1200" kern="100" dirty="0" err="1">
                          <a:effectLst/>
                          <a:latin typeface="+mn-lt"/>
                          <a:ea typeface="Calibri" panose="020F0502020204030204" pitchFamily="34" charset="0"/>
                          <a:cs typeface="Times New Roman" panose="02020603050405020304" pitchFamily="18" charset="0"/>
                        </a:rPr>
                        <a:t>oracion</a:t>
                      </a:r>
                      <a:endParaRPr lang="es-MX" sz="1200" kern="100" dirty="0">
                        <a:effectLst/>
                        <a:latin typeface="+mn-lt"/>
                        <a:ea typeface="Calibri" panose="020F0502020204030204" pitchFamily="34" charset="0"/>
                        <a:cs typeface="Times New Roman" panose="02020603050405020304" pitchFamily="18" charset="0"/>
                      </a:endParaRPr>
                    </a:p>
                  </a:txBody>
                  <a:tcPr marL="46839" marR="468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El </a:t>
                      </a:r>
                      <a:r>
                        <a:rPr lang="es-MX" sz="1200" kern="100" dirty="0" err="1">
                          <a:effectLst/>
                          <a:latin typeface="+mn-lt"/>
                          <a:ea typeface="Calibri" panose="020F0502020204030204" pitchFamily="34" charset="0"/>
                          <a:cs typeface="Times New Roman" panose="02020603050405020304" pitchFamily="18" charset="0"/>
                        </a:rPr>
                        <a:t>maiz</a:t>
                      </a:r>
                      <a:r>
                        <a:rPr lang="es-MX" sz="1200" kern="100" dirty="0">
                          <a:effectLst/>
                          <a:latin typeface="+mn-lt"/>
                          <a:ea typeface="Calibri" panose="020F0502020204030204" pitchFamily="34" charset="0"/>
                          <a:cs typeface="Times New Roman" panose="02020603050405020304" pitchFamily="18" charset="0"/>
                        </a:rPr>
                        <a:t> es alimento          </a:t>
                      </a:r>
                      <a:r>
                        <a:rPr lang="es-MX" sz="1200" b="1" kern="100" dirty="0">
                          <a:effectLst/>
                          <a:latin typeface="+mn-lt"/>
                          <a:ea typeface="Calibri" panose="020F0502020204030204" pitchFamily="34" charset="0"/>
                          <a:cs typeface="Times New Roman" panose="02020603050405020304" pitchFamily="18" charset="0"/>
                        </a:rPr>
                        <a:t>in </a:t>
                      </a:r>
                      <a:r>
                        <a:rPr lang="es-MX" sz="1200" b="1" kern="100" dirty="0" err="1">
                          <a:effectLst/>
                          <a:latin typeface="+mn-lt"/>
                          <a:ea typeface="Calibri" panose="020F0502020204030204" pitchFamily="34" charset="0"/>
                          <a:cs typeface="Times New Roman" panose="02020603050405020304" pitchFamily="18" charset="0"/>
                        </a:rPr>
                        <a:t>taoli</a:t>
                      </a:r>
                      <a:r>
                        <a:rPr lang="es-MX" sz="1200" b="1" kern="100" dirty="0">
                          <a:effectLst/>
                          <a:latin typeface="+mn-lt"/>
                          <a:ea typeface="Calibri" panose="020F0502020204030204" pitchFamily="34" charset="0"/>
                          <a:cs typeface="Times New Roman" panose="02020603050405020304" pitchFamily="18" charset="0"/>
                        </a:rPr>
                        <a:t> no </a:t>
                      </a:r>
                      <a:r>
                        <a:rPr lang="es-MX" sz="1200" b="1" kern="100" dirty="0" err="1">
                          <a:effectLst/>
                          <a:latin typeface="+mn-lt"/>
                          <a:ea typeface="Calibri" panose="020F0502020204030204" pitchFamily="34" charset="0"/>
                          <a:cs typeface="Times New Roman" panose="02020603050405020304" pitchFamily="18" charset="0"/>
                        </a:rPr>
                        <a:t>tonalcayotl</a:t>
                      </a:r>
                      <a:endParaRPr lang="es-MX" sz="1200" kern="100" dirty="0">
                        <a:effectLst/>
                        <a:latin typeface="+mn-lt"/>
                        <a:ea typeface="Calibri" panose="020F0502020204030204" pitchFamily="34" charset="0"/>
                        <a:cs typeface="Times New Roman" panose="02020603050405020304" pitchFamily="18" charset="0"/>
                      </a:endParaRPr>
                    </a:p>
                  </a:txBody>
                  <a:tcPr marL="46839" marR="468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s-MX" sz="800" kern="100" dirty="0">
                          <a:effectLst/>
                          <a:latin typeface="Calibri" panose="020F0502020204030204" pitchFamily="34" charset="0"/>
                          <a:ea typeface="Calibri" panose="020F0502020204030204" pitchFamily="34" charset="0"/>
                          <a:cs typeface="Times New Roman" panose="02020603050405020304" pitchFamily="18" charset="0"/>
                        </a:rPr>
                        <a:t> </a:t>
                      </a:r>
                    </a:p>
                  </a:txBody>
                  <a:tcPr marL="46839" marR="468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44579100"/>
                  </a:ext>
                </a:extLst>
              </a:tr>
            </a:tbl>
          </a:graphicData>
        </a:graphic>
      </p:graphicFrame>
    </p:spTree>
    <p:extLst>
      <p:ext uri="{BB962C8B-B14F-4D97-AF65-F5344CB8AC3E}">
        <p14:creationId xmlns:p14="http://schemas.microsoft.com/office/powerpoint/2010/main" val="9386453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4200C-49D5-9F0A-06C2-5A92DB91055F}"/>
            </a:ext>
          </a:extLst>
        </p:cNvPr>
        <p:cNvGrpSpPr/>
        <p:nvPr/>
      </p:nvGrpSpPr>
      <p:grpSpPr>
        <a:xfrm>
          <a:off x="0" y="0"/>
          <a:ext cx="0" cy="0"/>
          <a:chOff x="0" y="0"/>
          <a:chExt cx="0" cy="0"/>
        </a:xfrm>
      </p:grpSpPr>
      <p:graphicFrame>
        <p:nvGraphicFramePr>
          <p:cNvPr id="3" name="Tabla 2">
            <a:extLst>
              <a:ext uri="{FF2B5EF4-FFF2-40B4-BE49-F238E27FC236}">
                <a16:creationId xmlns:a16="http://schemas.microsoft.com/office/drawing/2014/main" id="{D868FC32-0B6C-5420-E9B7-36CA45D908DF}"/>
              </a:ext>
            </a:extLst>
          </p:cNvPr>
          <p:cNvGraphicFramePr>
            <a:graphicFrameLocks noGrp="1"/>
          </p:cNvGraphicFramePr>
          <p:nvPr>
            <p:extLst>
              <p:ext uri="{D42A27DB-BD31-4B8C-83A1-F6EECF244321}">
                <p14:modId xmlns:p14="http://schemas.microsoft.com/office/powerpoint/2010/main" val="2676760146"/>
              </p:ext>
            </p:extLst>
          </p:nvPr>
        </p:nvGraphicFramePr>
        <p:xfrm>
          <a:off x="334108" y="158262"/>
          <a:ext cx="11623430" cy="5874744"/>
        </p:xfrm>
        <a:graphic>
          <a:graphicData uri="http://schemas.openxmlformats.org/drawingml/2006/table">
            <a:tbl>
              <a:tblPr firstRow="1" firstCol="1" bandRow="1"/>
              <a:tblGrid>
                <a:gridCol w="2176349">
                  <a:extLst>
                    <a:ext uri="{9D8B030D-6E8A-4147-A177-3AD203B41FA5}">
                      <a16:colId xmlns:a16="http://schemas.microsoft.com/office/drawing/2014/main" val="3621543732"/>
                    </a:ext>
                  </a:extLst>
                </a:gridCol>
                <a:gridCol w="7820483">
                  <a:extLst>
                    <a:ext uri="{9D8B030D-6E8A-4147-A177-3AD203B41FA5}">
                      <a16:colId xmlns:a16="http://schemas.microsoft.com/office/drawing/2014/main" val="2497066873"/>
                    </a:ext>
                  </a:extLst>
                </a:gridCol>
                <a:gridCol w="1626598">
                  <a:extLst>
                    <a:ext uri="{9D8B030D-6E8A-4147-A177-3AD203B41FA5}">
                      <a16:colId xmlns:a16="http://schemas.microsoft.com/office/drawing/2014/main" val="3218100809"/>
                    </a:ext>
                  </a:extLst>
                </a:gridCol>
              </a:tblGrid>
              <a:tr h="1282912">
                <a:tc gridSpan="3">
                  <a:txBody>
                    <a:bodyPr/>
                    <a:lstStyle/>
                    <a:p>
                      <a:pPr algn="l">
                        <a:lnSpc>
                          <a:spcPct val="107000"/>
                        </a:lnSpc>
                        <a:spcAft>
                          <a:spcPts val="800"/>
                        </a:spcAft>
                        <a:buNone/>
                      </a:pPr>
                      <a:r>
                        <a:rPr lang="es-MX" sz="1200" b="1" kern="100" dirty="0">
                          <a:solidFill>
                            <a:srgbClr val="2E74B5"/>
                          </a:solidFill>
                          <a:effectLst/>
                          <a:latin typeface="+mn-lt"/>
                          <a:ea typeface="Calibri" panose="020F0502020204030204" pitchFamily="34" charset="0"/>
                          <a:cs typeface="Times New Roman" panose="02020603050405020304" pitchFamily="18" charset="0"/>
                        </a:rPr>
                        <a:t>                                                                                                                                                                           </a:t>
                      </a:r>
                      <a:r>
                        <a:rPr lang="es-MX" sz="1200" kern="100" dirty="0">
                          <a:solidFill>
                            <a:srgbClr val="0070C0"/>
                          </a:solidFill>
                          <a:effectLst/>
                          <a:latin typeface="+mn-lt"/>
                          <a:ea typeface="Calibri" panose="020F0502020204030204" pitchFamily="34" charset="0"/>
                          <a:cs typeface="Times New Roman" panose="02020603050405020304" pitchFamily="18" charset="0"/>
                        </a:rPr>
                        <a:t>   sesión          </a:t>
                      </a:r>
                      <a:r>
                        <a:rPr lang="es-MX" sz="1200" kern="100" dirty="0">
                          <a:effectLst/>
                          <a:latin typeface="+mn-lt"/>
                          <a:ea typeface="Calibri" panose="020F0502020204030204" pitchFamily="34" charset="0"/>
                          <a:cs typeface="Times New Roman" panose="02020603050405020304" pitchFamily="18" charset="0"/>
                        </a:rPr>
                        <a:t>2</a:t>
                      </a:r>
                    </a:p>
                    <a:p>
                      <a:pPr algn="ctr">
                        <a:lnSpc>
                          <a:spcPct val="100000"/>
                        </a:lnSpc>
                        <a:spcAft>
                          <a:spcPts val="800"/>
                        </a:spcAft>
                        <a:buNone/>
                      </a:pPr>
                      <a:r>
                        <a:rPr lang="es-MX" sz="1200" b="1" kern="100" dirty="0">
                          <a:solidFill>
                            <a:srgbClr val="2E74B5"/>
                          </a:solidFill>
                          <a:effectLst/>
                          <a:latin typeface="+mn-lt"/>
                          <a:ea typeface="Calibri" panose="020F0502020204030204" pitchFamily="34" charset="0"/>
                          <a:cs typeface="Times New Roman" panose="02020603050405020304" pitchFamily="18" charset="0"/>
                        </a:rPr>
                        <a:t>                       Fecha:       </a:t>
                      </a:r>
                      <a:r>
                        <a:rPr lang="es-MX" sz="1200" b="1" kern="100" dirty="0">
                          <a:solidFill>
                            <a:srgbClr val="000000"/>
                          </a:solidFill>
                          <a:effectLst/>
                          <a:latin typeface="+mn-lt"/>
                          <a:ea typeface="Calibri" panose="020F0502020204030204" pitchFamily="34" charset="0"/>
                          <a:cs typeface="Times New Roman" panose="02020603050405020304" pitchFamily="18" charset="0"/>
                        </a:rPr>
                        <a:t>Martes 13 </a:t>
                      </a:r>
                      <a:r>
                        <a:rPr lang="es-MX" sz="1200" b="1" kern="100" dirty="0">
                          <a:effectLst/>
                          <a:latin typeface="+mn-lt"/>
                          <a:ea typeface="Calibri" panose="020F0502020204030204" pitchFamily="34" charset="0"/>
                          <a:cs typeface="Times New Roman" panose="02020603050405020304" pitchFamily="18" charset="0"/>
                        </a:rPr>
                        <a:t>de enero de 2026</a:t>
                      </a:r>
                      <a:endParaRPr lang="es-MX" sz="1200" kern="100" dirty="0">
                        <a:effectLst/>
                        <a:latin typeface="+mn-lt"/>
                        <a:ea typeface="Calibri" panose="020F0502020204030204" pitchFamily="34" charset="0"/>
                        <a:cs typeface="Times New Roman" panose="02020603050405020304" pitchFamily="18" charset="0"/>
                      </a:endParaRPr>
                    </a:p>
                    <a:p>
                      <a:pPr algn="ctr">
                        <a:lnSpc>
                          <a:spcPct val="100000"/>
                        </a:lnSpc>
                        <a:spcAft>
                          <a:spcPts val="800"/>
                        </a:spcAft>
                        <a:buNone/>
                      </a:pPr>
                      <a:r>
                        <a:rPr lang="es-MX" sz="1200" b="1" kern="100" dirty="0">
                          <a:solidFill>
                            <a:srgbClr val="2E74B5"/>
                          </a:solidFill>
                          <a:effectLst/>
                          <a:latin typeface="+mn-lt"/>
                          <a:ea typeface="Calibri" panose="020F0502020204030204" pitchFamily="34" charset="0"/>
                          <a:cs typeface="Times New Roman" panose="02020603050405020304" pitchFamily="18" charset="0"/>
                        </a:rPr>
                        <a:t>         Subtema:   </a:t>
                      </a:r>
                      <a:r>
                        <a:rPr lang="es-MX" sz="1200" b="1" kern="100" dirty="0">
                          <a:effectLst/>
                          <a:latin typeface="+mn-lt"/>
                          <a:ea typeface="Calibri" panose="020F0502020204030204" pitchFamily="34" charset="0"/>
                          <a:cs typeface="Times New Roman" panose="02020603050405020304" pitchFamily="18" charset="0"/>
                        </a:rPr>
                        <a:t>El maíz en mi comunidad</a:t>
                      </a:r>
                      <a:endParaRPr lang="es-MX" sz="1200" kern="100" dirty="0">
                        <a:effectLst/>
                        <a:latin typeface="+mn-lt"/>
                        <a:ea typeface="Calibri" panose="020F0502020204030204" pitchFamily="34" charset="0"/>
                        <a:cs typeface="Times New Roman" panose="02020603050405020304" pitchFamily="18" charset="0"/>
                      </a:endParaRPr>
                    </a:p>
                    <a:p>
                      <a:pPr algn="ctr">
                        <a:lnSpc>
                          <a:spcPct val="100000"/>
                        </a:lnSpc>
                        <a:spcAft>
                          <a:spcPts val="1000"/>
                        </a:spcAft>
                        <a:buNone/>
                      </a:pPr>
                      <a:r>
                        <a:rPr lang="es-MX" sz="1200" b="1" kern="100" dirty="0">
                          <a:solidFill>
                            <a:srgbClr val="2E74B5"/>
                          </a:solidFill>
                          <a:effectLst/>
                          <a:latin typeface="+mn-lt"/>
                          <a:ea typeface="Calibri" panose="020F0502020204030204" pitchFamily="34" charset="0"/>
                          <a:cs typeface="Times New Roman" panose="02020603050405020304" pitchFamily="18" charset="0"/>
                        </a:rPr>
                        <a:t>                                     Actividad:</a:t>
                      </a:r>
                      <a:r>
                        <a:rPr lang="es-MX" sz="1200" b="1" kern="100" dirty="0">
                          <a:effectLst/>
                          <a:latin typeface="+mn-lt"/>
                          <a:ea typeface="Calibri" panose="020F0502020204030204" pitchFamily="34" charset="0"/>
                          <a:cs typeface="Times New Roman" panose="02020603050405020304" pitchFamily="18" charset="0"/>
                        </a:rPr>
                        <a:t>   ¿ Conocemos los colores del maíz?</a:t>
                      </a:r>
                      <a:endParaRPr lang="es-MX" sz="1200" kern="100" dirty="0">
                        <a:effectLst/>
                        <a:latin typeface="+mn-lt"/>
                        <a:ea typeface="Calibri" panose="020F0502020204030204" pitchFamily="34" charset="0"/>
                        <a:cs typeface="Times New Roman" panose="02020603050405020304" pitchFamily="18" charset="0"/>
                      </a:endParaRPr>
                    </a:p>
                  </a:txBody>
                  <a:tcPr marL="48115" marR="481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s-MX"/>
                    </a:p>
                  </a:txBody>
                  <a:tcPr/>
                </a:tc>
                <a:tc hMerge="1">
                  <a:txBody>
                    <a:bodyPr/>
                    <a:lstStyle/>
                    <a:p>
                      <a:endParaRPr lang="es-MX"/>
                    </a:p>
                  </a:txBody>
                  <a:tcPr/>
                </a:tc>
                <a:extLst>
                  <a:ext uri="{0D108BD9-81ED-4DB2-BD59-A6C34878D82A}">
                    <a16:rowId xmlns:a16="http://schemas.microsoft.com/office/drawing/2014/main" val="608884843"/>
                  </a:ext>
                </a:extLst>
              </a:tr>
              <a:tr h="203533">
                <a:tc>
                  <a:txBody>
                    <a:bodyPr/>
                    <a:lstStyle/>
                    <a:p>
                      <a:pPr algn="l">
                        <a:lnSpc>
                          <a:spcPct val="107000"/>
                        </a:lnSpc>
                        <a:spcAft>
                          <a:spcPts val="800"/>
                        </a:spcAft>
                        <a:buNone/>
                      </a:pPr>
                      <a:r>
                        <a:rPr lang="es-MX" sz="1200" b="1" kern="100" dirty="0">
                          <a:effectLst/>
                          <a:latin typeface="+mn-lt"/>
                          <a:ea typeface="Calibri" panose="020F0502020204030204" pitchFamily="34" charset="0"/>
                          <a:cs typeface="Times New Roman" panose="02020603050405020304" pitchFamily="18" charset="0"/>
                        </a:rPr>
                        <a:t>Momento</a:t>
                      </a:r>
                    </a:p>
                  </a:txBody>
                  <a:tcPr marL="48115" marR="481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1200" b="1" kern="100" dirty="0">
                          <a:effectLst/>
                          <a:latin typeface="+mn-lt"/>
                          <a:ea typeface="Calibri" panose="020F0502020204030204" pitchFamily="34" charset="0"/>
                          <a:cs typeface="Times New Roman" panose="02020603050405020304" pitchFamily="18" charset="0"/>
                        </a:rPr>
                        <a:t>                                                               Actividades</a:t>
                      </a:r>
                      <a:endParaRPr lang="es-MX" sz="1200" kern="100" dirty="0">
                        <a:effectLst/>
                        <a:latin typeface="+mn-lt"/>
                        <a:ea typeface="Calibri" panose="020F0502020204030204" pitchFamily="34" charset="0"/>
                        <a:cs typeface="Times New Roman" panose="02020603050405020304" pitchFamily="18" charset="0"/>
                      </a:endParaRPr>
                    </a:p>
                  </a:txBody>
                  <a:tcPr marL="48115" marR="481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1000" b="1" kern="100" dirty="0">
                          <a:effectLst/>
                          <a:latin typeface="Aptos" panose="020B0004020202020204" pitchFamily="34" charset="0"/>
                          <a:ea typeface="Calibri" panose="020F0502020204030204" pitchFamily="34" charset="0"/>
                          <a:cs typeface="Times New Roman" panose="02020603050405020304" pitchFamily="18" charset="0"/>
                        </a:rPr>
                        <a:t>recursos</a:t>
                      </a:r>
                      <a:endParaRPr lang="es-MX"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8115" marR="481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30982186"/>
                  </a:ext>
                </a:extLst>
              </a:tr>
              <a:tr h="3864558">
                <a:tc>
                  <a:txBody>
                    <a:bodyPr/>
                    <a:lstStyle/>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Analizar y Reflexionar</a:t>
                      </a:r>
                    </a:p>
                  </a:txBody>
                  <a:tcPr marL="48115" marR="481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342900" lvl="0" indent="-342900" algn="l">
                        <a:lnSpc>
                          <a:spcPct val="115000"/>
                        </a:lnSpc>
                        <a:spcAft>
                          <a:spcPts val="800"/>
                        </a:spcAft>
                        <a:buSzPts val="1000"/>
                        <a:buFont typeface="Wingdings" panose="05000000000000000000" pitchFamily="2" charset="2"/>
                        <a:buChar char=""/>
                        <a:tabLst>
                          <a:tab pos="228600" algn="l"/>
                        </a:tabLst>
                      </a:pPr>
                      <a:r>
                        <a:rPr lang="es-MX" sz="1200" kern="100" dirty="0">
                          <a:effectLst/>
                          <a:latin typeface="+mn-lt"/>
                          <a:ea typeface="Calibri" panose="020F0502020204030204" pitchFamily="34" charset="0"/>
                          <a:cs typeface="Times New Roman" panose="02020603050405020304" pitchFamily="18" charset="0"/>
                        </a:rPr>
                        <a:t>Dialogar con los alumnos a cerca del maíz, Preguntar a los niños ¿qué saben del maíz? ¿alguna vez lo han visto? ¿dónde?  ¿Saben quién lo ocupa? y qué alimentos conocen que se hacen con él (tortillas, elotes, palomitas).  Los alumnos aportan sus conocimientos y la docente registra las aportaciones </a:t>
                      </a:r>
                    </a:p>
                    <a:p>
                      <a:pPr marL="342900" lvl="0" indent="-342900" algn="l">
                        <a:lnSpc>
                          <a:spcPct val="115000"/>
                        </a:lnSpc>
                        <a:spcAft>
                          <a:spcPts val="800"/>
                        </a:spcAft>
                        <a:buSzPts val="1000"/>
                        <a:buFont typeface="Wingdings" panose="05000000000000000000" pitchFamily="2" charset="2"/>
                        <a:buChar char=""/>
                        <a:tabLst>
                          <a:tab pos="228600" algn="l"/>
                        </a:tabLst>
                      </a:pPr>
                      <a:r>
                        <a:rPr lang="es-MX" sz="1200" kern="100" dirty="0">
                          <a:effectLst/>
                          <a:latin typeface="+mn-lt"/>
                          <a:ea typeface="Calibri" panose="020F0502020204030204" pitchFamily="34" charset="0"/>
                          <a:cs typeface="Times New Roman" panose="02020603050405020304" pitchFamily="18" charset="0"/>
                        </a:rPr>
                        <a:t>Entrega a los alumnos (as) mazorcas de diferentes tipos para que las toquen, huelan, vean sus colores y describan sus partes (granos, hojas, elote y colores blanco, amarillo, azul).los alumnos compartirán con sus compañeros, la sensación que sintieron al tocar, oler y observar el tamaño, las formas y la textura que tienen</a:t>
                      </a:r>
                    </a:p>
                    <a:p>
                      <a:pPr marL="342900" lvl="0" indent="-342900" algn="l">
                        <a:lnSpc>
                          <a:spcPct val="115000"/>
                        </a:lnSpc>
                        <a:spcAft>
                          <a:spcPts val="800"/>
                        </a:spcAft>
                        <a:buSzPts val="1000"/>
                        <a:buFont typeface="Wingdings" panose="05000000000000000000" pitchFamily="2" charset="2"/>
                        <a:buChar char=""/>
                        <a:tabLst>
                          <a:tab pos="228600" algn="l"/>
                        </a:tabLst>
                      </a:pPr>
                      <a:r>
                        <a:rPr lang="es-MX" sz="1200" kern="100" dirty="0">
                          <a:effectLst/>
                          <a:latin typeface="+mn-lt"/>
                          <a:ea typeface="Calibri" panose="020F0502020204030204" pitchFamily="34" charset="0"/>
                          <a:cs typeface="Times New Roman" panose="02020603050405020304" pitchFamily="18" charset="0"/>
                        </a:rPr>
                        <a:t>Entregar a los alumnos tarjetas y maíz de diferentes colores y la docente solicitar que separen el maíz y lo asocien con la tarjeta que corresponde </a:t>
                      </a:r>
                    </a:p>
                    <a:p>
                      <a:pPr marL="342900" lvl="0" indent="-342900" algn="l">
                        <a:lnSpc>
                          <a:spcPct val="115000"/>
                        </a:lnSpc>
                        <a:spcAft>
                          <a:spcPts val="800"/>
                        </a:spcAft>
                        <a:buSzPts val="1000"/>
                        <a:buFont typeface="Wingdings" panose="05000000000000000000" pitchFamily="2" charset="2"/>
                        <a:buChar char=""/>
                        <a:tabLst>
                          <a:tab pos="228600" algn="l"/>
                        </a:tabLst>
                      </a:pPr>
                      <a:r>
                        <a:rPr lang="es-MX" sz="1200" kern="100" dirty="0">
                          <a:effectLst/>
                          <a:latin typeface="+mn-lt"/>
                          <a:ea typeface="Calibri" panose="020F0502020204030204" pitchFamily="34" charset="0"/>
                          <a:cs typeface="Times New Roman" panose="02020603050405020304" pitchFamily="18" charset="0"/>
                        </a:rPr>
                        <a:t>Solicitar a los alumnos (as) que dentro del aula realicen una descripción a cerca de la mazorca o el maíz utilizando su propio lenguaje de lo que observan y tocan. </a:t>
                      </a:r>
                    </a:p>
                    <a:p>
                      <a:pPr marL="342900" lvl="0" indent="-342900" algn="l">
                        <a:lnSpc>
                          <a:spcPct val="115000"/>
                        </a:lnSpc>
                        <a:spcAft>
                          <a:spcPts val="800"/>
                        </a:spcAft>
                        <a:buSzPts val="1000"/>
                        <a:buFont typeface="Wingdings" panose="05000000000000000000" pitchFamily="2" charset="2"/>
                        <a:buChar char=""/>
                        <a:tabLst>
                          <a:tab pos="228600" algn="l"/>
                        </a:tabLst>
                      </a:pPr>
                      <a:r>
                        <a:rPr lang="es-MX" sz="1200" kern="100" dirty="0">
                          <a:effectLst/>
                          <a:latin typeface="+mn-lt"/>
                          <a:ea typeface="Calibri" panose="020F0502020204030204" pitchFamily="34" charset="0"/>
                          <a:cs typeface="Times New Roman" panose="02020603050405020304" pitchFamily="18" charset="0"/>
                        </a:rPr>
                        <a:t>De manera grupal proporcionar a los alumnos diferentes imágenes de elementos y beneficios del maíz y entre todos realizaremos un mural para que durante todo el proyecto se tendrá expuesto dentro del salón </a:t>
                      </a:r>
                    </a:p>
                    <a:p>
                      <a:pPr marL="342900" lvl="0" indent="-342900" algn="l">
                        <a:lnSpc>
                          <a:spcPct val="115000"/>
                        </a:lnSpc>
                        <a:spcAft>
                          <a:spcPts val="800"/>
                        </a:spcAft>
                        <a:buSzPts val="1000"/>
                        <a:buFont typeface="Wingdings" panose="05000000000000000000" pitchFamily="2" charset="2"/>
                        <a:buChar char=""/>
                        <a:tabLst>
                          <a:tab pos="228600" algn="l"/>
                        </a:tabLst>
                      </a:pPr>
                      <a:r>
                        <a:rPr lang="es-MX" sz="1200" kern="100" dirty="0">
                          <a:effectLst/>
                          <a:latin typeface="+mn-lt"/>
                          <a:ea typeface="Calibri" panose="020F0502020204030204" pitchFamily="34" charset="0"/>
                          <a:cs typeface="Times New Roman" panose="02020603050405020304" pitchFamily="18" charset="0"/>
                        </a:rPr>
                        <a:t>TAREA: en casita realizar una investigación mas afondo a cerca de todos los beneficios que tiene el maíz y en una cartulina plasmar las ideas principales por medio de imágenes, mismas que compartirán con sus compañeros </a:t>
                      </a:r>
                    </a:p>
                  </a:txBody>
                  <a:tcPr marL="48115" marR="481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800" kern="100" dirty="0">
                          <a:effectLst/>
                          <a:latin typeface="Calibri" panose="020F0502020204030204" pitchFamily="34" charset="0"/>
                          <a:ea typeface="Calibri" panose="020F0502020204030204" pitchFamily="34" charset="0"/>
                          <a:cs typeface="Times New Roman" panose="02020603050405020304" pitchFamily="18" charset="0"/>
                        </a:rPr>
                        <a:t> </a:t>
                      </a:r>
                    </a:p>
                    <a:p>
                      <a:pPr algn="l">
                        <a:lnSpc>
                          <a:spcPct val="107000"/>
                        </a:lnSpc>
                        <a:spcAft>
                          <a:spcPts val="800"/>
                        </a:spcAft>
                        <a:buNone/>
                      </a:pPr>
                      <a:endParaRPr lang="es-MX" sz="1200" kern="100" dirty="0">
                        <a:effectLst/>
                        <a:latin typeface="+mn-lt"/>
                        <a:ea typeface="Calibri" panose="020F0502020204030204" pitchFamily="34" charset="0"/>
                        <a:cs typeface="Times New Roman" panose="02020603050405020304" pitchFamily="18" charset="0"/>
                      </a:endParaRP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Imágenes</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Tarjetas</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Papel</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Marcadores</a:t>
                      </a:r>
                    </a:p>
                    <a:p>
                      <a:pPr algn="l">
                        <a:lnSpc>
                          <a:spcPct val="107000"/>
                        </a:lnSpc>
                        <a:spcAft>
                          <a:spcPts val="800"/>
                        </a:spcAft>
                        <a:buNone/>
                      </a:pPr>
                      <a:endParaRPr lang="es-MX" sz="1200" kern="100" dirty="0">
                        <a:effectLst/>
                        <a:latin typeface="+mn-lt"/>
                        <a:ea typeface="Calibri" panose="020F0502020204030204" pitchFamily="34" charset="0"/>
                        <a:cs typeface="Times New Roman" panose="02020603050405020304" pitchFamily="18" charset="0"/>
                      </a:endParaRPr>
                    </a:p>
                  </a:txBody>
                  <a:tcPr marL="48115" marR="481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85255854"/>
                  </a:ext>
                </a:extLst>
              </a:tr>
              <a:tr h="523741">
                <a:tc>
                  <a:txBody>
                    <a:bodyPr/>
                    <a:lstStyle/>
                    <a:p>
                      <a:pPr algn="l">
                        <a:lnSpc>
                          <a:spcPct val="107000"/>
                        </a:lnSpc>
                        <a:spcAft>
                          <a:spcPts val="800"/>
                        </a:spcAft>
                        <a:buNone/>
                      </a:pPr>
                      <a:r>
                        <a:rPr lang="es-MX" sz="1200" kern="100">
                          <a:effectLst/>
                          <a:latin typeface="+mn-lt"/>
                          <a:ea typeface="Calibri" panose="020F0502020204030204" pitchFamily="34" charset="0"/>
                          <a:cs typeface="Times New Roman" panose="02020603050405020304" pitchFamily="18" charset="0"/>
                        </a:rPr>
                        <a:t>Marcos de oracion</a:t>
                      </a:r>
                    </a:p>
                  </a:txBody>
                  <a:tcPr marL="48115" marR="481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El </a:t>
                      </a:r>
                      <a:r>
                        <a:rPr lang="es-MX" sz="1200" kern="100" dirty="0" err="1">
                          <a:effectLst/>
                          <a:latin typeface="+mn-lt"/>
                          <a:ea typeface="Calibri" panose="020F0502020204030204" pitchFamily="34" charset="0"/>
                          <a:cs typeface="Times New Roman" panose="02020603050405020304" pitchFamily="18" charset="0"/>
                        </a:rPr>
                        <a:t>maiz</a:t>
                      </a:r>
                      <a:r>
                        <a:rPr lang="es-MX" sz="1200" kern="100" dirty="0">
                          <a:effectLst/>
                          <a:latin typeface="+mn-lt"/>
                          <a:ea typeface="Calibri" panose="020F0502020204030204" pitchFamily="34" charset="0"/>
                          <a:cs typeface="Times New Roman" panose="02020603050405020304" pitchFamily="18" charset="0"/>
                        </a:rPr>
                        <a:t> es alimento          </a:t>
                      </a:r>
                      <a:r>
                        <a:rPr lang="es-MX" sz="1200" b="1" kern="100" dirty="0">
                          <a:effectLst/>
                          <a:latin typeface="+mn-lt"/>
                          <a:ea typeface="Calibri" panose="020F0502020204030204" pitchFamily="34" charset="0"/>
                          <a:cs typeface="Times New Roman" panose="02020603050405020304" pitchFamily="18" charset="0"/>
                        </a:rPr>
                        <a:t>in </a:t>
                      </a:r>
                      <a:r>
                        <a:rPr lang="es-MX" sz="1200" b="1" kern="100" dirty="0" err="1">
                          <a:effectLst/>
                          <a:latin typeface="+mn-lt"/>
                          <a:ea typeface="Calibri" panose="020F0502020204030204" pitchFamily="34" charset="0"/>
                          <a:cs typeface="Times New Roman" panose="02020603050405020304" pitchFamily="18" charset="0"/>
                        </a:rPr>
                        <a:t>taoli</a:t>
                      </a:r>
                      <a:r>
                        <a:rPr lang="es-MX" sz="1200" b="1" kern="100" dirty="0">
                          <a:effectLst/>
                          <a:latin typeface="+mn-lt"/>
                          <a:ea typeface="Calibri" panose="020F0502020204030204" pitchFamily="34" charset="0"/>
                          <a:cs typeface="Times New Roman" panose="02020603050405020304" pitchFamily="18" charset="0"/>
                        </a:rPr>
                        <a:t> no </a:t>
                      </a:r>
                      <a:r>
                        <a:rPr lang="es-MX" sz="1200" b="1" kern="100" dirty="0" err="1">
                          <a:effectLst/>
                          <a:latin typeface="+mn-lt"/>
                          <a:ea typeface="Calibri" panose="020F0502020204030204" pitchFamily="34" charset="0"/>
                          <a:cs typeface="Times New Roman" panose="02020603050405020304" pitchFamily="18" charset="0"/>
                        </a:rPr>
                        <a:t>tonalcayotl</a:t>
                      </a:r>
                      <a:endParaRPr lang="es-MX" sz="1200" kern="100" dirty="0">
                        <a:effectLst/>
                        <a:latin typeface="+mn-lt"/>
                        <a:ea typeface="Calibri" panose="020F0502020204030204" pitchFamily="34" charset="0"/>
                        <a:cs typeface="Times New Roman" panose="02020603050405020304" pitchFamily="18" charset="0"/>
                      </a:endParaRP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El maíz es blanco              </a:t>
                      </a:r>
                      <a:r>
                        <a:rPr lang="es-MX" sz="1200" kern="100" dirty="0" err="1">
                          <a:effectLst/>
                          <a:latin typeface="+mn-lt"/>
                          <a:ea typeface="Calibri" panose="020F0502020204030204" pitchFamily="34" charset="0"/>
                          <a:cs typeface="Times New Roman" panose="02020603050405020304" pitchFamily="18" charset="0"/>
                        </a:rPr>
                        <a:t>iun</a:t>
                      </a:r>
                      <a:r>
                        <a:rPr lang="es-MX" sz="1200" kern="100" dirty="0">
                          <a:effectLst/>
                          <a:latin typeface="+mn-lt"/>
                          <a:ea typeface="Calibri" panose="020F0502020204030204" pitchFamily="34" charset="0"/>
                          <a:cs typeface="Times New Roman" panose="02020603050405020304" pitchFamily="18" charset="0"/>
                        </a:rPr>
                        <a:t> </a:t>
                      </a:r>
                      <a:r>
                        <a:rPr lang="es-MX" sz="1200" kern="100" dirty="0" err="1">
                          <a:effectLst/>
                          <a:latin typeface="+mn-lt"/>
                          <a:ea typeface="Calibri" panose="020F0502020204030204" pitchFamily="34" charset="0"/>
                          <a:cs typeface="Times New Roman" panose="02020603050405020304" pitchFamily="18" charset="0"/>
                        </a:rPr>
                        <a:t>tlaoli</a:t>
                      </a:r>
                      <a:r>
                        <a:rPr lang="es-MX" sz="1200" kern="100" dirty="0">
                          <a:effectLst/>
                          <a:latin typeface="+mn-lt"/>
                          <a:ea typeface="Calibri" panose="020F0502020204030204" pitchFamily="34" charset="0"/>
                          <a:cs typeface="Times New Roman" panose="02020603050405020304" pitchFamily="18" charset="0"/>
                        </a:rPr>
                        <a:t> </a:t>
                      </a:r>
                      <a:r>
                        <a:rPr lang="es-MX" sz="1200" kern="100" dirty="0" err="1">
                          <a:effectLst/>
                          <a:latin typeface="+mn-lt"/>
                          <a:ea typeface="Calibri" panose="020F0502020204030204" pitchFamily="34" charset="0"/>
                          <a:cs typeface="Times New Roman" panose="02020603050405020304" pitchFamily="18" charset="0"/>
                        </a:rPr>
                        <a:t>iztac</a:t>
                      </a:r>
                      <a:r>
                        <a:rPr lang="es-MX" sz="1200" kern="100" dirty="0">
                          <a:effectLst/>
                          <a:latin typeface="+mn-lt"/>
                          <a:ea typeface="Calibri" panose="020F0502020204030204" pitchFamily="34" charset="0"/>
                          <a:cs typeface="Times New Roman" panose="02020603050405020304" pitchFamily="18" charset="0"/>
                        </a:rPr>
                        <a:t> </a:t>
                      </a:r>
                    </a:p>
                  </a:txBody>
                  <a:tcPr marL="48115" marR="481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800" kern="100" dirty="0">
                          <a:effectLst/>
                          <a:latin typeface="Calibri" panose="020F0502020204030204" pitchFamily="34" charset="0"/>
                          <a:ea typeface="Calibri" panose="020F0502020204030204" pitchFamily="34" charset="0"/>
                          <a:cs typeface="Times New Roman" panose="02020603050405020304" pitchFamily="18" charset="0"/>
                        </a:rPr>
                        <a:t> </a:t>
                      </a:r>
                    </a:p>
                  </a:txBody>
                  <a:tcPr marL="48115" marR="481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12797095"/>
                  </a:ext>
                </a:extLst>
              </a:tr>
            </a:tbl>
          </a:graphicData>
        </a:graphic>
      </p:graphicFrame>
    </p:spTree>
    <p:extLst>
      <p:ext uri="{BB962C8B-B14F-4D97-AF65-F5344CB8AC3E}">
        <p14:creationId xmlns:p14="http://schemas.microsoft.com/office/powerpoint/2010/main" val="29177312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81734-B8AC-3BB5-3FAD-427122BF83D3}"/>
            </a:ext>
          </a:extLst>
        </p:cNvPr>
        <p:cNvGrpSpPr/>
        <p:nvPr/>
      </p:nvGrpSpPr>
      <p:grpSpPr>
        <a:xfrm>
          <a:off x="0" y="0"/>
          <a:ext cx="0" cy="0"/>
          <a:chOff x="0" y="0"/>
          <a:chExt cx="0" cy="0"/>
        </a:xfrm>
      </p:grpSpPr>
      <p:graphicFrame>
        <p:nvGraphicFramePr>
          <p:cNvPr id="2" name="Tabla 1">
            <a:extLst>
              <a:ext uri="{FF2B5EF4-FFF2-40B4-BE49-F238E27FC236}">
                <a16:creationId xmlns:a16="http://schemas.microsoft.com/office/drawing/2014/main" id="{F0D19D8A-54ED-2F4D-728C-6CF87629A1E7}"/>
              </a:ext>
            </a:extLst>
          </p:cNvPr>
          <p:cNvGraphicFramePr>
            <a:graphicFrameLocks noGrp="1"/>
          </p:cNvGraphicFramePr>
          <p:nvPr>
            <p:extLst>
              <p:ext uri="{D42A27DB-BD31-4B8C-83A1-F6EECF244321}">
                <p14:modId xmlns:p14="http://schemas.microsoft.com/office/powerpoint/2010/main" val="2060013611"/>
              </p:ext>
            </p:extLst>
          </p:nvPr>
        </p:nvGraphicFramePr>
        <p:xfrm>
          <a:off x="118263" y="0"/>
          <a:ext cx="11789406" cy="5211318"/>
        </p:xfrm>
        <a:graphic>
          <a:graphicData uri="http://schemas.openxmlformats.org/drawingml/2006/table">
            <a:tbl>
              <a:tblPr firstRow="1" firstCol="1" bandRow="1"/>
              <a:tblGrid>
                <a:gridCol w="2310528">
                  <a:extLst>
                    <a:ext uri="{9D8B030D-6E8A-4147-A177-3AD203B41FA5}">
                      <a16:colId xmlns:a16="http://schemas.microsoft.com/office/drawing/2014/main" val="2484107438"/>
                    </a:ext>
                  </a:extLst>
                </a:gridCol>
                <a:gridCol w="7972091">
                  <a:extLst>
                    <a:ext uri="{9D8B030D-6E8A-4147-A177-3AD203B41FA5}">
                      <a16:colId xmlns:a16="http://schemas.microsoft.com/office/drawing/2014/main" val="4232793076"/>
                    </a:ext>
                  </a:extLst>
                </a:gridCol>
                <a:gridCol w="1506787">
                  <a:extLst>
                    <a:ext uri="{9D8B030D-6E8A-4147-A177-3AD203B41FA5}">
                      <a16:colId xmlns:a16="http://schemas.microsoft.com/office/drawing/2014/main" val="1386829672"/>
                    </a:ext>
                  </a:extLst>
                </a:gridCol>
              </a:tblGrid>
              <a:tr h="867775">
                <a:tc gridSpan="3">
                  <a:txBody>
                    <a:bodyPr/>
                    <a:lstStyle/>
                    <a:p>
                      <a:pPr algn="ctr">
                        <a:lnSpc>
                          <a:spcPct val="107000"/>
                        </a:lnSpc>
                        <a:spcAft>
                          <a:spcPts val="800"/>
                        </a:spcAft>
                        <a:buNone/>
                      </a:pPr>
                      <a:r>
                        <a:rPr lang="es-MX" sz="1200" b="1" kern="100" dirty="0">
                          <a:solidFill>
                            <a:srgbClr val="2E74B5"/>
                          </a:solidFill>
                          <a:effectLst/>
                          <a:latin typeface="+mn-lt"/>
                          <a:ea typeface="Calibri" panose="020F0502020204030204" pitchFamily="34" charset="0"/>
                          <a:cs typeface="Times New Roman" panose="02020603050405020304" pitchFamily="18" charset="0"/>
                        </a:rPr>
                        <a:t>Sesión:          </a:t>
                      </a:r>
                      <a:r>
                        <a:rPr lang="es-MX" sz="1200" b="1" kern="100" dirty="0">
                          <a:solidFill>
                            <a:srgbClr val="000000"/>
                          </a:solidFill>
                          <a:effectLst/>
                          <a:latin typeface="+mn-lt"/>
                          <a:ea typeface="Calibri" panose="020F0502020204030204" pitchFamily="34" charset="0"/>
                          <a:cs typeface="Times New Roman" panose="02020603050405020304" pitchFamily="18" charset="0"/>
                        </a:rPr>
                        <a:t>3</a:t>
                      </a:r>
                      <a:r>
                        <a:rPr lang="es-MX" sz="1200" b="1" kern="100" dirty="0">
                          <a:solidFill>
                            <a:srgbClr val="2E74B5"/>
                          </a:solidFill>
                          <a:effectLst/>
                          <a:latin typeface="+mn-lt"/>
                          <a:ea typeface="Calibri" panose="020F0502020204030204" pitchFamily="34" charset="0"/>
                          <a:cs typeface="Times New Roman" panose="02020603050405020304" pitchFamily="18" charset="0"/>
                        </a:rPr>
                        <a:t>                           </a:t>
                      </a:r>
                      <a:endParaRPr lang="es-MX" sz="1200" kern="100" dirty="0">
                        <a:effectLst/>
                        <a:latin typeface="+mn-lt"/>
                        <a:ea typeface="Calibri" panose="020F0502020204030204" pitchFamily="34" charset="0"/>
                        <a:cs typeface="Times New Roman" panose="02020603050405020304" pitchFamily="18" charset="0"/>
                      </a:endParaRPr>
                    </a:p>
                    <a:p>
                      <a:pPr algn="ctr">
                        <a:lnSpc>
                          <a:spcPct val="107000"/>
                        </a:lnSpc>
                        <a:spcAft>
                          <a:spcPts val="800"/>
                        </a:spcAft>
                        <a:buNone/>
                      </a:pPr>
                      <a:r>
                        <a:rPr lang="es-MX" sz="1200" b="1" kern="100" dirty="0">
                          <a:solidFill>
                            <a:srgbClr val="2E74B5"/>
                          </a:solidFill>
                          <a:effectLst/>
                          <a:latin typeface="+mn-lt"/>
                          <a:ea typeface="Calibri" panose="020F0502020204030204" pitchFamily="34" charset="0"/>
                          <a:cs typeface="Times New Roman" panose="02020603050405020304" pitchFamily="18" charset="0"/>
                        </a:rPr>
                        <a:t>Fecha:    </a:t>
                      </a:r>
                      <a:r>
                        <a:rPr lang="es-MX" sz="1200" b="0" kern="100" dirty="0">
                          <a:solidFill>
                            <a:srgbClr val="000000"/>
                          </a:solidFill>
                          <a:effectLst/>
                          <a:latin typeface="+mn-lt"/>
                          <a:ea typeface="Calibri" panose="020F0502020204030204" pitchFamily="34" charset="0"/>
                          <a:cs typeface="Times New Roman" panose="02020603050405020304" pitchFamily="18" charset="0"/>
                        </a:rPr>
                        <a:t>Miércoles 14 </a:t>
                      </a:r>
                      <a:r>
                        <a:rPr lang="es-MX" sz="1200" b="0" kern="100" dirty="0">
                          <a:effectLst/>
                          <a:latin typeface="+mn-lt"/>
                          <a:ea typeface="Calibri" panose="020F0502020204030204" pitchFamily="34" charset="0"/>
                          <a:cs typeface="Times New Roman" panose="02020603050405020304" pitchFamily="18" charset="0"/>
                        </a:rPr>
                        <a:t>de ene de 2026</a:t>
                      </a:r>
                    </a:p>
                    <a:p>
                      <a:pPr algn="ctr">
                        <a:lnSpc>
                          <a:spcPct val="107000"/>
                        </a:lnSpc>
                        <a:spcAft>
                          <a:spcPts val="800"/>
                        </a:spcAft>
                        <a:buNone/>
                      </a:pPr>
                      <a:r>
                        <a:rPr lang="es-MX" sz="1200" b="0" kern="100" dirty="0">
                          <a:solidFill>
                            <a:srgbClr val="2E74B5"/>
                          </a:solidFill>
                          <a:effectLst/>
                          <a:latin typeface="+mn-lt"/>
                          <a:ea typeface="Calibri" panose="020F0502020204030204" pitchFamily="34" charset="0"/>
                          <a:cs typeface="Times New Roman" panose="02020603050405020304" pitchFamily="18" charset="0"/>
                        </a:rPr>
                        <a:t> Subtema:   </a:t>
                      </a:r>
                      <a:r>
                        <a:rPr lang="es-MX" sz="1200" b="0" kern="100" dirty="0">
                          <a:effectLst/>
                          <a:latin typeface="+mn-lt"/>
                          <a:ea typeface="Calibri" panose="020F0502020204030204" pitchFamily="34" charset="0"/>
                          <a:cs typeface="Times New Roman" panose="02020603050405020304" pitchFamily="18" charset="0"/>
                        </a:rPr>
                        <a:t>El maíz en mi comunidad</a:t>
                      </a:r>
                    </a:p>
                    <a:p>
                      <a:pPr algn="ctr">
                        <a:lnSpc>
                          <a:spcPct val="107000"/>
                        </a:lnSpc>
                        <a:spcAft>
                          <a:spcPts val="800"/>
                        </a:spcAft>
                        <a:buNone/>
                      </a:pPr>
                      <a:r>
                        <a:rPr lang="es-MX" sz="1200" b="0" kern="100" dirty="0">
                          <a:solidFill>
                            <a:srgbClr val="2E74B5"/>
                          </a:solidFill>
                          <a:effectLst/>
                          <a:latin typeface="+mn-lt"/>
                          <a:ea typeface="Calibri" panose="020F0502020204030204" pitchFamily="34" charset="0"/>
                          <a:cs typeface="Times New Roman" panose="02020603050405020304" pitchFamily="18" charset="0"/>
                        </a:rPr>
                        <a:t>       Actividad:</a:t>
                      </a:r>
                      <a:r>
                        <a:rPr lang="es-MX" sz="1200" b="0" kern="100" dirty="0">
                          <a:effectLst/>
                          <a:latin typeface="+mn-lt"/>
                          <a:ea typeface="Calibri" panose="020F0502020204030204" pitchFamily="34" charset="0"/>
                          <a:cs typeface="Times New Roman" panose="02020603050405020304" pitchFamily="18" charset="0"/>
                        </a:rPr>
                        <a:t> Creamos con los colores del maíz</a:t>
                      </a:r>
                    </a:p>
                  </a:txBody>
                  <a:tcPr marL="55155" marR="551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s-MX"/>
                    </a:p>
                  </a:txBody>
                  <a:tcPr/>
                </a:tc>
                <a:tc hMerge="1">
                  <a:txBody>
                    <a:bodyPr/>
                    <a:lstStyle/>
                    <a:p>
                      <a:endParaRPr lang="es-MX"/>
                    </a:p>
                  </a:txBody>
                  <a:tcPr>
                    <a:lnL w="12700" cap="flat" cmpd="sng" algn="ctr">
                      <a:solidFill>
                        <a:srgbClr val="000000"/>
                      </a:solidFill>
                      <a:prstDash val="solid"/>
                      <a:round/>
                      <a:headEnd type="none" w="med" len="med"/>
                      <a:tailEnd type="none" w="med" len="med"/>
                    </a:lnL>
                  </a:tcPr>
                </a:tc>
                <a:extLst>
                  <a:ext uri="{0D108BD9-81ED-4DB2-BD59-A6C34878D82A}">
                    <a16:rowId xmlns:a16="http://schemas.microsoft.com/office/drawing/2014/main" val="1445044564"/>
                  </a:ext>
                </a:extLst>
              </a:tr>
              <a:tr h="335343">
                <a:tc>
                  <a:txBody>
                    <a:bodyPr/>
                    <a:lstStyle/>
                    <a:p>
                      <a:pPr algn="l">
                        <a:lnSpc>
                          <a:spcPct val="107000"/>
                        </a:lnSpc>
                        <a:spcAft>
                          <a:spcPts val="800"/>
                        </a:spcAft>
                        <a:buNone/>
                      </a:pPr>
                      <a:r>
                        <a:rPr lang="es-MX" sz="1200" b="1" kern="100" dirty="0">
                          <a:effectLst/>
                          <a:latin typeface="+mn-lt"/>
                          <a:ea typeface="Calibri" panose="020F0502020204030204" pitchFamily="34" charset="0"/>
                          <a:cs typeface="Times New Roman" panose="02020603050405020304" pitchFamily="18" charset="0"/>
                        </a:rPr>
                        <a:t>Momento</a:t>
                      </a:r>
                    </a:p>
                  </a:txBody>
                  <a:tcPr marL="48115" marR="48115" marT="0" marB="0">
                    <a:lnL w="12700" cap="flat" cmpd="sng" algn="ctr">
                      <a:solidFill>
                        <a:srgbClr val="000000"/>
                      </a:solidFill>
                      <a:prstDash val="solid"/>
                      <a:round/>
                      <a:headEnd type="none" w="med" len="med"/>
                      <a:tailEnd type="none" w="med" len="med"/>
                    </a:lnL>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1200" b="1" kern="100" dirty="0">
                          <a:effectLst/>
                          <a:latin typeface="+mn-lt"/>
                          <a:ea typeface="Calibri" panose="020F0502020204030204" pitchFamily="34" charset="0"/>
                          <a:cs typeface="Times New Roman" panose="02020603050405020304" pitchFamily="18" charset="0"/>
                        </a:rPr>
                        <a:t>                                                               Actividades</a:t>
                      </a:r>
                    </a:p>
                  </a:txBody>
                  <a:tcPr marL="48115" marR="48115" marT="0" marB="0"/>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s-MX" sz="1200" b="1" kern="100" dirty="0">
                          <a:effectLst/>
                          <a:latin typeface="+mn-lt"/>
                          <a:ea typeface="Calibri" panose="020F0502020204030204" pitchFamily="34" charset="0"/>
                          <a:cs typeface="Times New Roman" panose="02020603050405020304" pitchFamily="18" charset="0"/>
                        </a:rPr>
                        <a:t>          </a:t>
                      </a:r>
                      <a:r>
                        <a:rPr lang="es-MX" sz="1200" b="1" kern="100" dirty="0">
                          <a:effectLst/>
                          <a:latin typeface="Aptos" panose="020B0004020202020204" pitchFamily="34" charset="0"/>
                          <a:ea typeface="Calibri" panose="020F0502020204030204" pitchFamily="34" charset="0"/>
                          <a:cs typeface="Times New Roman" panose="02020603050405020304" pitchFamily="18" charset="0"/>
                        </a:rPr>
                        <a:t>recursos</a:t>
                      </a:r>
                      <a:r>
                        <a:rPr lang="es-MX" sz="1200" b="1" kern="100" dirty="0">
                          <a:effectLst/>
                          <a:latin typeface="+mn-lt"/>
                          <a:ea typeface="Calibri" panose="020F0502020204030204" pitchFamily="34" charset="0"/>
                          <a:cs typeface="Times New Roman" panose="02020603050405020304" pitchFamily="18" charset="0"/>
                        </a:rPr>
                        <a:t>             </a:t>
                      </a:r>
                      <a:endParaRPr lang="es-MX" sz="1200" kern="100" dirty="0">
                        <a:effectLst/>
                        <a:latin typeface="+mn-lt"/>
                        <a:ea typeface="Calibri" panose="020F0502020204030204" pitchFamily="34" charset="0"/>
                        <a:cs typeface="Times New Roman" panose="02020603050405020304" pitchFamily="18" charset="0"/>
                      </a:endParaRPr>
                    </a:p>
                  </a:txBody>
                  <a:tcPr marL="48115" marR="48115" marT="0" marB="0"/>
                </a:tc>
                <a:extLst>
                  <a:ext uri="{0D108BD9-81ED-4DB2-BD59-A6C34878D82A}">
                    <a16:rowId xmlns:a16="http://schemas.microsoft.com/office/drawing/2014/main" val="708104465"/>
                  </a:ext>
                </a:extLst>
              </a:tr>
              <a:tr h="2893708">
                <a:tc>
                  <a:txBody>
                    <a:bodyPr/>
                    <a:lstStyle/>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Resolver en Común</a:t>
                      </a:r>
                    </a:p>
                  </a:txBody>
                  <a:tcPr marL="55155" marR="551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342900" lvl="0" indent="-342900" algn="l">
                        <a:lnSpc>
                          <a:spcPct val="107000"/>
                        </a:lnSpc>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Iniciar las actividades con los alumnos con la dinámica “ la papa caliente” con la finalidad de recordar el tema que se vio el día de ayer y repasar los marcos de oración aprendidas en la sesión anterior.  El maíz es alimento </a:t>
                      </a:r>
                      <a:r>
                        <a:rPr lang="es-MX" sz="1200" b="1" kern="100" dirty="0">
                          <a:effectLst/>
                          <a:latin typeface="+mn-lt"/>
                          <a:ea typeface="Calibri" panose="020F0502020204030204" pitchFamily="34" charset="0"/>
                          <a:cs typeface="Times New Roman" panose="02020603050405020304" pitchFamily="18" charset="0"/>
                        </a:rPr>
                        <a:t>in </a:t>
                      </a:r>
                      <a:r>
                        <a:rPr lang="es-MX" sz="1200" b="1" kern="100" dirty="0" err="1">
                          <a:effectLst/>
                          <a:latin typeface="+mn-lt"/>
                          <a:ea typeface="Calibri" panose="020F0502020204030204" pitchFamily="34" charset="0"/>
                          <a:cs typeface="Times New Roman" panose="02020603050405020304" pitchFamily="18" charset="0"/>
                        </a:rPr>
                        <a:t>tlaoli</a:t>
                      </a:r>
                      <a:r>
                        <a:rPr lang="es-MX" sz="1200" b="1" kern="100" dirty="0">
                          <a:effectLst/>
                          <a:latin typeface="+mn-lt"/>
                          <a:ea typeface="Calibri" panose="020F0502020204030204" pitchFamily="34" charset="0"/>
                          <a:cs typeface="Times New Roman" panose="02020603050405020304" pitchFamily="18" charset="0"/>
                        </a:rPr>
                        <a:t> no </a:t>
                      </a:r>
                      <a:r>
                        <a:rPr lang="es-MX" sz="1200" b="1" kern="100" dirty="0" err="1">
                          <a:effectLst/>
                          <a:latin typeface="+mn-lt"/>
                          <a:ea typeface="Calibri" panose="020F0502020204030204" pitchFamily="34" charset="0"/>
                          <a:cs typeface="Times New Roman" panose="02020603050405020304" pitchFamily="18" charset="0"/>
                        </a:rPr>
                        <a:t>tonalcayotl</a:t>
                      </a:r>
                      <a:endParaRPr lang="es-MX" sz="1200" kern="100" dirty="0">
                        <a:effectLst/>
                        <a:latin typeface="+mn-lt"/>
                        <a:ea typeface="Calibri" panose="020F0502020204030204" pitchFamily="34" charset="0"/>
                        <a:cs typeface="Times New Roman" panose="02020603050405020304" pitchFamily="18" charset="0"/>
                      </a:endParaRPr>
                    </a:p>
                    <a:p>
                      <a:pPr marL="228600" algn="l">
                        <a:lnSpc>
                          <a:spcPct val="107000"/>
                        </a:lnSpc>
                        <a:buNone/>
                      </a:pPr>
                      <a:r>
                        <a:rPr lang="es-MX" sz="1200" kern="100" dirty="0">
                          <a:effectLst/>
                          <a:latin typeface="+mn-lt"/>
                          <a:ea typeface="Calibri" panose="020F0502020204030204" pitchFamily="34" charset="0"/>
                          <a:cs typeface="Times New Roman" panose="02020603050405020304" pitchFamily="18" charset="0"/>
                        </a:rPr>
                        <a:t>El maíz es blanco     in </a:t>
                      </a:r>
                      <a:r>
                        <a:rPr lang="es-MX" sz="1200" kern="100" dirty="0" err="1">
                          <a:effectLst/>
                          <a:latin typeface="+mn-lt"/>
                          <a:ea typeface="Calibri" panose="020F0502020204030204" pitchFamily="34" charset="0"/>
                          <a:cs typeface="Times New Roman" panose="02020603050405020304" pitchFamily="18" charset="0"/>
                        </a:rPr>
                        <a:t>tlaoli</a:t>
                      </a:r>
                      <a:r>
                        <a:rPr lang="es-MX" sz="1200" kern="100" dirty="0">
                          <a:effectLst/>
                          <a:latin typeface="+mn-lt"/>
                          <a:ea typeface="Calibri" panose="020F0502020204030204" pitchFamily="34" charset="0"/>
                          <a:cs typeface="Times New Roman" panose="02020603050405020304" pitchFamily="18" charset="0"/>
                        </a:rPr>
                        <a:t> </a:t>
                      </a:r>
                      <a:r>
                        <a:rPr lang="es-MX" sz="1200" kern="100" dirty="0" err="1">
                          <a:effectLst/>
                          <a:latin typeface="+mn-lt"/>
                          <a:ea typeface="Calibri" panose="020F0502020204030204" pitchFamily="34" charset="0"/>
                          <a:cs typeface="Times New Roman" panose="02020603050405020304" pitchFamily="18" charset="0"/>
                        </a:rPr>
                        <a:t>iztac</a:t>
                      </a:r>
                      <a:endParaRPr lang="es-MX" sz="1200" kern="100" dirty="0">
                        <a:effectLst/>
                        <a:latin typeface="+mn-lt"/>
                        <a:ea typeface="Calibri" panose="020F0502020204030204" pitchFamily="34" charset="0"/>
                        <a:cs typeface="Times New Roman" panose="02020603050405020304" pitchFamily="18" charset="0"/>
                      </a:endParaRPr>
                    </a:p>
                    <a:p>
                      <a:pPr marL="342900" lvl="0" indent="-342900" algn="l">
                        <a:lnSpc>
                          <a:spcPct val="115000"/>
                        </a:lnSpc>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Explicar a los alumnos (as) que existen diferentes colores de maíz como: amarillo, blanco, azul, morado, rojo y se da a conocer estos colores en lengua materna (</a:t>
                      </a:r>
                      <a:r>
                        <a:rPr lang="es-MX" sz="1200" kern="100" dirty="0" err="1">
                          <a:effectLst/>
                          <a:latin typeface="+mn-lt"/>
                          <a:ea typeface="Calibri" panose="020F0502020204030204" pitchFamily="34" charset="0"/>
                          <a:cs typeface="Times New Roman" panose="02020603050405020304" pitchFamily="18" charset="0"/>
                        </a:rPr>
                        <a:t>nahuatl</a:t>
                      </a:r>
                      <a:r>
                        <a:rPr lang="es-MX" sz="1200" kern="100" dirty="0">
                          <a:effectLst/>
                          <a:latin typeface="+mn-lt"/>
                          <a:ea typeface="Calibri" panose="020F0502020204030204" pitchFamily="34" charset="0"/>
                          <a:cs typeface="Times New Roman" panose="02020603050405020304" pitchFamily="18" charset="0"/>
                        </a:rPr>
                        <a:t>) </a:t>
                      </a:r>
                      <a:r>
                        <a:rPr lang="es-MX" sz="1200" kern="100" dirty="0" err="1">
                          <a:effectLst/>
                          <a:latin typeface="+mn-lt"/>
                          <a:ea typeface="Calibri" panose="020F0502020204030204" pitchFamily="34" charset="0"/>
                          <a:cs typeface="Times New Roman" panose="02020603050405020304" pitchFamily="18" charset="0"/>
                        </a:rPr>
                        <a:t>costik</a:t>
                      </a:r>
                      <a:r>
                        <a:rPr lang="es-MX" sz="1200" kern="100" dirty="0">
                          <a:effectLst/>
                          <a:latin typeface="+mn-lt"/>
                          <a:ea typeface="Calibri" panose="020F0502020204030204" pitchFamily="34" charset="0"/>
                          <a:cs typeface="Times New Roman" panose="02020603050405020304" pitchFamily="18" charset="0"/>
                        </a:rPr>
                        <a:t>. </a:t>
                      </a:r>
                      <a:r>
                        <a:rPr lang="es-MX" sz="1200" kern="100" dirty="0" err="1">
                          <a:effectLst/>
                          <a:latin typeface="+mn-lt"/>
                          <a:ea typeface="Calibri" panose="020F0502020204030204" pitchFamily="34" charset="0"/>
                          <a:cs typeface="Times New Roman" panose="02020603050405020304" pitchFamily="18" charset="0"/>
                        </a:rPr>
                        <a:t>Istak</a:t>
                      </a:r>
                      <a:r>
                        <a:rPr lang="es-MX" sz="1200" kern="100" dirty="0">
                          <a:effectLst/>
                          <a:latin typeface="+mn-lt"/>
                          <a:ea typeface="Calibri" panose="020F0502020204030204" pitchFamily="34" charset="0"/>
                          <a:cs typeface="Times New Roman" panose="02020603050405020304" pitchFamily="18" charset="0"/>
                        </a:rPr>
                        <a:t>, </a:t>
                      </a:r>
                      <a:r>
                        <a:rPr lang="es-MX" sz="1200" kern="100" dirty="0" err="1">
                          <a:effectLst/>
                          <a:latin typeface="+mn-lt"/>
                          <a:ea typeface="Calibri" panose="020F0502020204030204" pitchFamily="34" charset="0"/>
                          <a:cs typeface="Times New Roman" panose="02020603050405020304" pitchFamily="18" charset="0"/>
                        </a:rPr>
                        <a:t>camojtik</a:t>
                      </a:r>
                      <a:r>
                        <a:rPr lang="es-MX" sz="1200" kern="100" dirty="0">
                          <a:effectLst/>
                          <a:latin typeface="+mn-lt"/>
                          <a:ea typeface="Calibri" panose="020F0502020204030204" pitchFamily="34" charset="0"/>
                          <a:cs typeface="Times New Roman" panose="02020603050405020304" pitchFamily="18" charset="0"/>
                        </a:rPr>
                        <a:t>, </a:t>
                      </a:r>
                      <a:r>
                        <a:rPr lang="es-MX" sz="1200" kern="100" dirty="0" err="1">
                          <a:effectLst/>
                          <a:latin typeface="+mn-lt"/>
                          <a:ea typeface="Calibri" panose="020F0502020204030204" pitchFamily="34" charset="0"/>
                          <a:cs typeface="Times New Roman" panose="02020603050405020304" pitchFamily="18" charset="0"/>
                        </a:rPr>
                        <a:t>chichiltik</a:t>
                      </a:r>
                      <a:r>
                        <a:rPr lang="es-MX" sz="1200" kern="100" dirty="0">
                          <a:effectLst/>
                          <a:latin typeface="+mn-lt"/>
                          <a:ea typeface="Calibri" panose="020F0502020204030204" pitchFamily="34" charset="0"/>
                          <a:cs typeface="Times New Roman" panose="02020603050405020304" pitchFamily="18" charset="0"/>
                        </a:rPr>
                        <a:t>, </a:t>
                      </a:r>
                      <a:r>
                        <a:rPr lang="es-MX" sz="1200" kern="100" dirty="0" err="1">
                          <a:effectLst/>
                          <a:latin typeface="+mn-lt"/>
                          <a:ea typeface="Calibri" panose="020F0502020204030204" pitchFamily="34" charset="0"/>
                          <a:cs typeface="Times New Roman" panose="02020603050405020304" pitchFamily="18" charset="0"/>
                        </a:rPr>
                        <a:t>yawil</a:t>
                      </a:r>
                      <a:endParaRPr lang="es-MX" sz="1200" kern="100" dirty="0">
                        <a:effectLst/>
                        <a:latin typeface="+mn-lt"/>
                        <a:ea typeface="Calibri" panose="020F0502020204030204" pitchFamily="34" charset="0"/>
                        <a:cs typeface="Times New Roman" panose="02020603050405020304" pitchFamily="18" charset="0"/>
                      </a:endParaRPr>
                    </a:p>
                    <a:p>
                      <a:pPr marL="342900" lvl="0" indent="-342900" algn="l">
                        <a:lnSpc>
                          <a:spcPct val="115000"/>
                        </a:lnSpc>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Solicitar a los alumnos (as) que, de manera colaborativa, elaborar un collage con semillas de maíz o recortes de colores. Para ello se tomarán acuerdos de forma grupal ¡que vamos a hacer?  La docente explicara y dará sugerencias que se puede representar, una milpa, una mazorca o un campo el acuerdo se tomara entre todos y compartirán los materiales.</a:t>
                      </a:r>
                    </a:p>
                    <a:p>
                      <a:pPr marL="342900" lvl="0" indent="-342900" algn="l">
                        <a:lnSpc>
                          <a:spcPct val="115000"/>
                        </a:lnSpc>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Comentar de manera grupal que fue lo que  les pareció más interesante de las actividades realizadas </a:t>
                      </a:r>
                    </a:p>
                    <a:p>
                      <a:pPr marL="342900" lvl="0" indent="-342900" algn="l">
                        <a:lnSpc>
                          <a:spcPct val="115000"/>
                        </a:lnSpc>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Solicitar a los alumnos aprender en español la canción del maíz </a:t>
                      </a:r>
                    </a:p>
                    <a:p>
                      <a:pPr marL="228600" algn="l">
                        <a:lnSpc>
                          <a:spcPct val="115000"/>
                        </a:lnSpc>
                        <a:buNone/>
                      </a:pPr>
                      <a:r>
                        <a:rPr lang="es-MX" sz="1200" u="sng" kern="100" dirty="0">
                          <a:solidFill>
                            <a:srgbClr val="0563C1"/>
                          </a:solidFill>
                          <a:effectLst/>
                          <a:latin typeface="+mn-lt"/>
                          <a:ea typeface="Calibri" panose="020F0502020204030204" pitchFamily="34" charset="0"/>
                          <a:cs typeface="Times New Roman" panose="02020603050405020304" pitchFamily="18" charset="0"/>
                          <a:hlinkClick r:id="rId2"/>
                        </a:rPr>
                        <a:t>https://www.youtube.com/watch?v=b4FrILpELL0</a:t>
                      </a:r>
                      <a:endParaRPr lang="es-MX" sz="1200" kern="100" dirty="0">
                        <a:effectLst/>
                        <a:latin typeface="+mn-lt"/>
                        <a:ea typeface="Calibri" panose="020F0502020204030204" pitchFamily="34" charset="0"/>
                        <a:cs typeface="Times New Roman" panose="02020603050405020304" pitchFamily="18" charset="0"/>
                      </a:endParaRPr>
                    </a:p>
                    <a:p>
                      <a:pPr marL="228600" algn="l">
                        <a:lnSpc>
                          <a:spcPct val="115000"/>
                        </a:lnSpc>
                        <a:buNone/>
                      </a:pPr>
                      <a:r>
                        <a:rPr lang="es-MX" sz="1200" kern="100" dirty="0">
                          <a:effectLst/>
                          <a:latin typeface="+mn-lt"/>
                          <a:ea typeface="Calibri" panose="020F0502020204030204" pitchFamily="34" charset="0"/>
                          <a:cs typeface="Times New Roman" panose="02020603050405020304" pitchFamily="18" charset="0"/>
                        </a:rPr>
                        <a:t> </a:t>
                      </a:r>
                    </a:p>
                    <a:p>
                      <a:pPr marL="228600" algn="l">
                        <a:lnSpc>
                          <a:spcPct val="115000"/>
                        </a:lnSpc>
                        <a:buNone/>
                      </a:pPr>
                      <a:r>
                        <a:rPr lang="es-MX" sz="1200" kern="100" dirty="0">
                          <a:effectLst/>
                          <a:latin typeface="+mn-lt"/>
                          <a:ea typeface="Calibri" panose="020F0502020204030204" pitchFamily="34" charset="0"/>
                          <a:cs typeface="Times New Roman" panose="02020603050405020304" pitchFamily="18" charset="0"/>
                        </a:rPr>
                        <a:t> </a:t>
                      </a:r>
                    </a:p>
                  </a:txBody>
                  <a:tcPr marL="55155" marR="551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plumones</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Papel bond</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Semillas</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Imágenes</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Proyector</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Laptop</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bocina</a:t>
                      </a:r>
                    </a:p>
                  </a:txBody>
                  <a:tcPr marL="55155" marR="551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31780857"/>
                  </a:ext>
                </a:extLst>
              </a:tr>
              <a:tr h="589854">
                <a:tc>
                  <a:txBody>
                    <a:bodyPr/>
                    <a:lstStyle/>
                    <a:p>
                      <a:pPr algn="l">
                        <a:lnSpc>
                          <a:spcPct val="107000"/>
                        </a:lnSpc>
                        <a:spcAft>
                          <a:spcPts val="800"/>
                        </a:spcAft>
                        <a:buNone/>
                      </a:pPr>
                      <a:r>
                        <a:rPr lang="es-MX" sz="900" kern="100">
                          <a:effectLst/>
                          <a:latin typeface="Calibri" panose="020F0502020204030204" pitchFamily="34" charset="0"/>
                          <a:ea typeface="Calibri" panose="020F0502020204030204" pitchFamily="34" charset="0"/>
                          <a:cs typeface="Times New Roman" panose="02020603050405020304" pitchFamily="18" charset="0"/>
                        </a:rPr>
                        <a:t>Marcos de oracion</a:t>
                      </a:r>
                    </a:p>
                  </a:txBody>
                  <a:tcPr marL="55155" marR="551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0000"/>
                        </a:lnSpc>
                        <a:spcAft>
                          <a:spcPts val="800"/>
                        </a:spcAft>
                        <a:buNone/>
                      </a:pPr>
                      <a:r>
                        <a:rPr lang="es-MX" sz="1200" kern="100" dirty="0">
                          <a:effectLst/>
                          <a:latin typeface="Aptos" panose="020B0004020202020204" pitchFamily="34" charset="0"/>
                          <a:ea typeface="Calibri" panose="020F0502020204030204" pitchFamily="34" charset="0"/>
                          <a:cs typeface="Times New Roman" panose="02020603050405020304" pitchFamily="18" charset="0"/>
                        </a:rPr>
                        <a:t>El </a:t>
                      </a:r>
                      <a:r>
                        <a:rPr lang="es-MX" sz="1200" kern="100" dirty="0" err="1">
                          <a:effectLst/>
                          <a:latin typeface="Aptos" panose="020B0004020202020204" pitchFamily="34" charset="0"/>
                          <a:ea typeface="Calibri" panose="020F0502020204030204" pitchFamily="34" charset="0"/>
                          <a:cs typeface="Times New Roman" panose="02020603050405020304" pitchFamily="18" charset="0"/>
                        </a:rPr>
                        <a:t>maiz</a:t>
                      </a:r>
                      <a:r>
                        <a:rPr lang="es-MX" sz="1200" kern="100" dirty="0">
                          <a:effectLst/>
                          <a:latin typeface="Aptos" panose="020B0004020202020204" pitchFamily="34" charset="0"/>
                          <a:ea typeface="Calibri" panose="020F0502020204030204" pitchFamily="34" charset="0"/>
                          <a:cs typeface="Times New Roman" panose="02020603050405020304" pitchFamily="18" charset="0"/>
                        </a:rPr>
                        <a:t> es alimento         in </a:t>
                      </a:r>
                      <a:r>
                        <a:rPr lang="es-MX" sz="1200" kern="100" dirty="0" err="1">
                          <a:effectLst/>
                          <a:latin typeface="Aptos" panose="020B0004020202020204" pitchFamily="34" charset="0"/>
                          <a:ea typeface="Calibri" panose="020F0502020204030204" pitchFamily="34" charset="0"/>
                          <a:cs typeface="Times New Roman" panose="02020603050405020304" pitchFamily="18" charset="0"/>
                        </a:rPr>
                        <a:t>taoli</a:t>
                      </a:r>
                      <a:r>
                        <a:rPr lang="es-MX" sz="1200" kern="100" dirty="0">
                          <a:effectLst/>
                          <a:latin typeface="Aptos" panose="020B0004020202020204" pitchFamily="34" charset="0"/>
                          <a:ea typeface="Calibri" panose="020F0502020204030204" pitchFamily="34" charset="0"/>
                          <a:cs typeface="Times New Roman" panose="02020603050405020304" pitchFamily="18" charset="0"/>
                        </a:rPr>
                        <a:t> no </a:t>
                      </a:r>
                      <a:r>
                        <a:rPr lang="es-MX" sz="1200" kern="100" dirty="0" err="1">
                          <a:effectLst/>
                          <a:latin typeface="Aptos" panose="020B0004020202020204" pitchFamily="34" charset="0"/>
                          <a:ea typeface="Calibri" panose="020F0502020204030204" pitchFamily="34" charset="0"/>
                          <a:cs typeface="Times New Roman" panose="02020603050405020304" pitchFamily="18" charset="0"/>
                        </a:rPr>
                        <a:t>tonalcayotl</a:t>
                      </a:r>
                      <a:endParaRPr lang="es-MX" sz="1200" kern="100" dirty="0">
                        <a:effectLst/>
                        <a:latin typeface="Aptos" panose="020B0004020202020204" pitchFamily="34" charset="0"/>
                        <a:ea typeface="Calibri" panose="020F0502020204030204" pitchFamily="34" charset="0"/>
                        <a:cs typeface="Times New Roman" panose="02020603050405020304" pitchFamily="18" charset="0"/>
                      </a:endParaRPr>
                    </a:p>
                    <a:p>
                      <a:pPr algn="l">
                        <a:lnSpc>
                          <a:spcPct val="100000"/>
                        </a:lnSpc>
                        <a:spcAft>
                          <a:spcPts val="800"/>
                        </a:spcAft>
                        <a:buNone/>
                      </a:pPr>
                      <a:r>
                        <a:rPr lang="es-MX" sz="1200" kern="100" dirty="0">
                          <a:effectLst/>
                          <a:latin typeface="Aptos" panose="020B0004020202020204" pitchFamily="34" charset="0"/>
                          <a:ea typeface="Calibri" panose="020F0502020204030204" pitchFamily="34" charset="0"/>
                          <a:cs typeface="Times New Roman" panose="02020603050405020304" pitchFamily="18" charset="0"/>
                        </a:rPr>
                        <a:t>El maíz es blanco     in </a:t>
                      </a:r>
                      <a:r>
                        <a:rPr lang="es-MX" sz="1200" kern="100" dirty="0" err="1">
                          <a:effectLst/>
                          <a:latin typeface="Aptos" panose="020B0004020202020204" pitchFamily="34" charset="0"/>
                          <a:ea typeface="Calibri" panose="020F0502020204030204" pitchFamily="34" charset="0"/>
                          <a:cs typeface="Times New Roman" panose="02020603050405020304" pitchFamily="18" charset="0"/>
                        </a:rPr>
                        <a:t>tlaoli</a:t>
                      </a:r>
                      <a:r>
                        <a:rPr lang="es-MX" sz="1200" kern="100" dirty="0">
                          <a:effectLst/>
                          <a:latin typeface="Aptos" panose="020B0004020202020204" pitchFamily="34" charset="0"/>
                          <a:ea typeface="Calibri" panose="020F0502020204030204" pitchFamily="34" charset="0"/>
                          <a:cs typeface="Times New Roman" panose="02020603050405020304" pitchFamily="18" charset="0"/>
                        </a:rPr>
                        <a:t> </a:t>
                      </a:r>
                      <a:r>
                        <a:rPr lang="es-MX" sz="1200" kern="100" dirty="0" err="1">
                          <a:effectLst/>
                          <a:latin typeface="Aptos" panose="020B0004020202020204" pitchFamily="34" charset="0"/>
                          <a:ea typeface="Calibri" panose="020F0502020204030204" pitchFamily="34" charset="0"/>
                          <a:cs typeface="Times New Roman" panose="02020603050405020304" pitchFamily="18" charset="0"/>
                        </a:rPr>
                        <a:t>iztac</a:t>
                      </a:r>
                      <a:endParaRPr lang="es-MX" sz="1200" kern="100" dirty="0">
                        <a:effectLst/>
                        <a:latin typeface="Aptos" panose="020B0004020202020204" pitchFamily="34" charset="0"/>
                        <a:ea typeface="Calibri" panose="020F0502020204030204" pitchFamily="34" charset="0"/>
                        <a:cs typeface="Times New Roman" panose="02020603050405020304" pitchFamily="18" charset="0"/>
                      </a:endParaRPr>
                    </a:p>
                    <a:p>
                      <a:pPr algn="l">
                        <a:lnSpc>
                          <a:spcPct val="107000"/>
                        </a:lnSpc>
                        <a:spcAft>
                          <a:spcPts val="800"/>
                        </a:spcAft>
                        <a:buNone/>
                      </a:pPr>
                      <a:r>
                        <a:rPr lang="es-MX" sz="900" kern="100" dirty="0">
                          <a:effectLst/>
                          <a:latin typeface="Calibri" panose="020F0502020204030204" pitchFamily="34" charset="0"/>
                          <a:ea typeface="Calibri" panose="020F0502020204030204" pitchFamily="34" charset="0"/>
                          <a:cs typeface="Times New Roman" panose="02020603050405020304" pitchFamily="18" charset="0"/>
                        </a:rPr>
                        <a:t> </a:t>
                      </a:r>
                    </a:p>
                  </a:txBody>
                  <a:tcPr marL="55155" marR="5515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900" kern="100" dirty="0">
                          <a:effectLst/>
                          <a:latin typeface="Calibri" panose="020F0502020204030204" pitchFamily="34" charset="0"/>
                          <a:ea typeface="Calibri" panose="020F0502020204030204" pitchFamily="34" charset="0"/>
                          <a:cs typeface="Times New Roman" panose="02020603050405020304" pitchFamily="18" charset="0"/>
                        </a:rPr>
                        <a:t> </a:t>
                      </a:r>
                    </a:p>
                  </a:txBody>
                  <a:tcPr marL="55155" marR="551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99180048"/>
                  </a:ext>
                </a:extLst>
              </a:tr>
            </a:tbl>
          </a:graphicData>
        </a:graphic>
      </p:graphicFrame>
    </p:spTree>
    <p:extLst>
      <p:ext uri="{BB962C8B-B14F-4D97-AF65-F5344CB8AC3E}">
        <p14:creationId xmlns:p14="http://schemas.microsoft.com/office/powerpoint/2010/main" val="30792633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927EC-50CB-5522-B999-F0849CA4428A}"/>
            </a:ext>
          </a:extLst>
        </p:cNvPr>
        <p:cNvGrpSpPr/>
        <p:nvPr/>
      </p:nvGrpSpPr>
      <p:grpSpPr>
        <a:xfrm>
          <a:off x="0" y="0"/>
          <a:ext cx="0" cy="0"/>
          <a:chOff x="0" y="0"/>
          <a:chExt cx="0" cy="0"/>
        </a:xfrm>
      </p:grpSpPr>
      <p:graphicFrame>
        <p:nvGraphicFramePr>
          <p:cNvPr id="2" name="Tabla 1">
            <a:extLst>
              <a:ext uri="{FF2B5EF4-FFF2-40B4-BE49-F238E27FC236}">
                <a16:creationId xmlns:a16="http://schemas.microsoft.com/office/drawing/2014/main" id="{87799231-1D30-471B-752D-87459408D613}"/>
              </a:ext>
            </a:extLst>
          </p:cNvPr>
          <p:cNvGraphicFramePr>
            <a:graphicFrameLocks noGrp="1"/>
          </p:cNvGraphicFramePr>
          <p:nvPr>
            <p:extLst>
              <p:ext uri="{D42A27DB-BD31-4B8C-83A1-F6EECF244321}">
                <p14:modId xmlns:p14="http://schemas.microsoft.com/office/powerpoint/2010/main" val="3267467813"/>
              </p:ext>
            </p:extLst>
          </p:nvPr>
        </p:nvGraphicFramePr>
        <p:xfrm>
          <a:off x="193200" y="242252"/>
          <a:ext cx="11871799" cy="5896668"/>
        </p:xfrm>
        <a:graphic>
          <a:graphicData uri="http://schemas.openxmlformats.org/drawingml/2006/table">
            <a:tbl>
              <a:tblPr firstRow="1" firstCol="1" bandRow="1"/>
              <a:tblGrid>
                <a:gridCol w="2326676">
                  <a:extLst>
                    <a:ext uri="{9D8B030D-6E8A-4147-A177-3AD203B41FA5}">
                      <a16:colId xmlns:a16="http://schemas.microsoft.com/office/drawing/2014/main" val="2229326550"/>
                    </a:ext>
                  </a:extLst>
                </a:gridCol>
                <a:gridCol w="8027806">
                  <a:extLst>
                    <a:ext uri="{9D8B030D-6E8A-4147-A177-3AD203B41FA5}">
                      <a16:colId xmlns:a16="http://schemas.microsoft.com/office/drawing/2014/main" val="852970248"/>
                    </a:ext>
                  </a:extLst>
                </a:gridCol>
                <a:gridCol w="1517317">
                  <a:extLst>
                    <a:ext uri="{9D8B030D-6E8A-4147-A177-3AD203B41FA5}">
                      <a16:colId xmlns:a16="http://schemas.microsoft.com/office/drawing/2014/main" val="817996946"/>
                    </a:ext>
                  </a:extLst>
                </a:gridCol>
              </a:tblGrid>
              <a:tr h="1005523">
                <a:tc gridSpan="3">
                  <a:txBody>
                    <a:bodyPr/>
                    <a:lstStyle/>
                    <a:p>
                      <a:pPr algn="ctr">
                        <a:lnSpc>
                          <a:spcPct val="100000"/>
                        </a:lnSpc>
                        <a:spcAft>
                          <a:spcPts val="600"/>
                        </a:spcAft>
                        <a:buNone/>
                      </a:pPr>
                      <a:r>
                        <a:rPr lang="es-MX" sz="1200" b="1" kern="100" dirty="0">
                          <a:solidFill>
                            <a:srgbClr val="2E74B5"/>
                          </a:solidFill>
                          <a:effectLst/>
                          <a:latin typeface="+mn-lt"/>
                          <a:ea typeface="Calibri" panose="020F0502020204030204" pitchFamily="34" charset="0"/>
                          <a:cs typeface="Times New Roman" panose="02020603050405020304" pitchFamily="18" charset="0"/>
                        </a:rPr>
                        <a:t> Sesión:          4                           </a:t>
                      </a:r>
                      <a:endParaRPr lang="es-MX" sz="1200" kern="100" dirty="0">
                        <a:effectLst/>
                        <a:latin typeface="+mn-lt"/>
                        <a:ea typeface="Calibri" panose="020F0502020204030204" pitchFamily="34" charset="0"/>
                        <a:cs typeface="Times New Roman" panose="02020603050405020304" pitchFamily="18" charset="0"/>
                      </a:endParaRPr>
                    </a:p>
                    <a:p>
                      <a:pPr algn="ctr">
                        <a:lnSpc>
                          <a:spcPct val="100000"/>
                        </a:lnSpc>
                        <a:spcAft>
                          <a:spcPts val="600"/>
                        </a:spcAft>
                        <a:buNone/>
                      </a:pPr>
                      <a:r>
                        <a:rPr lang="es-MX" sz="1200" b="1" kern="100" dirty="0">
                          <a:solidFill>
                            <a:srgbClr val="2E74B5"/>
                          </a:solidFill>
                          <a:effectLst/>
                          <a:latin typeface="+mn-lt"/>
                          <a:ea typeface="Calibri" panose="020F0502020204030204" pitchFamily="34" charset="0"/>
                          <a:cs typeface="Times New Roman" panose="02020603050405020304" pitchFamily="18" charset="0"/>
                        </a:rPr>
                        <a:t>              Fecha:    </a:t>
                      </a:r>
                      <a:r>
                        <a:rPr lang="es-MX" sz="1200" b="1" kern="100" dirty="0">
                          <a:solidFill>
                            <a:srgbClr val="000000"/>
                          </a:solidFill>
                          <a:effectLst/>
                          <a:latin typeface="+mn-lt"/>
                          <a:ea typeface="Calibri" panose="020F0502020204030204" pitchFamily="34" charset="0"/>
                          <a:cs typeface="Times New Roman" panose="02020603050405020304" pitchFamily="18" charset="0"/>
                        </a:rPr>
                        <a:t>Jueves  15  de enero de 2026</a:t>
                      </a:r>
                      <a:endParaRPr lang="es-MX" sz="1200" kern="100" dirty="0">
                        <a:effectLst/>
                        <a:latin typeface="+mn-lt"/>
                        <a:ea typeface="Calibri" panose="020F0502020204030204" pitchFamily="34" charset="0"/>
                        <a:cs typeface="Times New Roman" panose="02020603050405020304" pitchFamily="18" charset="0"/>
                      </a:endParaRPr>
                    </a:p>
                    <a:p>
                      <a:pPr algn="ctr">
                        <a:lnSpc>
                          <a:spcPct val="100000"/>
                        </a:lnSpc>
                        <a:spcAft>
                          <a:spcPts val="600"/>
                        </a:spcAft>
                        <a:buNone/>
                      </a:pPr>
                      <a:r>
                        <a:rPr lang="es-MX" sz="1200" b="1" kern="100" dirty="0">
                          <a:solidFill>
                            <a:srgbClr val="2E74B5"/>
                          </a:solidFill>
                          <a:effectLst/>
                          <a:latin typeface="+mn-lt"/>
                          <a:ea typeface="Calibri" panose="020F0502020204030204" pitchFamily="34" charset="0"/>
                          <a:cs typeface="Times New Roman" panose="02020603050405020304" pitchFamily="18" charset="0"/>
                        </a:rPr>
                        <a:t> Subtema:   </a:t>
                      </a:r>
                      <a:r>
                        <a:rPr lang="es-MX" sz="1200" b="1" kern="100" dirty="0">
                          <a:effectLst/>
                          <a:latin typeface="+mn-lt"/>
                          <a:ea typeface="Calibri" panose="020F0502020204030204" pitchFamily="34" charset="0"/>
                          <a:cs typeface="Times New Roman" panose="02020603050405020304" pitchFamily="18" charset="0"/>
                        </a:rPr>
                        <a:t>El maíz en mi comunidad</a:t>
                      </a:r>
                      <a:endParaRPr lang="es-MX" sz="1200" b="0" kern="100" dirty="0">
                        <a:solidFill>
                          <a:schemeClr val="tx1"/>
                        </a:solidFill>
                        <a:effectLst/>
                        <a:latin typeface="+mn-lt"/>
                        <a:ea typeface="Calibri" panose="020F0502020204030204" pitchFamily="34" charset="0"/>
                        <a:cs typeface="Times New Roman" panose="02020603050405020304" pitchFamily="18" charset="0"/>
                      </a:endParaRPr>
                    </a:p>
                    <a:p>
                      <a:pPr algn="ctr">
                        <a:lnSpc>
                          <a:spcPct val="100000"/>
                        </a:lnSpc>
                        <a:spcAft>
                          <a:spcPts val="600"/>
                        </a:spcAft>
                        <a:buNone/>
                      </a:pPr>
                      <a:r>
                        <a:rPr lang="es-MX" sz="1200" b="1" kern="100" dirty="0">
                          <a:solidFill>
                            <a:srgbClr val="2E74B5"/>
                          </a:solidFill>
                          <a:effectLst/>
                          <a:latin typeface="+mn-lt"/>
                          <a:ea typeface="Calibri" panose="020F0502020204030204" pitchFamily="34" charset="0"/>
                          <a:cs typeface="Times New Roman" panose="02020603050405020304" pitchFamily="18" charset="0"/>
                        </a:rPr>
                        <a:t>    Actividad:</a:t>
                      </a:r>
                      <a:r>
                        <a:rPr lang="es-MX" sz="1200" b="1" kern="100" dirty="0">
                          <a:effectLst/>
                          <a:latin typeface="+mn-lt"/>
                          <a:ea typeface="Calibri" panose="020F0502020204030204" pitchFamily="34" charset="0"/>
                          <a:cs typeface="Times New Roman" panose="02020603050405020304" pitchFamily="18" charset="0"/>
                        </a:rPr>
                        <a:t> Nombramos lo que hicimos</a:t>
                      </a:r>
                      <a:endParaRPr lang="es-MX" sz="1200" kern="100" dirty="0">
                        <a:effectLst/>
                        <a:latin typeface="+mn-lt"/>
                        <a:ea typeface="Calibri" panose="020F0502020204030204" pitchFamily="34" charset="0"/>
                        <a:cs typeface="Times New Roman" panose="02020603050405020304" pitchFamily="18" charset="0"/>
                      </a:endParaRPr>
                    </a:p>
                  </a:txBody>
                  <a:tcPr marL="54836" marR="548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s-MX"/>
                    </a:p>
                  </a:txBody>
                  <a:tcPr/>
                </a:tc>
                <a:tc hMerge="1">
                  <a:txBody>
                    <a:bodyPr/>
                    <a:lstStyle/>
                    <a:p>
                      <a:endParaRPr lang="es-MX"/>
                    </a:p>
                  </a:txBody>
                  <a:tcPr>
                    <a:lnL w="12700" cap="flat" cmpd="sng" algn="ctr">
                      <a:solidFill>
                        <a:srgbClr val="000000"/>
                      </a:solidFill>
                      <a:prstDash val="solid"/>
                      <a:round/>
                      <a:headEnd type="none" w="med" len="med"/>
                      <a:tailEnd type="none" w="med" len="med"/>
                    </a:lnL>
                  </a:tcPr>
                </a:tc>
                <a:extLst>
                  <a:ext uri="{0D108BD9-81ED-4DB2-BD59-A6C34878D82A}">
                    <a16:rowId xmlns:a16="http://schemas.microsoft.com/office/drawing/2014/main" val="653367951"/>
                  </a:ext>
                </a:extLst>
              </a:tr>
              <a:tr h="462421">
                <a:tc>
                  <a:txBody>
                    <a:bodyPr/>
                    <a:lstStyle/>
                    <a:p>
                      <a:pPr algn="l">
                        <a:lnSpc>
                          <a:spcPct val="107000"/>
                        </a:lnSpc>
                        <a:spcAft>
                          <a:spcPts val="800"/>
                        </a:spcAft>
                        <a:buNone/>
                      </a:pPr>
                      <a:r>
                        <a:rPr lang="es-MX" sz="1200" b="1" kern="100" dirty="0">
                          <a:effectLst/>
                          <a:latin typeface="+mn-lt"/>
                          <a:ea typeface="Calibri" panose="020F0502020204030204" pitchFamily="34" charset="0"/>
                          <a:cs typeface="Times New Roman" panose="02020603050405020304" pitchFamily="18" charset="0"/>
                        </a:rPr>
                        <a:t>Momento</a:t>
                      </a:r>
                    </a:p>
                  </a:txBody>
                  <a:tcPr marL="48115" marR="481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1200" b="1" kern="100" dirty="0">
                          <a:effectLst/>
                          <a:latin typeface="+mn-lt"/>
                          <a:ea typeface="Calibri" panose="020F0502020204030204" pitchFamily="34" charset="0"/>
                          <a:cs typeface="Times New Roman" panose="02020603050405020304" pitchFamily="18" charset="0"/>
                        </a:rPr>
                        <a:t>                                                               Actividades</a:t>
                      </a:r>
                    </a:p>
                    <a:p>
                      <a:pPr marL="0" marR="0" lvl="0" indent="0" algn="l" defTabSz="914400" rtl="0" eaLnBrk="1" fontAlgn="auto" latinLnBrk="0" hangingPunct="1">
                        <a:lnSpc>
                          <a:spcPct val="107000"/>
                        </a:lnSpc>
                        <a:spcBef>
                          <a:spcPts val="0"/>
                        </a:spcBef>
                        <a:spcAft>
                          <a:spcPts val="800"/>
                        </a:spcAft>
                        <a:buClrTx/>
                        <a:buSzTx/>
                        <a:buFontTx/>
                        <a:buNone/>
                        <a:tabLst/>
                        <a:defRPr/>
                      </a:pPr>
                      <a:r>
                        <a:rPr lang="es-MX" sz="1200" b="1" kern="100" dirty="0">
                          <a:effectLst/>
                          <a:latin typeface="+mn-lt"/>
                          <a:cs typeface="Times New Roman" panose="02020603050405020304" pitchFamily="18" charset="0"/>
                        </a:rPr>
                        <a:t>          </a:t>
                      </a:r>
                      <a:endParaRPr lang="es-MX" sz="1200" kern="100" dirty="0">
                        <a:effectLst/>
                        <a:latin typeface="+mn-lt"/>
                        <a:cs typeface="Times New Roman" panose="02020603050405020304" pitchFamily="18" charset="0"/>
                      </a:endParaRPr>
                    </a:p>
                  </a:txBody>
                  <a:tcPr marL="48115" marR="481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tcPr>
                </a:tc>
                <a:tc>
                  <a:txBody>
                    <a:bodyPr/>
                    <a:lstStyle/>
                    <a:p>
                      <a:pPr algn="l">
                        <a:lnSpc>
                          <a:spcPct val="107000"/>
                        </a:lnSpc>
                        <a:spcAft>
                          <a:spcPts val="800"/>
                        </a:spcAft>
                        <a:buNone/>
                      </a:pPr>
                      <a:r>
                        <a:rPr lang="es-MX" sz="1200" b="1" kern="100" dirty="0">
                          <a:effectLst/>
                          <a:latin typeface="+mn-lt"/>
                          <a:ea typeface="Calibri" panose="020F0502020204030204" pitchFamily="34" charset="0"/>
                          <a:cs typeface="Times New Roman" panose="02020603050405020304" pitchFamily="18" charset="0"/>
                        </a:rPr>
                        <a:t>                                                          Recurso</a:t>
                      </a:r>
                    </a:p>
                  </a:txBody>
                  <a:tcPr marL="48115" marR="48115" marT="0" marB="0">
                    <a:lnL w="12700" cap="flat" cmpd="sng" algn="ctr">
                      <a:solidFill>
                        <a:srgbClr val="000000"/>
                      </a:solidFill>
                      <a:prstDash val="solid"/>
                      <a:round/>
                      <a:headEnd type="none" w="med" len="med"/>
                      <a:tailEnd type="none" w="med" len="med"/>
                    </a:lnL>
                  </a:tcPr>
                </a:tc>
                <a:extLst>
                  <a:ext uri="{0D108BD9-81ED-4DB2-BD59-A6C34878D82A}">
                    <a16:rowId xmlns:a16="http://schemas.microsoft.com/office/drawing/2014/main" val="3414291849"/>
                  </a:ext>
                </a:extLst>
              </a:tr>
              <a:tr h="3612076">
                <a:tc>
                  <a:txBody>
                    <a:bodyPr/>
                    <a:lstStyle/>
                    <a:p>
                      <a:pPr algn="ctr">
                        <a:lnSpc>
                          <a:spcPct val="107000"/>
                        </a:lnSpc>
                        <a:spcAft>
                          <a:spcPts val="800"/>
                        </a:spcAft>
                        <a:buNone/>
                        <a:tabLst>
                          <a:tab pos="2082800" algn="l"/>
                        </a:tabLst>
                      </a:pPr>
                      <a:r>
                        <a:rPr lang="es-MX" sz="1200" b="1" kern="100" dirty="0">
                          <a:effectLst/>
                          <a:latin typeface="+mn-lt"/>
                          <a:ea typeface="Calibri" panose="020F0502020204030204" pitchFamily="34" charset="0"/>
                          <a:cs typeface="Times New Roman" panose="02020603050405020304" pitchFamily="18" charset="0"/>
                        </a:rPr>
                        <a:t> </a:t>
                      </a:r>
                      <a:endParaRPr lang="es-MX" sz="1200" kern="100" dirty="0">
                        <a:effectLst/>
                        <a:latin typeface="+mn-lt"/>
                        <a:ea typeface="Calibri" panose="020F0502020204030204" pitchFamily="34" charset="0"/>
                        <a:cs typeface="Times New Roman" panose="02020603050405020304" pitchFamily="18" charset="0"/>
                      </a:endParaRPr>
                    </a:p>
                    <a:p>
                      <a:pPr algn="ctr">
                        <a:lnSpc>
                          <a:spcPct val="107000"/>
                        </a:lnSpc>
                        <a:spcAft>
                          <a:spcPts val="800"/>
                        </a:spcAft>
                        <a:buNone/>
                        <a:tabLst>
                          <a:tab pos="2082800" algn="l"/>
                        </a:tabLst>
                      </a:pPr>
                      <a:r>
                        <a:rPr lang="es-MX" sz="1200" b="1" kern="100" dirty="0">
                          <a:effectLst/>
                          <a:latin typeface="+mn-lt"/>
                          <a:ea typeface="Calibri" panose="020F0502020204030204" pitchFamily="34" charset="0"/>
                          <a:cs typeface="Times New Roman" panose="02020603050405020304" pitchFamily="18" charset="0"/>
                        </a:rPr>
                        <a:t> </a:t>
                      </a:r>
                      <a:endParaRPr lang="es-MX" sz="1200" kern="100" dirty="0">
                        <a:effectLst/>
                        <a:latin typeface="+mn-lt"/>
                        <a:ea typeface="Calibri" panose="020F0502020204030204" pitchFamily="34" charset="0"/>
                        <a:cs typeface="Times New Roman" panose="02020603050405020304" pitchFamily="18" charset="0"/>
                      </a:endParaRPr>
                    </a:p>
                    <a:p>
                      <a:pPr algn="ctr">
                        <a:lnSpc>
                          <a:spcPct val="107000"/>
                        </a:lnSpc>
                        <a:spcAft>
                          <a:spcPts val="800"/>
                        </a:spcAft>
                        <a:buNone/>
                        <a:tabLst>
                          <a:tab pos="2082800" algn="l"/>
                        </a:tabLst>
                      </a:pPr>
                      <a:endParaRPr lang="es-MX" sz="1200" kern="100" dirty="0">
                        <a:effectLst/>
                        <a:latin typeface="+mn-lt"/>
                        <a:ea typeface="Calibri" panose="020F0502020204030204" pitchFamily="34" charset="0"/>
                        <a:cs typeface="Times New Roman" panose="02020603050405020304" pitchFamily="18" charset="0"/>
                      </a:endParaRPr>
                    </a:p>
                    <a:p>
                      <a:pPr algn="ctr">
                        <a:lnSpc>
                          <a:spcPct val="107000"/>
                        </a:lnSpc>
                        <a:spcAft>
                          <a:spcPts val="800"/>
                        </a:spcAft>
                        <a:buNone/>
                        <a:tabLst>
                          <a:tab pos="2082800" algn="l"/>
                        </a:tabLst>
                      </a:pPr>
                      <a:endParaRPr lang="es-MX" sz="1200" kern="100" dirty="0">
                        <a:effectLst/>
                        <a:latin typeface="+mn-lt"/>
                        <a:ea typeface="Calibri" panose="020F0502020204030204" pitchFamily="34" charset="0"/>
                        <a:cs typeface="Times New Roman" panose="02020603050405020304" pitchFamily="18" charset="0"/>
                      </a:endParaRPr>
                    </a:p>
                    <a:p>
                      <a:pPr algn="ctr">
                        <a:lnSpc>
                          <a:spcPct val="107000"/>
                        </a:lnSpc>
                        <a:spcAft>
                          <a:spcPts val="800"/>
                        </a:spcAft>
                        <a:buNone/>
                        <a:tabLst>
                          <a:tab pos="2082800" algn="l"/>
                        </a:tabLst>
                      </a:pPr>
                      <a:endParaRPr lang="es-MX" sz="1200" kern="100" dirty="0">
                        <a:effectLst/>
                        <a:latin typeface="+mn-lt"/>
                        <a:ea typeface="Calibri" panose="020F0502020204030204" pitchFamily="34" charset="0"/>
                        <a:cs typeface="Times New Roman" panose="02020603050405020304" pitchFamily="18" charset="0"/>
                      </a:endParaRPr>
                    </a:p>
                    <a:p>
                      <a:pPr algn="ctr">
                        <a:lnSpc>
                          <a:spcPct val="107000"/>
                        </a:lnSpc>
                        <a:spcAft>
                          <a:spcPts val="800"/>
                        </a:spcAft>
                        <a:buNone/>
                        <a:tabLst>
                          <a:tab pos="2082800" algn="l"/>
                        </a:tabLst>
                      </a:pPr>
                      <a:endParaRPr lang="es-MX" sz="1200" kern="100" dirty="0">
                        <a:effectLst/>
                        <a:latin typeface="+mn-lt"/>
                        <a:ea typeface="Calibri" panose="020F0502020204030204" pitchFamily="34" charset="0"/>
                        <a:cs typeface="Times New Roman" panose="02020603050405020304" pitchFamily="18" charset="0"/>
                      </a:endParaRPr>
                    </a:p>
                    <a:p>
                      <a:pPr algn="ctr">
                        <a:lnSpc>
                          <a:spcPct val="107000"/>
                        </a:lnSpc>
                        <a:spcAft>
                          <a:spcPts val="800"/>
                        </a:spcAft>
                        <a:buNone/>
                        <a:tabLst>
                          <a:tab pos="2082800" algn="l"/>
                        </a:tabLst>
                      </a:pPr>
                      <a:r>
                        <a:rPr lang="es-MX" sz="1200" kern="100" dirty="0">
                          <a:effectLst/>
                          <a:latin typeface="+mn-lt"/>
                          <a:ea typeface="Calibri" panose="020F0502020204030204" pitchFamily="34" charset="0"/>
                          <a:cs typeface="Times New Roman" panose="02020603050405020304" pitchFamily="18" charset="0"/>
                        </a:rPr>
                        <a:t>Resolver en Común</a:t>
                      </a:r>
                    </a:p>
                  </a:txBody>
                  <a:tcPr marL="54836" marR="548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400050" indent="-171450" algn="l">
                        <a:lnSpc>
                          <a:spcPct val="115000"/>
                        </a:lnSpc>
                        <a:buFont typeface="Wingdings" panose="05000000000000000000" pitchFamily="2" charset="2"/>
                        <a:buChar char="Ø"/>
                      </a:pPr>
                      <a:r>
                        <a:rPr lang="es-MX" sz="1200" kern="100" dirty="0">
                          <a:effectLst/>
                          <a:latin typeface="+mn-lt"/>
                          <a:ea typeface="Calibri" panose="020F0502020204030204" pitchFamily="34" charset="0"/>
                          <a:cs typeface="Times New Roman" panose="02020603050405020304" pitchFamily="18" charset="0"/>
                        </a:rPr>
                        <a:t>Dar inicio a las actividades de esta jornada con la canción el maíz  </a:t>
                      </a:r>
                      <a:r>
                        <a:rPr lang="es-MX" sz="1200" u="sng" kern="100" dirty="0">
                          <a:solidFill>
                            <a:srgbClr val="0563C1"/>
                          </a:solidFill>
                          <a:effectLst/>
                          <a:latin typeface="+mn-lt"/>
                          <a:ea typeface="Calibri" panose="020F0502020204030204" pitchFamily="34" charset="0"/>
                          <a:cs typeface="Times New Roman" panose="02020603050405020304" pitchFamily="18" charset="0"/>
                          <a:hlinkClick r:id="rId2"/>
                        </a:rPr>
                        <a:t>https://www.youtube.com/watch?v=b4FrILpELL0</a:t>
                      </a:r>
                      <a:r>
                        <a:rPr lang="es-MX" sz="1200" kern="100" dirty="0">
                          <a:effectLst/>
                          <a:latin typeface="+mn-lt"/>
                          <a:ea typeface="Calibri" panose="020F0502020204030204" pitchFamily="34" charset="0"/>
                          <a:cs typeface="Times New Roman" panose="02020603050405020304" pitchFamily="18" charset="0"/>
                        </a:rPr>
                        <a:t>, todos los alumnos participaran de manera activa.</a:t>
                      </a:r>
                    </a:p>
                    <a:p>
                      <a:pPr marL="342900" lvl="0" indent="-342900" algn="l">
                        <a:lnSpc>
                          <a:spcPct val="115000"/>
                        </a:lnSpc>
                        <a:spcAft>
                          <a:spcPts val="10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Iniciar las actividades con los alumnos y (as) sobre la leyenda del maíz, recordando la sesión antes vista y rescatar las ideas principales que nos cuenta la leyenda , todos los alumnos muy atentos y en un lugar cómodo observaran la siguiente proyección </a:t>
                      </a:r>
                      <a:r>
                        <a:rPr lang="es-MX" sz="1200" u="sng" kern="100" dirty="0">
                          <a:solidFill>
                            <a:srgbClr val="0563C1"/>
                          </a:solidFill>
                          <a:effectLst/>
                          <a:latin typeface="+mn-lt"/>
                          <a:ea typeface="Calibri" panose="020F0502020204030204" pitchFamily="34" charset="0"/>
                          <a:cs typeface="Times New Roman" panose="02020603050405020304" pitchFamily="18" charset="0"/>
                          <a:hlinkClick r:id="rId3"/>
                        </a:rPr>
                        <a:t>https://www.youtube.com/watch?v=Ual3MzX1RHk</a:t>
                      </a:r>
                      <a:endParaRPr lang="es-MX" sz="1200" kern="100" dirty="0">
                        <a:effectLst/>
                        <a:latin typeface="+mn-lt"/>
                        <a:ea typeface="Calibri" panose="020F0502020204030204" pitchFamily="34" charset="0"/>
                        <a:cs typeface="Times New Roman" panose="02020603050405020304" pitchFamily="18" charset="0"/>
                      </a:endParaRPr>
                    </a:p>
                    <a:p>
                      <a:pPr marL="342900" lvl="0" indent="-342900" algn="l">
                        <a:lnSpc>
                          <a:spcPct val="115000"/>
                        </a:lnSpc>
                        <a:spcAft>
                          <a:spcPts val="10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Comentar ante el grupo que fue lo que les gusto del video y que aportaciones tenemos ahora del maíz, mismas que serán comparadas con el registro echo en sesiones anteriores.</a:t>
                      </a:r>
                    </a:p>
                    <a:p>
                      <a:pPr marL="342900" lvl="0" indent="-342900" algn="l">
                        <a:lnSpc>
                          <a:spcPct val="115000"/>
                        </a:lnSpc>
                        <a:spcAft>
                          <a:spcPts val="10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Observar muy atentos el collage que se realizó en la sesión anterior y contar en voz alta cuantos colores tiene, mencionar que colores son y que representa, de manera individual realizara una descripción del collage expuesto.</a:t>
                      </a:r>
                    </a:p>
                    <a:p>
                      <a:pPr marL="342900" lvl="0" indent="-342900" algn="l">
                        <a:lnSpc>
                          <a:spcPct val="115000"/>
                        </a:lnSpc>
                        <a:spcAft>
                          <a:spcPts val="10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En una lámina grande escribir la palabra </a:t>
                      </a:r>
                      <a:r>
                        <a:rPr lang="es-MX" sz="1200" kern="100" dirty="0">
                          <a:solidFill>
                            <a:srgbClr val="EE0000"/>
                          </a:solidFill>
                          <a:effectLst/>
                          <a:latin typeface="+mn-lt"/>
                          <a:ea typeface="Calibri" panose="020F0502020204030204" pitchFamily="34" charset="0"/>
                          <a:cs typeface="Times New Roman" panose="02020603050405020304" pitchFamily="18" charset="0"/>
                        </a:rPr>
                        <a:t>M</a:t>
                      </a:r>
                      <a:r>
                        <a:rPr lang="es-MX" sz="1200" kern="100" dirty="0">
                          <a:effectLst/>
                          <a:latin typeface="+mn-lt"/>
                          <a:ea typeface="Calibri" panose="020F0502020204030204" pitchFamily="34" charset="0"/>
                          <a:cs typeface="Times New Roman" panose="02020603050405020304" pitchFamily="18" charset="0"/>
                        </a:rPr>
                        <a:t>AIZ , la docente solicitara a los alumnos(as) que observen las imágenes que tienen en su mesa y buscar la imagen cuyo nombre inicie con la letra m, pegar la imagen sobre la lamina  y al finalizar de forma grupal se mencionara el nombre de cada imagen.</a:t>
                      </a:r>
                    </a:p>
                    <a:p>
                      <a:pPr marL="342900" lvl="0" indent="-342900" algn="l">
                        <a:lnSpc>
                          <a:spcPct val="115000"/>
                        </a:lnSpc>
                        <a:spcAft>
                          <a:spcPts val="10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Brindar tarjetas  a los alumnos (as) con imágenes que represente elementos del maíz y solicitar a los alum os que en pares jugaremos </a:t>
                      </a:r>
                      <a:r>
                        <a:rPr lang="es-MX" sz="1200" kern="100" dirty="0" err="1">
                          <a:effectLst/>
                          <a:latin typeface="+mn-lt"/>
                          <a:ea typeface="Calibri" panose="020F0502020204030204" pitchFamily="34" charset="0"/>
                          <a:cs typeface="Times New Roman" panose="02020603050405020304" pitchFamily="18" charset="0"/>
                        </a:rPr>
                        <a:t>memorama</a:t>
                      </a:r>
                      <a:r>
                        <a:rPr lang="es-MX" sz="1200" kern="100" dirty="0">
                          <a:effectLst/>
                          <a:latin typeface="+mn-lt"/>
                          <a:ea typeface="Calibri" panose="020F0502020204030204" pitchFamily="34" charset="0"/>
                          <a:cs typeface="Times New Roman" panose="02020603050405020304" pitchFamily="18" charset="0"/>
                        </a:rPr>
                        <a:t> ,identificar imagen y letra inicial </a:t>
                      </a:r>
                    </a:p>
                  </a:txBody>
                  <a:tcPr marL="54836" marR="548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proyector</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Laptop</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Bocina</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Imágenes </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Lamina</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Marcadores</a:t>
                      </a:r>
                    </a:p>
                    <a:p>
                      <a:pPr algn="l">
                        <a:lnSpc>
                          <a:spcPct val="107000"/>
                        </a:lnSpc>
                        <a:spcAft>
                          <a:spcPts val="800"/>
                        </a:spcAft>
                        <a:buNone/>
                      </a:pPr>
                      <a:r>
                        <a:rPr lang="es-MX" sz="1200" kern="100" dirty="0" err="1">
                          <a:effectLst/>
                          <a:latin typeface="+mn-lt"/>
                          <a:ea typeface="Calibri" panose="020F0502020204030204" pitchFamily="34" charset="0"/>
                          <a:cs typeface="Times New Roman" panose="02020603050405020304" pitchFamily="18" charset="0"/>
                        </a:rPr>
                        <a:t>memorama</a:t>
                      </a:r>
                      <a:endParaRPr lang="es-MX" sz="1200" kern="100" dirty="0">
                        <a:effectLst/>
                        <a:latin typeface="+mn-lt"/>
                        <a:ea typeface="Calibri" panose="020F0502020204030204" pitchFamily="34" charset="0"/>
                        <a:cs typeface="Times New Roman" panose="02020603050405020304" pitchFamily="18" charset="0"/>
                      </a:endParaRPr>
                    </a:p>
                  </a:txBody>
                  <a:tcPr marL="54836" marR="548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32231694"/>
                  </a:ext>
                </a:extLst>
              </a:tr>
              <a:tr h="792786">
                <a:tc>
                  <a:txBody>
                    <a:bodyPr/>
                    <a:lstStyle/>
                    <a:p>
                      <a:pPr algn="l">
                        <a:lnSpc>
                          <a:spcPct val="107000"/>
                        </a:lnSpc>
                        <a:spcAft>
                          <a:spcPts val="800"/>
                        </a:spcAft>
                        <a:buNone/>
                      </a:pPr>
                      <a:r>
                        <a:rPr lang="es-MX" sz="1200" kern="100">
                          <a:effectLst/>
                          <a:latin typeface="+mn-lt"/>
                          <a:ea typeface="Calibri" panose="020F0502020204030204" pitchFamily="34" charset="0"/>
                          <a:cs typeface="Times New Roman" panose="02020603050405020304" pitchFamily="18" charset="0"/>
                        </a:rPr>
                        <a:t>Marcos de oración</a:t>
                      </a:r>
                    </a:p>
                  </a:txBody>
                  <a:tcPr marL="54836" marR="548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El maíz es alimento         in </a:t>
                      </a:r>
                      <a:r>
                        <a:rPr lang="es-MX" sz="1200" kern="100" dirty="0" err="1">
                          <a:effectLst/>
                          <a:latin typeface="+mn-lt"/>
                          <a:ea typeface="Calibri" panose="020F0502020204030204" pitchFamily="34" charset="0"/>
                          <a:cs typeface="Times New Roman" panose="02020603050405020304" pitchFamily="18" charset="0"/>
                        </a:rPr>
                        <a:t>taoli</a:t>
                      </a:r>
                      <a:r>
                        <a:rPr lang="es-MX" sz="1200" kern="100" dirty="0">
                          <a:effectLst/>
                          <a:latin typeface="+mn-lt"/>
                          <a:ea typeface="Calibri" panose="020F0502020204030204" pitchFamily="34" charset="0"/>
                          <a:cs typeface="Times New Roman" panose="02020603050405020304" pitchFamily="18" charset="0"/>
                        </a:rPr>
                        <a:t> no </a:t>
                      </a:r>
                      <a:r>
                        <a:rPr lang="es-MX" sz="1200" kern="100" dirty="0" err="1">
                          <a:effectLst/>
                          <a:latin typeface="+mn-lt"/>
                          <a:ea typeface="Calibri" panose="020F0502020204030204" pitchFamily="34" charset="0"/>
                          <a:cs typeface="Times New Roman" panose="02020603050405020304" pitchFamily="18" charset="0"/>
                        </a:rPr>
                        <a:t>tonalcayotl</a:t>
                      </a:r>
                      <a:endParaRPr lang="es-MX" sz="1200" kern="100" dirty="0">
                        <a:effectLst/>
                        <a:latin typeface="+mn-lt"/>
                        <a:ea typeface="Calibri" panose="020F0502020204030204" pitchFamily="34" charset="0"/>
                        <a:cs typeface="Times New Roman" panose="02020603050405020304" pitchFamily="18" charset="0"/>
                      </a:endParaRP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El maíz es blanco            in </a:t>
                      </a:r>
                      <a:r>
                        <a:rPr lang="es-MX" sz="1200" kern="100" dirty="0" err="1">
                          <a:effectLst/>
                          <a:latin typeface="+mn-lt"/>
                          <a:ea typeface="Calibri" panose="020F0502020204030204" pitchFamily="34" charset="0"/>
                          <a:cs typeface="Times New Roman" panose="02020603050405020304" pitchFamily="18" charset="0"/>
                        </a:rPr>
                        <a:t>tlaoli</a:t>
                      </a:r>
                      <a:r>
                        <a:rPr lang="es-MX" sz="1200" kern="100" dirty="0">
                          <a:effectLst/>
                          <a:latin typeface="+mn-lt"/>
                          <a:ea typeface="Calibri" panose="020F0502020204030204" pitchFamily="34" charset="0"/>
                          <a:cs typeface="Times New Roman" panose="02020603050405020304" pitchFamily="18" charset="0"/>
                        </a:rPr>
                        <a:t> </a:t>
                      </a:r>
                      <a:r>
                        <a:rPr lang="es-MX" sz="1200" kern="100" dirty="0" err="1">
                          <a:effectLst/>
                          <a:latin typeface="+mn-lt"/>
                          <a:ea typeface="Calibri" panose="020F0502020204030204" pitchFamily="34" charset="0"/>
                          <a:cs typeface="Times New Roman" panose="02020603050405020304" pitchFamily="18" charset="0"/>
                        </a:rPr>
                        <a:t>iztac</a:t>
                      </a:r>
                      <a:endParaRPr lang="es-MX" sz="1200" kern="100" dirty="0">
                        <a:effectLst/>
                        <a:latin typeface="+mn-lt"/>
                        <a:ea typeface="Calibri" panose="020F0502020204030204" pitchFamily="34" charset="0"/>
                        <a:cs typeface="Times New Roman" panose="02020603050405020304" pitchFamily="18" charset="0"/>
                      </a:endParaRP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txBody>
                  <a:tcPr marL="54836" marR="548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900" kern="100" dirty="0">
                          <a:effectLst/>
                          <a:latin typeface="Calibri" panose="020F0502020204030204" pitchFamily="34" charset="0"/>
                          <a:ea typeface="Calibri" panose="020F0502020204030204" pitchFamily="34" charset="0"/>
                          <a:cs typeface="Times New Roman" panose="02020603050405020304" pitchFamily="18" charset="0"/>
                        </a:rPr>
                        <a:t> </a:t>
                      </a:r>
                    </a:p>
                  </a:txBody>
                  <a:tcPr marL="54836" marR="548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74042004"/>
                  </a:ext>
                </a:extLst>
              </a:tr>
            </a:tbl>
          </a:graphicData>
        </a:graphic>
      </p:graphicFrame>
    </p:spTree>
    <p:extLst>
      <p:ext uri="{BB962C8B-B14F-4D97-AF65-F5344CB8AC3E}">
        <p14:creationId xmlns:p14="http://schemas.microsoft.com/office/powerpoint/2010/main" val="21390297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FAD06-08B8-F82D-970A-8F7F430A7136}"/>
            </a:ext>
          </a:extLst>
        </p:cNvPr>
        <p:cNvGrpSpPr/>
        <p:nvPr/>
      </p:nvGrpSpPr>
      <p:grpSpPr>
        <a:xfrm>
          <a:off x="0" y="0"/>
          <a:ext cx="0" cy="0"/>
          <a:chOff x="0" y="0"/>
          <a:chExt cx="0" cy="0"/>
        </a:xfrm>
      </p:grpSpPr>
      <p:graphicFrame>
        <p:nvGraphicFramePr>
          <p:cNvPr id="3" name="Tabla 2">
            <a:extLst>
              <a:ext uri="{FF2B5EF4-FFF2-40B4-BE49-F238E27FC236}">
                <a16:creationId xmlns:a16="http://schemas.microsoft.com/office/drawing/2014/main" id="{92E8505F-BC46-0E74-8261-B0F7689D5BD8}"/>
              </a:ext>
            </a:extLst>
          </p:cNvPr>
          <p:cNvGraphicFramePr>
            <a:graphicFrameLocks noGrp="1"/>
          </p:cNvGraphicFramePr>
          <p:nvPr>
            <p:extLst>
              <p:ext uri="{D42A27DB-BD31-4B8C-83A1-F6EECF244321}">
                <p14:modId xmlns:p14="http://schemas.microsoft.com/office/powerpoint/2010/main" val="1805202980"/>
              </p:ext>
            </p:extLst>
          </p:nvPr>
        </p:nvGraphicFramePr>
        <p:xfrm>
          <a:off x="261257" y="167308"/>
          <a:ext cx="11800113" cy="6426045"/>
        </p:xfrm>
        <a:graphic>
          <a:graphicData uri="http://schemas.openxmlformats.org/drawingml/2006/table">
            <a:tbl>
              <a:tblPr firstRow="1" firstCol="1" bandRow="1"/>
              <a:tblGrid>
                <a:gridCol w="2312626">
                  <a:extLst>
                    <a:ext uri="{9D8B030D-6E8A-4147-A177-3AD203B41FA5}">
                      <a16:colId xmlns:a16="http://schemas.microsoft.com/office/drawing/2014/main" val="779773693"/>
                    </a:ext>
                  </a:extLst>
                </a:gridCol>
                <a:gridCol w="7615435">
                  <a:extLst>
                    <a:ext uri="{9D8B030D-6E8A-4147-A177-3AD203B41FA5}">
                      <a16:colId xmlns:a16="http://schemas.microsoft.com/office/drawing/2014/main" val="2445801160"/>
                    </a:ext>
                  </a:extLst>
                </a:gridCol>
                <a:gridCol w="1872052">
                  <a:extLst>
                    <a:ext uri="{9D8B030D-6E8A-4147-A177-3AD203B41FA5}">
                      <a16:colId xmlns:a16="http://schemas.microsoft.com/office/drawing/2014/main" val="3065619989"/>
                    </a:ext>
                  </a:extLst>
                </a:gridCol>
              </a:tblGrid>
              <a:tr h="1089992">
                <a:tc gridSpan="3">
                  <a:txBody>
                    <a:bodyPr/>
                    <a:lstStyle/>
                    <a:p>
                      <a:pPr algn="l">
                        <a:lnSpc>
                          <a:spcPct val="100000"/>
                        </a:lnSpc>
                        <a:spcAft>
                          <a:spcPts val="800"/>
                        </a:spcAft>
                        <a:buNone/>
                      </a:pPr>
                      <a:r>
                        <a:rPr lang="es-MX" sz="1200" b="1" kern="100" dirty="0">
                          <a:solidFill>
                            <a:srgbClr val="2E74B5"/>
                          </a:solidFill>
                          <a:effectLst/>
                          <a:latin typeface="+mn-lt"/>
                          <a:ea typeface="Calibri" panose="020F0502020204030204" pitchFamily="34" charset="0"/>
                          <a:cs typeface="Times New Roman" panose="02020603050405020304" pitchFamily="18" charset="0"/>
                        </a:rPr>
                        <a:t>                                                                                                                                                 Sesión</a:t>
                      </a:r>
                      <a:r>
                        <a:rPr lang="es-MX" sz="1200" b="0" kern="100" dirty="0">
                          <a:solidFill>
                            <a:srgbClr val="2E74B5"/>
                          </a:solidFill>
                          <a:effectLst/>
                          <a:latin typeface="+mn-lt"/>
                          <a:ea typeface="Calibri" panose="020F0502020204030204" pitchFamily="34" charset="0"/>
                          <a:cs typeface="Times New Roman" panose="02020603050405020304" pitchFamily="18" charset="0"/>
                        </a:rPr>
                        <a:t>:          </a:t>
                      </a:r>
                      <a:r>
                        <a:rPr lang="es-MX" sz="1200" b="0" kern="100" dirty="0">
                          <a:solidFill>
                            <a:srgbClr val="000000"/>
                          </a:solidFill>
                          <a:effectLst/>
                          <a:latin typeface="+mn-lt"/>
                          <a:ea typeface="Calibri" panose="020F0502020204030204" pitchFamily="34" charset="0"/>
                          <a:cs typeface="Times New Roman" panose="02020603050405020304" pitchFamily="18" charset="0"/>
                        </a:rPr>
                        <a:t>5</a:t>
                      </a:r>
                      <a:r>
                        <a:rPr lang="es-MX" sz="1200" b="0" kern="100" dirty="0">
                          <a:solidFill>
                            <a:srgbClr val="2E74B5"/>
                          </a:solidFill>
                          <a:effectLst/>
                          <a:latin typeface="+mn-lt"/>
                          <a:ea typeface="Calibri" panose="020F0502020204030204" pitchFamily="34" charset="0"/>
                          <a:cs typeface="Times New Roman" panose="02020603050405020304" pitchFamily="18" charset="0"/>
                        </a:rPr>
                        <a:t>                         </a:t>
                      </a:r>
                      <a:endParaRPr lang="es-MX" sz="1200" b="0" kern="100" dirty="0">
                        <a:effectLst/>
                        <a:latin typeface="+mn-lt"/>
                        <a:ea typeface="Calibri" panose="020F0502020204030204" pitchFamily="34" charset="0"/>
                        <a:cs typeface="Times New Roman" panose="02020603050405020304" pitchFamily="18" charset="0"/>
                      </a:endParaRPr>
                    </a:p>
                    <a:p>
                      <a:pPr algn="ctr">
                        <a:lnSpc>
                          <a:spcPct val="100000"/>
                        </a:lnSpc>
                        <a:spcAft>
                          <a:spcPts val="800"/>
                        </a:spcAft>
                        <a:buNone/>
                      </a:pPr>
                      <a:r>
                        <a:rPr lang="es-MX" sz="1200" b="0" kern="100" dirty="0">
                          <a:solidFill>
                            <a:srgbClr val="2E74B5"/>
                          </a:solidFill>
                          <a:effectLst/>
                          <a:latin typeface="+mn-lt"/>
                          <a:ea typeface="Calibri" panose="020F0502020204030204" pitchFamily="34" charset="0"/>
                          <a:cs typeface="Times New Roman" panose="02020603050405020304" pitchFamily="18" charset="0"/>
                        </a:rPr>
                        <a:t>Fecha:       </a:t>
                      </a:r>
                      <a:r>
                        <a:rPr lang="es-MX" sz="1200" b="0" kern="100" dirty="0">
                          <a:solidFill>
                            <a:srgbClr val="000000"/>
                          </a:solidFill>
                          <a:effectLst/>
                          <a:latin typeface="+mn-lt"/>
                          <a:ea typeface="Calibri" panose="020F0502020204030204" pitchFamily="34" charset="0"/>
                          <a:cs typeface="Times New Roman" panose="02020603050405020304" pitchFamily="18" charset="0"/>
                        </a:rPr>
                        <a:t>Viernes 16 de enero de 2026</a:t>
                      </a:r>
                    </a:p>
                    <a:p>
                      <a:pPr algn="ctr">
                        <a:lnSpc>
                          <a:spcPct val="100000"/>
                        </a:lnSpc>
                        <a:spcAft>
                          <a:spcPts val="800"/>
                        </a:spcAft>
                        <a:buNone/>
                      </a:pPr>
                      <a:r>
                        <a:rPr lang="es-MX" sz="1200" b="0" kern="100" dirty="0">
                          <a:solidFill>
                            <a:srgbClr val="2E74B5"/>
                          </a:solidFill>
                          <a:effectLst/>
                          <a:latin typeface="+mn-lt"/>
                          <a:ea typeface="Calibri" panose="020F0502020204030204" pitchFamily="34" charset="0"/>
                          <a:cs typeface="Times New Roman" panose="02020603050405020304" pitchFamily="18" charset="0"/>
                        </a:rPr>
                        <a:t> Subtema:   </a:t>
                      </a:r>
                      <a:r>
                        <a:rPr lang="es-MX" sz="1200" b="0" kern="100" dirty="0">
                          <a:effectLst/>
                          <a:latin typeface="+mn-lt"/>
                          <a:ea typeface="Calibri" panose="020F0502020204030204" pitchFamily="34" charset="0"/>
                          <a:cs typeface="Times New Roman" panose="02020603050405020304" pitchFamily="18" charset="0"/>
                        </a:rPr>
                        <a:t>El maíz en mi comunidad</a:t>
                      </a:r>
                    </a:p>
                    <a:p>
                      <a:pPr algn="l">
                        <a:lnSpc>
                          <a:spcPct val="100000"/>
                        </a:lnSpc>
                        <a:spcAft>
                          <a:spcPts val="800"/>
                        </a:spcAft>
                        <a:buNone/>
                      </a:pPr>
                      <a:r>
                        <a:rPr lang="es-MX" sz="1200" b="0" kern="100" dirty="0">
                          <a:solidFill>
                            <a:srgbClr val="2E74B5"/>
                          </a:solidFill>
                          <a:effectLst/>
                          <a:latin typeface="+mn-lt"/>
                          <a:ea typeface="Calibri" panose="020F0502020204030204" pitchFamily="34" charset="0"/>
                          <a:cs typeface="Times New Roman" panose="02020603050405020304" pitchFamily="18" charset="0"/>
                        </a:rPr>
                        <a:t>                                                                                                                                              Actividad:</a:t>
                      </a:r>
                      <a:r>
                        <a:rPr lang="es-MX" sz="1200" b="0" kern="100" dirty="0">
                          <a:effectLst/>
                          <a:latin typeface="+mn-lt"/>
                          <a:ea typeface="Calibri" panose="020F0502020204030204" pitchFamily="34" charset="0"/>
                          <a:cs typeface="Times New Roman" panose="02020603050405020304" pitchFamily="18" charset="0"/>
                        </a:rPr>
                        <a:t> Nombramos lo que hicimos</a:t>
                      </a:r>
                    </a:p>
                  </a:txBody>
                  <a:tcPr marL="49116" marR="4911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s-MX"/>
                    </a:p>
                  </a:txBody>
                  <a:tcPr/>
                </a:tc>
                <a:tc hMerge="1">
                  <a:txBody>
                    <a:bodyPr/>
                    <a:lstStyle/>
                    <a:p>
                      <a:endParaRPr lang="es-MX"/>
                    </a:p>
                  </a:txBody>
                  <a:tcPr/>
                </a:tc>
                <a:extLst>
                  <a:ext uri="{0D108BD9-81ED-4DB2-BD59-A6C34878D82A}">
                    <a16:rowId xmlns:a16="http://schemas.microsoft.com/office/drawing/2014/main" val="1324166750"/>
                  </a:ext>
                </a:extLst>
              </a:tr>
              <a:tr h="543849">
                <a:tc>
                  <a:txBody>
                    <a:bodyPr/>
                    <a:lstStyle/>
                    <a:p>
                      <a:pPr algn="l">
                        <a:lnSpc>
                          <a:spcPct val="107000"/>
                        </a:lnSpc>
                        <a:spcAft>
                          <a:spcPts val="800"/>
                        </a:spcAft>
                        <a:buNone/>
                      </a:pPr>
                      <a:r>
                        <a:rPr lang="es-MX" sz="1200" b="1" kern="100" dirty="0">
                          <a:effectLst/>
                          <a:latin typeface="+mn-lt"/>
                          <a:ea typeface="Calibri" panose="020F0502020204030204" pitchFamily="34" charset="0"/>
                          <a:cs typeface="Times New Roman" panose="02020603050405020304" pitchFamily="18" charset="0"/>
                        </a:rPr>
                        <a:t>Momento</a:t>
                      </a:r>
                    </a:p>
                  </a:txBody>
                  <a:tcPr marL="48115" marR="481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1200" b="1" kern="100" dirty="0">
                          <a:effectLst/>
                          <a:latin typeface="+mn-lt"/>
                          <a:ea typeface="Calibri" panose="020F0502020204030204" pitchFamily="34" charset="0"/>
                          <a:cs typeface="Times New Roman" panose="02020603050405020304" pitchFamily="18" charset="0"/>
                        </a:rPr>
                        <a:t>                                                               Actividades</a:t>
                      </a:r>
                    </a:p>
                  </a:txBody>
                  <a:tcPr marL="48115" marR="481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s-MX" sz="1200" b="1" kern="100" dirty="0">
                          <a:effectLst/>
                          <a:latin typeface="+mn-lt"/>
                          <a:ea typeface="Calibri" panose="020F0502020204030204" pitchFamily="34" charset="0"/>
                          <a:cs typeface="Times New Roman" panose="02020603050405020304" pitchFamily="18" charset="0"/>
                        </a:rPr>
                        <a:t>                                 Recurso</a:t>
                      </a:r>
                    </a:p>
                  </a:txBody>
                  <a:tcPr marL="48115" marR="481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94499324"/>
                  </a:ext>
                </a:extLst>
              </a:tr>
              <a:tr h="4146962">
                <a:tc>
                  <a:txBody>
                    <a:bodyPr/>
                    <a:lstStyle/>
                    <a:p>
                      <a:pPr algn="l">
                        <a:lnSpc>
                          <a:spcPct val="107000"/>
                        </a:lnSpc>
                        <a:spcAft>
                          <a:spcPts val="800"/>
                        </a:spcAft>
                        <a:buNone/>
                      </a:pPr>
                      <a:r>
                        <a:rPr lang="es-MX" sz="1200" b="1" kern="100" dirty="0">
                          <a:effectLst/>
                          <a:latin typeface="+mn-lt"/>
                          <a:ea typeface="Calibri" panose="020F0502020204030204" pitchFamily="34" charset="0"/>
                          <a:cs typeface="Times New Roman" panose="02020603050405020304" pitchFamily="18" charset="0"/>
                        </a:rPr>
                        <a:t> </a:t>
                      </a:r>
                      <a:endParaRPr lang="es-MX" sz="1200" kern="100" dirty="0">
                        <a:effectLst/>
                        <a:latin typeface="+mn-lt"/>
                        <a:ea typeface="Calibri" panose="020F0502020204030204" pitchFamily="34" charset="0"/>
                        <a:cs typeface="Times New Roman" panose="02020603050405020304" pitchFamily="18" charset="0"/>
                      </a:endParaRPr>
                    </a:p>
                    <a:p>
                      <a:pPr algn="l">
                        <a:lnSpc>
                          <a:spcPct val="107000"/>
                        </a:lnSpc>
                        <a:spcAft>
                          <a:spcPts val="800"/>
                        </a:spcAft>
                        <a:buNone/>
                      </a:pPr>
                      <a:r>
                        <a:rPr lang="es-MX" sz="1200" b="1" kern="100" dirty="0">
                          <a:effectLst/>
                          <a:latin typeface="+mn-lt"/>
                          <a:ea typeface="Calibri" panose="020F0502020204030204" pitchFamily="34" charset="0"/>
                          <a:cs typeface="Times New Roman" panose="02020603050405020304" pitchFamily="18" charset="0"/>
                        </a:rPr>
                        <a:t> </a:t>
                      </a:r>
                      <a:endParaRPr lang="es-MX" sz="1200" kern="100" dirty="0">
                        <a:effectLst/>
                        <a:latin typeface="+mn-lt"/>
                        <a:ea typeface="Calibri" panose="020F0502020204030204" pitchFamily="34" charset="0"/>
                        <a:cs typeface="Times New Roman" panose="02020603050405020304" pitchFamily="18" charset="0"/>
                      </a:endParaRPr>
                    </a:p>
                    <a:p>
                      <a:pPr algn="l">
                        <a:lnSpc>
                          <a:spcPct val="107000"/>
                        </a:lnSpc>
                        <a:spcAft>
                          <a:spcPts val="800"/>
                        </a:spcAft>
                        <a:buNone/>
                      </a:pPr>
                      <a:r>
                        <a:rPr lang="es-MX" sz="1200" b="1" kern="100" dirty="0">
                          <a:effectLst/>
                          <a:latin typeface="+mn-lt"/>
                          <a:ea typeface="Calibri" panose="020F0502020204030204" pitchFamily="34" charset="0"/>
                          <a:cs typeface="Times New Roman" panose="02020603050405020304" pitchFamily="18" charset="0"/>
                        </a:rPr>
                        <a:t> </a:t>
                      </a:r>
                      <a:endParaRPr lang="es-MX" sz="1200" kern="100" dirty="0">
                        <a:effectLst/>
                        <a:latin typeface="+mn-lt"/>
                        <a:ea typeface="Calibri" panose="020F0502020204030204" pitchFamily="34" charset="0"/>
                        <a:cs typeface="Times New Roman" panose="02020603050405020304" pitchFamily="18" charset="0"/>
                      </a:endParaRPr>
                    </a:p>
                    <a:p>
                      <a:pPr algn="l">
                        <a:lnSpc>
                          <a:spcPct val="107000"/>
                        </a:lnSpc>
                        <a:spcAft>
                          <a:spcPts val="800"/>
                        </a:spcAft>
                        <a:buNone/>
                      </a:pPr>
                      <a:endParaRPr lang="es-MX" sz="1200" b="0" kern="100" dirty="0">
                        <a:effectLst/>
                        <a:latin typeface="+mn-lt"/>
                        <a:ea typeface="Calibri" panose="020F0502020204030204" pitchFamily="34" charset="0"/>
                        <a:cs typeface="Times New Roman" panose="02020603050405020304" pitchFamily="18" charset="0"/>
                      </a:endParaRPr>
                    </a:p>
                    <a:p>
                      <a:pPr algn="l">
                        <a:lnSpc>
                          <a:spcPct val="107000"/>
                        </a:lnSpc>
                        <a:spcAft>
                          <a:spcPts val="800"/>
                        </a:spcAft>
                        <a:buNone/>
                      </a:pPr>
                      <a:endParaRPr lang="es-MX" sz="1200" b="0" kern="100" dirty="0">
                        <a:effectLst/>
                        <a:latin typeface="+mn-lt"/>
                        <a:ea typeface="Calibri" panose="020F0502020204030204" pitchFamily="34" charset="0"/>
                        <a:cs typeface="Times New Roman" panose="02020603050405020304" pitchFamily="18" charset="0"/>
                      </a:endParaRPr>
                    </a:p>
                    <a:p>
                      <a:pPr algn="l">
                        <a:lnSpc>
                          <a:spcPct val="107000"/>
                        </a:lnSpc>
                        <a:spcAft>
                          <a:spcPts val="800"/>
                        </a:spcAft>
                        <a:buNone/>
                      </a:pPr>
                      <a:r>
                        <a:rPr lang="es-MX" sz="1200" b="0" kern="100" dirty="0">
                          <a:effectLst/>
                          <a:latin typeface="+mn-lt"/>
                          <a:ea typeface="Calibri" panose="020F0502020204030204" pitchFamily="34" charset="0"/>
                          <a:cs typeface="Times New Roman" panose="02020603050405020304" pitchFamily="18" charset="0"/>
                        </a:rPr>
                        <a:t>     Comunicar y transferir</a:t>
                      </a:r>
                    </a:p>
                  </a:txBody>
                  <a:tcPr marL="49116" marR="4911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342900" lvl="0" indent="-342900" algn="l">
                        <a:lnSpc>
                          <a:spcPct val="100000"/>
                        </a:lnSpc>
                        <a:spcAft>
                          <a:spcPts val="10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Invitar a los alumnos (as) a que de manera colaborativa realicemos una exposición en el grupo, de los materiales que se realizaron en las sesiones anteriores, buscaremos un lugar dentro del salón y realicemos en el pizarrón los materiales que se necesitan para montar la exposición.</a:t>
                      </a:r>
                    </a:p>
                    <a:p>
                      <a:pPr marL="342900" lvl="0" indent="-342900" algn="l">
                        <a:lnSpc>
                          <a:spcPct val="100000"/>
                        </a:lnSpc>
                        <a:spcAft>
                          <a:spcPts val="10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Todos los alumnos (as) participan colaborativamente en colocar el collage, laminas, maíz de colores, imágenes en cartulina.</a:t>
                      </a:r>
                    </a:p>
                    <a:p>
                      <a:pPr marL="342900" lvl="0" indent="-342900" algn="l">
                        <a:lnSpc>
                          <a:spcPct val="100000"/>
                        </a:lnSpc>
                        <a:spcAft>
                          <a:spcPts val="10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Invitar a una persona de la comunidad a realizar una platica a cerca de los  Saberes, sabores y colores del maíz de San José Chapulco</a:t>
                      </a:r>
                    </a:p>
                    <a:p>
                      <a:pPr marL="342900" lvl="0" indent="-342900" algn="l">
                        <a:lnSpc>
                          <a:spcPct val="100000"/>
                        </a:lnSpc>
                        <a:spcAft>
                          <a:spcPts val="10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Invitar a los alumnos a que de manera ordenada pasean a realizar un recorrido por la exposición, la maestra indicara que observen muy bien.</a:t>
                      </a:r>
                    </a:p>
                    <a:p>
                      <a:pPr marL="342900" lvl="0" indent="-342900" algn="l">
                        <a:lnSpc>
                          <a:spcPct val="100000"/>
                        </a:lnSpc>
                        <a:spcAft>
                          <a:spcPts val="10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Solicitar a los alumnos a que levanten la mano quien quiera hacer una explicación de la exposición del maíz, colores y sabores que tiene y al mismo tiempo hacer una comparación de lo expuesto con la explicación de la señora que el día de hoy nos visita.</a:t>
                      </a:r>
                    </a:p>
                    <a:p>
                      <a:pPr marL="342900" lvl="0" indent="-342900" algn="l">
                        <a:lnSpc>
                          <a:spcPct val="100000"/>
                        </a:lnSpc>
                        <a:spcAft>
                          <a:spcPts val="10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De manera grupal los alumnos (as) cantaran la canción que hemos estado aprendiendo en las sesiones anteriores  </a:t>
                      </a:r>
                      <a:r>
                        <a:rPr lang="es-MX" sz="1200" u="sng" kern="100" dirty="0">
                          <a:solidFill>
                            <a:srgbClr val="0563C1"/>
                          </a:solidFill>
                          <a:effectLst/>
                          <a:latin typeface="+mn-lt"/>
                          <a:ea typeface="Calibri" panose="020F0502020204030204" pitchFamily="34" charset="0"/>
                          <a:cs typeface="Times New Roman" panose="02020603050405020304" pitchFamily="18" charset="0"/>
                          <a:hlinkClick r:id="rId2"/>
                        </a:rPr>
                        <a:t>https://www.youtube.com/watch?v=b4FrILpELL0</a:t>
                      </a:r>
                      <a:r>
                        <a:rPr lang="es-MX" sz="1200" kern="100" dirty="0">
                          <a:effectLst/>
                          <a:latin typeface="+mn-lt"/>
                          <a:ea typeface="Calibri" panose="020F0502020204030204" pitchFamily="34" charset="0"/>
                          <a:cs typeface="Times New Roman" panose="02020603050405020304" pitchFamily="18" charset="0"/>
                        </a:rPr>
                        <a:t>  canción del maíz </a:t>
                      </a:r>
                    </a:p>
                    <a:p>
                      <a:pPr marL="342900" lvl="0" indent="-342900" algn="l">
                        <a:lnSpc>
                          <a:spcPct val="100000"/>
                        </a:lnSpc>
                        <a:spcAft>
                          <a:spcPts val="10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En voz alta mencionar los marcos de oración </a:t>
                      </a:r>
                    </a:p>
                  </a:txBody>
                  <a:tcPr marL="49116" marR="4911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800" kern="100" dirty="0">
                          <a:effectLst/>
                          <a:latin typeface="Calibri" panose="020F0502020204030204" pitchFamily="34" charset="0"/>
                          <a:ea typeface="Calibri" panose="020F0502020204030204" pitchFamily="34" charset="0"/>
                          <a:cs typeface="Times New Roman" panose="02020603050405020304" pitchFamily="18" charset="0"/>
                        </a:rPr>
                        <a:t> </a:t>
                      </a:r>
                      <a:r>
                        <a:rPr lang="es-MX" sz="1200" kern="100" dirty="0">
                          <a:effectLst/>
                          <a:latin typeface="+mn-lt"/>
                          <a:ea typeface="Calibri" panose="020F0502020204030204" pitchFamily="34" charset="0"/>
                          <a:cs typeface="Times New Roman" panose="02020603050405020304" pitchFamily="18" charset="0"/>
                        </a:rPr>
                        <a:t>collage</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Imágenes</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Mesas</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Laptop </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Proyector </a:t>
                      </a:r>
                    </a:p>
                    <a:p>
                      <a:pPr algn="l">
                        <a:lnSpc>
                          <a:spcPct val="107000"/>
                        </a:lnSpc>
                        <a:spcAft>
                          <a:spcPts val="800"/>
                        </a:spcAft>
                        <a:buNone/>
                      </a:pPr>
                      <a:endParaRPr lang="es-MX"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9116" marR="4911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36619600"/>
                  </a:ext>
                </a:extLst>
              </a:tr>
              <a:tr h="505765">
                <a:tc>
                  <a:txBody>
                    <a:bodyPr/>
                    <a:lstStyle/>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r>
                        <a:rPr lang="es-MX" sz="1200" b="1" kern="100" dirty="0">
                          <a:effectLst/>
                          <a:latin typeface="+mn-lt"/>
                          <a:ea typeface="Calibri" panose="020F0502020204030204" pitchFamily="34" charset="0"/>
                          <a:cs typeface="Times New Roman" panose="02020603050405020304" pitchFamily="18" charset="0"/>
                        </a:rPr>
                        <a:t>MARCOS DE ORACION</a:t>
                      </a:r>
                    </a:p>
                  </a:txBody>
                  <a:tcPr marL="49116" marR="4911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El </a:t>
                      </a:r>
                      <a:r>
                        <a:rPr lang="es-MX" sz="1200" kern="100" dirty="0" err="1">
                          <a:effectLst/>
                          <a:latin typeface="+mn-lt"/>
                          <a:ea typeface="Calibri" panose="020F0502020204030204" pitchFamily="34" charset="0"/>
                          <a:cs typeface="Times New Roman" panose="02020603050405020304" pitchFamily="18" charset="0"/>
                        </a:rPr>
                        <a:t>maiz</a:t>
                      </a:r>
                      <a:r>
                        <a:rPr lang="es-MX" sz="1200" kern="100" dirty="0">
                          <a:effectLst/>
                          <a:latin typeface="+mn-lt"/>
                          <a:ea typeface="Calibri" panose="020F0502020204030204" pitchFamily="34" charset="0"/>
                          <a:cs typeface="Times New Roman" panose="02020603050405020304" pitchFamily="18" charset="0"/>
                        </a:rPr>
                        <a:t> es alimento         in </a:t>
                      </a:r>
                      <a:r>
                        <a:rPr lang="es-MX" sz="1200" kern="100" dirty="0" err="1">
                          <a:effectLst/>
                          <a:latin typeface="+mn-lt"/>
                          <a:ea typeface="Calibri" panose="020F0502020204030204" pitchFamily="34" charset="0"/>
                          <a:cs typeface="Times New Roman" panose="02020603050405020304" pitchFamily="18" charset="0"/>
                        </a:rPr>
                        <a:t>taoli</a:t>
                      </a:r>
                      <a:r>
                        <a:rPr lang="es-MX" sz="1200" kern="100" dirty="0">
                          <a:effectLst/>
                          <a:latin typeface="+mn-lt"/>
                          <a:ea typeface="Calibri" panose="020F0502020204030204" pitchFamily="34" charset="0"/>
                          <a:cs typeface="Times New Roman" panose="02020603050405020304" pitchFamily="18" charset="0"/>
                        </a:rPr>
                        <a:t> no </a:t>
                      </a:r>
                      <a:r>
                        <a:rPr lang="es-MX" sz="1200" kern="100" dirty="0" err="1">
                          <a:effectLst/>
                          <a:latin typeface="+mn-lt"/>
                          <a:ea typeface="Calibri" panose="020F0502020204030204" pitchFamily="34" charset="0"/>
                          <a:cs typeface="Times New Roman" panose="02020603050405020304" pitchFamily="18" charset="0"/>
                        </a:rPr>
                        <a:t>tonalcayotl</a:t>
                      </a:r>
                      <a:endParaRPr lang="es-MX" sz="1200" kern="100" dirty="0">
                        <a:effectLst/>
                        <a:latin typeface="+mn-lt"/>
                        <a:ea typeface="Calibri" panose="020F0502020204030204" pitchFamily="34" charset="0"/>
                        <a:cs typeface="Times New Roman" panose="02020603050405020304" pitchFamily="18" charset="0"/>
                      </a:endParaRP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El maíz es blanco     in </a:t>
                      </a:r>
                      <a:r>
                        <a:rPr lang="es-MX" sz="1200" kern="100" dirty="0" err="1">
                          <a:effectLst/>
                          <a:latin typeface="+mn-lt"/>
                          <a:ea typeface="Calibri" panose="020F0502020204030204" pitchFamily="34" charset="0"/>
                          <a:cs typeface="Times New Roman" panose="02020603050405020304" pitchFamily="18" charset="0"/>
                        </a:rPr>
                        <a:t>tlaoli</a:t>
                      </a:r>
                      <a:r>
                        <a:rPr lang="es-MX" sz="1200" kern="100" dirty="0">
                          <a:effectLst/>
                          <a:latin typeface="+mn-lt"/>
                          <a:ea typeface="Calibri" panose="020F0502020204030204" pitchFamily="34" charset="0"/>
                          <a:cs typeface="Times New Roman" panose="02020603050405020304" pitchFamily="18" charset="0"/>
                        </a:rPr>
                        <a:t> </a:t>
                      </a:r>
                      <a:r>
                        <a:rPr lang="es-MX" sz="1200" kern="100" dirty="0" err="1">
                          <a:effectLst/>
                          <a:latin typeface="+mn-lt"/>
                          <a:ea typeface="Calibri" panose="020F0502020204030204" pitchFamily="34" charset="0"/>
                          <a:cs typeface="Times New Roman" panose="02020603050405020304" pitchFamily="18" charset="0"/>
                        </a:rPr>
                        <a:t>iztac</a:t>
                      </a:r>
                      <a:endParaRPr lang="es-MX" sz="1200" kern="100" dirty="0">
                        <a:effectLst/>
                        <a:latin typeface="+mn-lt"/>
                        <a:ea typeface="Calibri" panose="020F0502020204030204" pitchFamily="34" charset="0"/>
                        <a:cs typeface="Times New Roman" panose="02020603050405020304" pitchFamily="18" charset="0"/>
                      </a:endParaRPr>
                    </a:p>
                  </a:txBody>
                  <a:tcPr marL="49116" marR="4911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800" kern="100">
                          <a:effectLst/>
                          <a:latin typeface="Calibri" panose="020F0502020204030204" pitchFamily="34" charset="0"/>
                          <a:ea typeface="Calibri" panose="020F0502020204030204" pitchFamily="34" charset="0"/>
                          <a:cs typeface="Times New Roman" panose="02020603050405020304" pitchFamily="18" charset="0"/>
                        </a:rPr>
                        <a:t> </a:t>
                      </a:r>
                    </a:p>
                  </a:txBody>
                  <a:tcPr marL="49116" marR="4911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73934413"/>
                  </a:ext>
                </a:extLst>
              </a:tr>
              <a:tr h="139477">
                <a:tc>
                  <a:txBody>
                    <a:bodyPr/>
                    <a:lstStyle/>
                    <a:p>
                      <a:pPr algn="l">
                        <a:lnSpc>
                          <a:spcPct val="107000"/>
                        </a:lnSpc>
                        <a:spcAft>
                          <a:spcPts val="800"/>
                        </a:spcAft>
                        <a:buNone/>
                      </a:pPr>
                      <a:r>
                        <a:rPr lang="es-MX" sz="800" kern="100">
                          <a:effectLst/>
                          <a:latin typeface="Calibri" panose="020F0502020204030204" pitchFamily="34" charset="0"/>
                          <a:ea typeface="Calibri" panose="020F0502020204030204" pitchFamily="34" charset="0"/>
                          <a:cs typeface="Times New Roman" panose="02020603050405020304" pitchFamily="18" charset="0"/>
                        </a:rPr>
                        <a:t> </a:t>
                      </a:r>
                    </a:p>
                  </a:txBody>
                  <a:tcPr marL="49116" marR="4911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800" kern="100" dirty="0">
                          <a:effectLst/>
                          <a:latin typeface="Calibri" panose="020F0502020204030204" pitchFamily="34" charset="0"/>
                          <a:ea typeface="Calibri" panose="020F0502020204030204" pitchFamily="34" charset="0"/>
                          <a:cs typeface="Times New Roman" panose="02020603050405020304" pitchFamily="18" charset="0"/>
                        </a:rPr>
                        <a:t> </a:t>
                      </a:r>
                    </a:p>
                  </a:txBody>
                  <a:tcPr marL="49116" marR="4911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800" kern="100" dirty="0">
                          <a:effectLst/>
                          <a:latin typeface="Calibri" panose="020F0502020204030204" pitchFamily="34" charset="0"/>
                          <a:ea typeface="Calibri" panose="020F0502020204030204" pitchFamily="34" charset="0"/>
                          <a:cs typeface="Times New Roman" panose="02020603050405020304" pitchFamily="18" charset="0"/>
                        </a:rPr>
                        <a:t> </a:t>
                      </a:r>
                    </a:p>
                  </a:txBody>
                  <a:tcPr marL="49116" marR="4911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3249052"/>
                  </a:ext>
                </a:extLst>
              </a:tr>
            </a:tbl>
          </a:graphicData>
        </a:graphic>
      </p:graphicFrame>
    </p:spTree>
    <p:extLst>
      <p:ext uri="{BB962C8B-B14F-4D97-AF65-F5344CB8AC3E}">
        <p14:creationId xmlns:p14="http://schemas.microsoft.com/office/powerpoint/2010/main" val="28237291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51A46-B524-44D4-3364-4A5DDC4B5A8E}"/>
            </a:ext>
          </a:extLst>
        </p:cNvPr>
        <p:cNvGrpSpPr/>
        <p:nvPr/>
      </p:nvGrpSpPr>
      <p:grpSpPr>
        <a:xfrm>
          <a:off x="0" y="0"/>
          <a:ext cx="0" cy="0"/>
          <a:chOff x="0" y="0"/>
          <a:chExt cx="0" cy="0"/>
        </a:xfrm>
      </p:grpSpPr>
      <p:graphicFrame>
        <p:nvGraphicFramePr>
          <p:cNvPr id="6" name="Tabla 5">
            <a:extLst>
              <a:ext uri="{FF2B5EF4-FFF2-40B4-BE49-F238E27FC236}">
                <a16:creationId xmlns:a16="http://schemas.microsoft.com/office/drawing/2014/main" id="{882746E5-EA38-28BE-333A-93EDA2B734BE}"/>
              </a:ext>
            </a:extLst>
          </p:cNvPr>
          <p:cNvGraphicFramePr>
            <a:graphicFrameLocks noGrp="1"/>
          </p:cNvGraphicFramePr>
          <p:nvPr>
            <p:extLst>
              <p:ext uri="{D42A27DB-BD31-4B8C-83A1-F6EECF244321}">
                <p14:modId xmlns:p14="http://schemas.microsoft.com/office/powerpoint/2010/main" val="1362940712"/>
              </p:ext>
            </p:extLst>
          </p:nvPr>
        </p:nvGraphicFramePr>
        <p:xfrm>
          <a:off x="153380" y="136635"/>
          <a:ext cx="11885240" cy="5927177"/>
        </p:xfrm>
        <a:graphic>
          <a:graphicData uri="http://schemas.openxmlformats.org/drawingml/2006/table">
            <a:tbl>
              <a:tblPr firstRow="1" firstCol="1" bandRow="1"/>
              <a:tblGrid>
                <a:gridCol w="2225371">
                  <a:extLst>
                    <a:ext uri="{9D8B030D-6E8A-4147-A177-3AD203B41FA5}">
                      <a16:colId xmlns:a16="http://schemas.microsoft.com/office/drawing/2014/main" val="1901951038"/>
                    </a:ext>
                  </a:extLst>
                </a:gridCol>
                <a:gridCol w="7555073">
                  <a:extLst>
                    <a:ext uri="{9D8B030D-6E8A-4147-A177-3AD203B41FA5}">
                      <a16:colId xmlns:a16="http://schemas.microsoft.com/office/drawing/2014/main" val="3330139507"/>
                    </a:ext>
                  </a:extLst>
                </a:gridCol>
                <a:gridCol w="2104796">
                  <a:extLst>
                    <a:ext uri="{9D8B030D-6E8A-4147-A177-3AD203B41FA5}">
                      <a16:colId xmlns:a16="http://schemas.microsoft.com/office/drawing/2014/main" val="621361455"/>
                    </a:ext>
                  </a:extLst>
                </a:gridCol>
              </a:tblGrid>
              <a:tr h="1120665">
                <a:tc gridSpan="3">
                  <a:txBody>
                    <a:bodyPr/>
                    <a:lstStyle/>
                    <a:p>
                      <a:pPr algn="l">
                        <a:lnSpc>
                          <a:spcPct val="107000"/>
                        </a:lnSpc>
                        <a:spcAft>
                          <a:spcPts val="800"/>
                        </a:spcAft>
                        <a:buNone/>
                      </a:pPr>
                      <a:r>
                        <a:rPr lang="es-MX" sz="1200" b="1" kern="100" dirty="0">
                          <a:solidFill>
                            <a:srgbClr val="2E74B5"/>
                          </a:solidFill>
                          <a:effectLst/>
                          <a:latin typeface="+mn-lt"/>
                          <a:ea typeface="Calibri" panose="020F0502020204030204" pitchFamily="34" charset="0"/>
                          <a:cs typeface="Times New Roman" panose="02020603050405020304" pitchFamily="18" charset="0"/>
                        </a:rPr>
                        <a:t>                                                                                                                                                                  Sesión   </a:t>
                      </a:r>
                      <a:r>
                        <a:rPr lang="es-MX" sz="1200" b="1" kern="100" dirty="0">
                          <a:solidFill>
                            <a:srgbClr val="000000"/>
                          </a:solidFill>
                          <a:effectLst/>
                          <a:latin typeface="+mn-lt"/>
                          <a:ea typeface="Calibri" panose="020F0502020204030204" pitchFamily="34" charset="0"/>
                          <a:cs typeface="Times New Roman" panose="02020603050405020304" pitchFamily="18" charset="0"/>
                        </a:rPr>
                        <a:t> 6   </a:t>
                      </a:r>
                      <a:endParaRPr lang="es-MX" sz="1200" kern="100" dirty="0">
                        <a:effectLst/>
                        <a:latin typeface="+mn-lt"/>
                        <a:ea typeface="Calibri" panose="020F0502020204030204" pitchFamily="34" charset="0"/>
                        <a:cs typeface="Times New Roman" panose="02020603050405020304" pitchFamily="18" charset="0"/>
                      </a:endParaRPr>
                    </a:p>
                    <a:p>
                      <a:pPr algn="ctr">
                        <a:lnSpc>
                          <a:spcPct val="100000"/>
                        </a:lnSpc>
                        <a:spcAft>
                          <a:spcPts val="800"/>
                        </a:spcAft>
                        <a:buNone/>
                      </a:pPr>
                      <a:r>
                        <a:rPr lang="es-MX" sz="1200" b="1" kern="100" dirty="0">
                          <a:solidFill>
                            <a:srgbClr val="2E74B5"/>
                          </a:solidFill>
                          <a:effectLst/>
                          <a:latin typeface="+mn-lt"/>
                          <a:ea typeface="Calibri" panose="020F0502020204030204" pitchFamily="34" charset="0"/>
                          <a:cs typeface="Times New Roman" panose="02020603050405020304" pitchFamily="18" charset="0"/>
                        </a:rPr>
                        <a:t>  Fecha</a:t>
                      </a:r>
                      <a:r>
                        <a:rPr lang="es-MX" sz="1200" b="0" kern="100" dirty="0">
                          <a:solidFill>
                            <a:srgbClr val="2E74B5"/>
                          </a:solidFill>
                          <a:effectLst/>
                          <a:latin typeface="+mn-lt"/>
                          <a:ea typeface="Calibri" panose="020F0502020204030204" pitchFamily="34" charset="0"/>
                          <a:cs typeface="Times New Roman" panose="02020603050405020304" pitchFamily="18" charset="0"/>
                        </a:rPr>
                        <a:t>:    </a:t>
                      </a:r>
                      <a:r>
                        <a:rPr lang="es-MX" sz="1200" b="0" kern="100" dirty="0">
                          <a:effectLst/>
                          <a:latin typeface="+mn-lt"/>
                          <a:ea typeface="Calibri" panose="020F0502020204030204" pitchFamily="34" charset="0"/>
                          <a:cs typeface="Times New Roman" panose="02020603050405020304" pitchFamily="18" charset="0"/>
                        </a:rPr>
                        <a:t>lunes   19   de enero de 2026</a:t>
                      </a:r>
                    </a:p>
                    <a:p>
                      <a:pPr algn="ctr">
                        <a:lnSpc>
                          <a:spcPct val="100000"/>
                        </a:lnSpc>
                        <a:spcAft>
                          <a:spcPts val="800"/>
                        </a:spcAft>
                        <a:buNone/>
                      </a:pPr>
                      <a:r>
                        <a:rPr lang="es-MX" sz="1200" b="0" kern="100" dirty="0">
                          <a:solidFill>
                            <a:srgbClr val="2E74B5"/>
                          </a:solidFill>
                          <a:effectLst/>
                          <a:latin typeface="+mn-lt"/>
                          <a:ea typeface="Calibri" panose="020F0502020204030204" pitchFamily="34" charset="0"/>
                          <a:cs typeface="Times New Roman" panose="02020603050405020304" pitchFamily="18" charset="0"/>
                        </a:rPr>
                        <a:t>   Subtema:   </a:t>
                      </a:r>
                      <a:r>
                        <a:rPr lang="es-MX" sz="1200" b="0" kern="100" dirty="0">
                          <a:effectLst/>
                          <a:latin typeface="+mn-lt"/>
                          <a:ea typeface="Calibri" panose="020F0502020204030204" pitchFamily="34" charset="0"/>
                          <a:cs typeface="Times New Roman" panose="02020603050405020304" pitchFamily="18" charset="0"/>
                        </a:rPr>
                        <a:t> Sabores y alimentos del maíz</a:t>
                      </a:r>
                    </a:p>
                    <a:p>
                      <a:pPr algn="ctr">
                        <a:lnSpc>
                          <a:spcPct val="100000"/>
                        </a:lnSpc>
                        <a:spcAft>
                          <a:spcPts val="800"/>
                        </a:spcAft>
                        <a:buNone/>
                      </a:pPr>
                      <a:r>
                        <a:rPr lang="es-MX" sz="1200" b="0" kern="100" dirty="0">
                          <a:solidFill>
                            <a:srgbClr val="2E74B5"/>
                          </a:solidFill>
                          <a:effectLst/>
                          <a:latin typeface="+mn-lt"/>
                          <a:ea typeface="Calibri" panose="020F0502020204030204" pitchFamily="34" charset="0"/>
                          <a:cs typeface="Times New Roman" panose="02020603050405020304" pitchFamily="18" charset="0"/>
                        </a:rPr>
                        <a:t>Actividad:</a:t>
                      </a:r>
                      <a:r>
                        <a:rPr lang="es-MX" sz="1200" b="0" kern="100" dirty="0">
                          <a:effectLst/>
                          <a:latin typeface="+mn-lt"/>
                          <a:ea typeface="Calibri" panose="020F0502020204030204" pitchFamily="34" charset="0"/>
                          <a:cs typeface="Times New Roman" panose="02020603050405020304" pitchFamily="18" charset="0"/>
                        </a:rPr>
                        <a:t>   ¿Qué comemos del maíz?</a:t>
                      </a:r>
                    </a:p>
                  </a:txBody>
                  <a:tcPr marL="53207" marR="532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s-MX"/>
                    </a:p>
                  </a:txBody>
                  <a:tcPr/>
                </a:tc>
                <a:tc hMerge="1">
                  <a:txBody>
                    <a:bodyPr/>
                    <a:lstStyle/>
                    <a:p>
                      <a:endParaRPr lang="es-MX"/>
                    </a:p>
                  </a:txBody>
                  <a:tcPr/>
                </a:tc>
                <a:extLst>
                  <a:ext uri="{0D108BD9-81ED-4DB2-BD59-A6C34878D82A}">
                    <a16:rowId xmlns:a16="http://schemas.microsoft.com/office/drawing/2014/main" val="1288412548"/>
                  </a:ext>
                </a:extLst>
              </a:tr>
              <a:tr h="412820">
                <a:tc>
                  <a:txBody>
                    <a:bodyPr/>
                    <a:lstStyle/>
                    <a:p>
                      <a:pPr algn="l">
                        <a:lnSpc>
                          <a:spcPct val="107000"/>
                        </a:lnSpc>
                        <a:spcAft>
                          <a:spcPts val="800"/>
                        </a:spcAft>
                        <a:buNone/>
                      </a:pPr>
                      <a:r>
                        <a:rPr lang="es-MX" sz="1200" b="1" kern="100">
                          <a:effectLst/>
                          <a:latin typeface="+mn-lt"/>
                          <a:ea typeface="Calibri" panose="020F0502020204030204" pitchFamily="34" charset="0"/>
                          <a:cs typeface="Times New Roman" panose="02020603050405020304" pitchFamily="18" charset="0"/>
                        </a:rPr>
                        <a:t>Momento</a:t>
                      </a:r>
                    </a:p>
                  </a:txBody>
                  <a:tcPr marL="53207" marR="532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1200" b="1" kern="100" dirty="0">
                          <a:effectLst/>
                          <a:latin typeface="+mn-lt"/>
                          <a:ea typeface="Calibri" panose="020F0502020204030204" pitchFamily="34" charset="0"/>
                          <a:cs typeface="Times New Roman" panose="02020603050405020304" pitchFamily="18" charset="0"/>
                        </a:rPr>
                        <a:t>                                                               Actividades</a:t>
                      </a:r>
                    </a:p>
                  </a:txBody>
                  <a:tcPr marL="53207" marR="532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1200" b="1" kern="100" dirty="0">
                          <a:effectLst/>
                          <a:latin typeface="+mn-lt"/>
                          <a:ea typeface="Calibri" panose="020F0502020204030204" pitchFamily="34" charset="0"/>
                          <a:cs typeface="Times New Roman" panose="02020603050405020304" pitchFamily="18" charset="0"/>
                        </a:rPr>
                        <a:t>recursos</a:t>
                      </a:r>
                    </a:p>
                  </a:txBody>
                  <a:tcPr marL="53207" marR="532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76009963"/>
                  </a:ext>
                </a:extLst>
              </a:tr>
              <a:tr h="3701916">
                <a:tc>
                  <a:txBody>
                    <a:bodyPr/>
                    <a:lstStyle/>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gn="l">
                        <a:lnSpc>
                          <a:spcPct val="107000"/>
                        </a:lnSpc>
                        <a:spcAft>
                          <a:spcPts val="800"/>
                        </a:spcAft>
                        <a:buNone/>
                      </a:pPr>
                      <a:endParaRPr lang="es-MX" sz="1200" kern="100" dirty="0">
                        <a:effectLst/>
                        <a:latin typeface="+mn-lt"/>
                        <a:ea typeface="Calibri" panose="020F0502020204030204" pitchFamily="34" charset="0"/>
                        <a:cs typeface="Times New Roman" panose="02020603050405020304" pitchFamily="18" charset="0"/>
                      </a:endParaRPr>
                    </a:p>
                    <a:p>
                      <a:pPr algn="l">
                        <a:lnSpc>
                          <a:spcPct val="107000"/>
                        </a:lnSpc>
                        <a:spcAft>
                          <a:spcPts val="800"/>
                        </a:spcAft>
                        <a:buNone/>
                      </a:pPr>
                      <a:endParaRPr lang="es-MX" sz="1200" kern="100" dirty="0">
                        <a:effectLst/>
                        <a:latin typeface="+mn-lt"/>
                        <a:ea typeface="Calibri" panose="020F0502020204030204" pitchFamily="34" charset="0"/>
                        <a:cs typeface="Times New Roman" panose="02020603050405020304" pitchFamily="18" charset="0"/>
                      </a:endParaRPr>
                    </a:p>
                    <a:p>
                      <a:pPr algn="l">
                        <a:lnSpc>
                          <a:spcPct val="107000"/>
                        </a:lnSpc>
                        <a:spcAft>
                          <a:spcPts val="800"/>
                        </a:spcAft>
                        <a:buNone/>
                      </a:pPr>
                      <a:endParaRPr lang="es-MX" sz="1200" kern="100" dirty="0">
                        <a:effectLst/>
                        <a:latin typeface="+mn-lt"/>
                        <a:ea typeface="Calibri" panose="020F0502020204030204" pitchFamily="34" charset="0"/>
                        <a:cs typeface="Times New Roman" panose="02020603050405020304" pitchFamily="18" charset="0"/>
                      </a:endParaRP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Partir de la Realidad.</a:t>
                      </a:r>
                    </a:p>
                  </a:txBody>
                  <a:tcPr marL="53207" marR="532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342900" lvl="0" indent="-342900" algn="l">
                        <a:lnSpc>
                          <a:spcPct val="107000"/>
                        </a:lnSpc>
                        <a:buFont typeface="Wingdings" panose="05000000000000000000" pitchFamily="2" charset="2"/>
                        <a:buChar char=""/>
                      </a:pPr>
                      <a:r>
                        <a:rPr lang="es-MX" sz="1200" b="0" kern="100" dirty="0">
                          <a:effectLst/>
                          <a:latin typeface="+mn-lt"/>
                          <a:ea typeface="Calibri" panose="020F0502020204030204" pitchFamily="34" charset="0"/>
                          <a:cs typeface="Times New Roman" panose="02020603050405020304" pitchFamily="18" charset="0"/>
                        </a:rPr>
                        <a:t>Dialogar con los alumnos (as) ¿en casa han comido algo hecho de maíz? ¿Qué han comido del maíz? En donde casa-fiesta-campo   etc.  ¿qué se puede hacer del maíz? ¿para qué sirve el maíz?, todas las aportaciones se irán registrando en un rotafolio </a:t>
                      </a:r>
                    </a:p>
                    <a:p>
                      <a:pPr marL="342900" lvl="0" indent="-342900" algn="l">
                        <a:lnSpc>
                          <a:spcPct val="107000"/>
                        </a:lnSpc>
                        <a:buFont typeface="Wingdings" panose="05000000000000000000" pitchFamily="2" charset="2"/>
                        <a:buChar char=""/>
                      </a:pPr>
                      <a:r>
                        <a:rPr lang="es-MX" sz="1200" b="0" kern="100" dirty="0">
                          <a:effectLst/>
                          <a:latin typeface="+mn-lt"/>
                          <a:ea typeface="Calibri" panose="020F0502020204030204" pitchFamily="34" charset="0"/>
                          <a:cs typeface="Times New Roman" panose="02020603050405020304" pitchFamily="18" charset="0"/>
                        </a:rPr>
                        <a:t>Solicitar a los alumnos (as) 0bservar una tortilla y preguntar ¿la han comido? ¿con quien la comen? ¿en casa quien la prepara?</a:t>
                      </a:r>
                    </a:p>
                    <a:p>
                      <a:pPr marL="342900" lvl="0" indent="-342900" algn="l">
                        <a:lnSpc>
                          <a:spcPct val="107000"/>
                        </a:lnSpc>
                        <a:buFont typeface="Wingdings" panose="05000000000000000000" pitchFamily="2" charset="2"/>
                        <a:buChar char=""/>
                      </a:pPr>
                      <a:r>
                        <a:rPr lang="es-MX" sz="1200" b="0" kern="100" dirty="0">
                          <a:effectLst/>
                          <a:latin typeface="+mn-lt"/>
                          <a:ea typeface="Calibri" panose="020F0502020204030204" pitchFamily="34" charset="0"/>
                          <a:cs typeface="Times New Roman" panose="02020603050405020304" pitchFamily="18" charset="0"/>
                        </a:rPr>
                        <a:t>Realizar un cuadro de doble entrada, con los alumnos Y(as) proporcionar imágenes de elementos del maíz y en la lamina clasificar lo que “si comemos” y “no lo conozco”, al finalizar comentar como que do la lamina y mencionar los nombres de lo que esta en el apartado de si comemos y de lo que no conoces la docente explicara a los al grupo que son derivado del maíz.</a:t>
                      </a:r>
                    </a:p>
                    <a:p>
                      <a:pPr marL="342900" lvl="0" indent="-342900" algn="l">
                        <a:lnSpc>
                          <a:spcPct val="107000"/>
                        </a:lnSpc>
                        <a:buFont typeface="Wingdings" panose="05000000000000000000" pitchFamily="2" charset="2"/>
                        <a:buChar char=""/>
                      </a:pPr>
                      <a:r>
                        <a:rPr lang="es-MX" sz="1200" b="0" kern="100" dirty="0">
                          <a:effectLst/>
                          <a:latin typeface="+mn-lt"/>
                          <a:ea typeface="Calibri" panose="020F0502020204030204" pitchFamily="34" charset="0"/>
                          <a:cs typeface="Times New Roman" panose="02020603050405020304" pitchFamily="18" charset="0"/>
                        </a:rPr>
                        <a:t>Dialogar con los alumnos (as) que observen las imágenes de las tarjetas que contienen tamal, atole, tortilla, indicar que tomen una tarjeta que mas les agrade y con sus propias palabras realicen una descripción a cerca de la imagen y mencionen todo lo que conocen</a:t>
                      </a:r>
                    </a:p>
                    <a:p>
                      <a:pPr marL="342900" lvl="0" indent="-342900" algn="l">
                        <a:lnSpc>
                          <a:spcPct val="107000"/>
                        </a:lnSpc>
                        <a:buFont typeface="Wingdings" panose="05000000000000000000" pitchFamily="2" charset="2"/>
                        <a:buChar char=""/>
                      </a:pPr>
                      <a:r>
                        <a:rPr lang="es-MX" sz="1200" b="0" kern="100" dirty="0">
                          <a:effectLst/>
                          <a:latin typeface="+mn-lt"/>
                          <a:ea typeface="Calibri" panose="020F0502020204030204" pitchFamily="34" charset="0"/>
                          <a:cs typeface="Times New Roman" panose="02020603050405020304" pitchFamily="18" charset="0"/>
                        </a:rPr>
                        <a:t>Indicar a los alumnos (as) que, en su libreta de trabajo, de acuerdo con la lámina que se hizo anteriormente   elijan una imagen y realicen el dibujo, lo iluminen con sus colores favoritos y al terminar compartan con sus compañeros ¿ por qué eligieron hacer ese dibujo? E iluminarlo así</a:t>
                      </a:r>
                    </a:p>
                    <a:p>
                      <a:pPr marL="342900" lvl="0" indent="-342900" algn="l">
                        <a:lnSpc>
                          <a:spcPct val="107000"/>
                        </a:lnSpc>
                        <a:buFont typeface="Wingdings" panose="05000000000000000000" pitchFamily="2" charset="2"/>
                        <a:buChar char=""/>
                      </a:pPr>
                      <a:r>
                        <a:rPr lang="es-MX" sz="1200" b="0" kern="100" dirty="0">
                          <a:effectLst/>
                          <a:latin typeface="+mn-lt"/>
                          <a:ea typeface="Calibri" panose="020F0502020204030204" pitchFamily="34" charset="0"/>
                          <a:cs typeface="Times New Roman" panose="02020603050405020304" pitchFamily="18" charset="0"/>
                        </a:rPr>
                        <a:t>Degustar de manera grupal un rico tamal, tortilla, memela, elote, atole  o algún otro producto proveniente del maíz, se puede compartir con los compañeros y probar los sabores diferentes que tiene el maíz al  procesarse </a:t>
                      </a:r>
                    </a:p>
                    <a:p>
                      <a:pPr marL="228600" algn="l">
                        <a:lnSpc>
                          <a:spcPct val="107000"/>
                        </a:lnSpc>
                        <a:buNone/>
                      </a:pPr>
                      <a:r>
                        <a:rPr lang="es-MX" sz="1200" b="1" kern="100" dirty="0">
                          <a:effectLst/>
                          <a:latin typeface="+mn-lt"/>
                          <a:ea typeface="Calibri" panose="020F0502020204030204" pitchFamily="34" charset="0"/>
                          <a:cs typeface="Times New Roman" panose="02020603050405020304" pitchFamily="18" charset="0"/>
                        </a:rPr>
                        <a:t> </a:t>
                      </a:r>
                      <a:endParaRPr lang="es-MX" sz="1200" kern="100" dirty="0">
                        <a:effectLst/>
                        <a:latin typeface="+mn-lt"/>
                        <a:ea typeface="Calibri" panose="020F0502020204030204" pitchFamily="34" charset="0"/>
                        <a:cs typeface="Times New Roman" panose="02020603050405020304" pitchFamily="18" charset="0"/>
                      </a:endParaRPr>
                    </a:p>
                    <a:p>
                      <a:pPr marL="0" lvl="0" indent="0" algn="l">
                        <a:lnSpc>
                          <a:spcPct val="107000"/>
                        </a:lnSpc>
                        <a:spcAft>
                          <a:spcPts val="800"/>
                        </a:spcAft>
                        <a:buFont typeface="Wingdings" panose="05000000000000000000" pitchFamily="2" charset="2"/>
                        <a:buNone/>
                      </a:pPr>
                      <a:endParaRPr lang="es-MX" sz="1200" kern="100" dirty="0">
                        <a:effectLst/>
                        <a:latin typeface="+mn-lt"/>
                        <a:ea typeface="Calibri" panose="020F0502020204030204" pitchFamily="34" charset="0"/>
                        <a:cs typeface="Times New Roman" panose="02020603050405020304" pitchFamily="18" charset="0"/>
                      </a:endParaRPr>
                    </a:p>
                  </a:txBody>
                  <a:tcPr marL="53207" marR="532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Tortilla</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Papel bond</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Marcadores</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Imágenes</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Tarjetas</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Libreta de trabajo</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Crayones</a:t>
                      </a:r>
                    </a:p>
                    <a:p>
                      <a:pPr algn="l">
                        <a:lnSpc>
                          <a:spcPct val="107000"/>
                        </a:lnSpc>
                        <a:spcAft>
                          <a:spcPts val="800"/>
                        </a:spcAft>
                        <a:buNone/>
                      </a:pPr>
                      <a:endParaRPr lang="es-MX" sz="1200" kern="100" dirty="0">
                        <a:effectLst/>
                        <a:latin typeface="+mn-lt"/>
                        <a:ea typeface="Calibri" panose="020F0502020204030204" pitchFamily="34" charset="0"/>
                        <a:cs typeface="Times New Roman" panose="02020603050405020304" pitchFamily="18" charset="0"/>
                      </a:endParaRP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txBody>
                  <a:tcPr marL="53207" marR="532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02423764"/>
                  </a:ext>
                </a:extLst>
              </a:tr>
              <a:tr h="480502">
                <a:tc>
                  <a:txBody>
                    <a:bodyPr/>
                    <a:lstStyle/>
                    <a:p>
                      <a:pPr algn="l">
                        <a:lnSpc>
                          <a:spcPct val="107000"/>
                        </a:lnSpc>
                        <a:spcAft>
                          <a:spcPts val="800"/>
                        </a:spcAft>
                        <a:buNone/>
                      </a:pPr>
                      <a:r>
                        <a:rPr lang="es-MX" sz="1200" kern="100">
                          <a:effectLst/>
                          <a:latin typeface="+mn-lt"/>
                          <a:ea typeface="Calibri" panose="020F0502020204030204" pitchFamily="34" charset="0"/>
                          <a:cs typeface="Times New Roman" panose="02020603050405020304" pitchFamily="18" charset="0"/>
                        </a:rPr>
                        <a:t>Marcos de oracion</a:t>
                      </a:r>
                    </a:p>
                  </a:txBody>
                  <a:tcPr marL="53207" marR="532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Yo como      Ne ni </a:t>
                      </a:r>
                      <a:r>
                        <a:rPr lang="es-MX" sz="1200" kern="100" dirty="0" err="1">
                          <a:effectLst/>
                          <a:latin typeface="+mn-lt"/>
                          <a:ea typeface="Calibri" panose="020F0502020204030204" pitchFamily="34" charset="0"/>
                          <a:cs typeface="Times New Roman" panose="02020603050405020304" pitchFamily="18" charset="0"/>
                        </a:rPr>
                        <a:t>tlakua</a:t>
                      </a:r>
                      <a:r>
                        <a:rPr lang="es-MX" sz="1200" kern="100" dirty="0">
                          <a:effectLst/>
                          <a:latin typeface="+mn-lt"/>
                          <a:ea typeface="Calibri" panose="020F0502020204030204" pitchFamily="34" charset="0"/>
                          <a:cs typeface="Times New Roman" panose="02020603050405020304" pitchFamily="18" charset="0"/>
                        </a:rPr>
                        <a:t> </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txBody>
                  <a:tcPr marL="53207" marR="532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txBody>
                  <a:tcPr marL="53207" marR="532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38362302"/>
                  </a:ext>
                </a:extLst>
              </a:tr>
            </a:tbl>
          </a:graphicData>
        </a:graphic>
      </p:graphicFrame>
    </p:spTree>
    <p:extLst>
      <p:ext uri="{BB962C8B-B14F-4D97-AF65-F5344CB8AC3E}">
        <p14:creationId xmlns:p14="http://schemas.microsoft.com/office/powerpoint/2010/main" val="22561390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522FA-0578-1634-3D43-441CC95D2B42}"/>
            </a:ext>
          </a:extLst>
        </p:cNvPr>
        <p:cNvGrpSpPr/>
        <p:nvPr/>
      </p:nvGrpSpPr>
      <p:grpSpPr>
        <a:xfrm>
          <a:off x="0" y="0"/>
          <a:ext cx="0" cy="0"/>
          <a:chOff x="0" y="0"/>
          <a:chExt cx="0" cy="0"/>
        </a:xfrm>
      </p:grpSpPr>
      <p:graphicFrame>
        <p:nvGraphicFramePr>
          <p:cNvPr id="4" name="Tabla 3">
            <a:extLst>
              <a:ext uri="{FF2B5EF4-FFF2-40B4-BE49-F238E27FC236}">
                <a16:creationId xmlns:a16="http://schemas.microsoft.com/office/drawing/2014/main" id="{0B943520-6556-BF3D-BDDC-88B283FCA190}"/>
              </a:ext>
            </a:extLst>
          </p:cNvPr>
          <p:cNvGraphicFramePr>
            <a:graphicFrameLocks noGrp="1"/>
          </p:cNvGraphicFramePr>
          <p:nvPr>
            <p:extLst>
              <p:ext uri="{D42A27DB-BD31-4B8C-83A1-F6EECF244321}">
                <p14:modId xmlns:p14="http://schemas.microsoft.com/office/powerpoint/2010/main" val="3747415201"/>
              </p:ext>
            </p:extLst>
          </p:nvPr>
        </p:nvGraphicFramePr>
        <p:xfrm>
          <a:off x="226196" y="186772"/>
          <a:ext cx="11731341" cy="5877687"/>
        </p:xfrm>
        <a:graphic>
          <a:graphicData uri="http://schemas.openxmlformats.org/drawingml/2006/table">
            <a:tbl>
              <a:tblPr firstRow="1" firstCol="1" bandRow="1"/>
              <a:tblGrid>
                <a:gridCol w="2196554">
                  <a:extLst>
                    <a:ext uri="{9D8B030D-6E8A-4147-A177-3AD203B41FA5}">
                      <a16:colId xmlns:a16="http://schemas.microsoft.com/office/drawing/2014/main" val="2998050832"/>
                    </a:ext>
                  </a:extLst>
                </a:gridCol>
                <a:gridCol w="7457246">
                  <a:extLst>
                    <a:ext uri="{9D8B030D-6E8A-4147-A177-3AD203B41FA5}">
                      <a16:colId xmlns:a16="http://schemas.microsoft.com/office/drawing/2014/main" val="3067418743"/>
                    </a:ext>
                  </a:extLst>
                </a:gridCol>
                <a:gridCol w="2077541">
                  <a:extLst>
                    <a:ext uri="{9D8B030D-6E8A-4147-A177-3AD203B41FA5}">
                      <a16:colId xmlns:a16="http://schemas.microsoft.com/office/drawing/2014/main" val="3361247478"/>
                    </a:ext>
                  </a:extLst>
                </a:gridCol>
              </a:tblGrid>
              <a:tr h="610661">
                <a:tc gridSpan="3">
                  <a:txBody>
                    <a:bodyPr/>
                    <a:lstStyle/>
                    <a:p>
                      <a:pPr>
                        <a:lnSpc>
                          <a:spcPct val="107000"/>
                        </a:lnSpc>
                        <a:spcAft>
                          <a:spcPts val="800"/>
                        </a:spcAft>
                        <a:buNone/>
                      </a:pPr>
                      <a:r>
                        <a:rPr lang="es-MX" sz="1200" b="1" kern="100" dirty="0">
                          <a:solidFill>
                            <a:srgbClr val="2E74B5"/>
                          </a:solidFill>
                          <a:effectLst/>
                          <a:latin typeface="+mn-lt"/>
                          <a:ea typeface="Calibri" panose="020F0502020204030204" pitchFamily="34" charset="0"/>
                          <a:cs typeface="Times New Roman" panose="02020603050405020304" pitchFamily="18" charset="0"/>
                        </a:rPr>
                        <a:t>                                                                                                                                                        Sesión  </a:t>
                      </a:r>
                      <a:r>
                        <a:rPr lang="es-MX" sz="1200" b="1" kern="100" dirty="0">
                          <a:solidFill>
                            <a:srgbClr val="000000"/>
                          </a:solidFill>
                          <a:effectLst/>
                          <a:latin typeface="+mn-lt"/>
                          <a:ea typeface="Calibri" panose="020F0502020204030204" pitchFamily="34" charset="0"/>
                          <a:cs typeface="Times New Roman" panose="02020603050405020304" pitchFamily="18" charset="0"/>
                        </a:rPr>
                        <a:t>   7</a:t>
                      </a:r>
                      <a:endParaRPr lang="es-MX" sz="1200" kern="100" dirty="0">
                        <a:effectLst/>
                        <a:latin typeface="+mn-lt"/>
                        <a:ea typeface="Calibri" panose="020F0502020204030204" pitchFamily="34" charset="0"/>
                        <a:cs typeface="Times New Roman" panose="02020603050405020304" pitchFamily="18" charset="0"/>
                      </a:endParaRPr>
                    </a:p>
                    <a:p>
                      <a:pPr algn="ctr">
                        <a:lnSpc>
                          <a:spcPct val="107000"/>
                        </a:lnSpc>
                        <a:spcAft>
                          <a:spcPts val="800"/>
                        </a:spcAft>
                        <a:buNone/>
                      </a:pPr>
                      <a:r>
                        <a:rPr lang="es-MX" sz="1200" b="1" kern="100" dirty="0">
                          <a:solidFill>
                            <a:srgbClr val="2E74B5"/>
                          </a:solidFill>
                          <a:effectLst/>
                          <a:latin typeface="+mn-lt"/>
                          <a:ea typeface="Calibri" panose="020F0502020204030204" pitchFamily="34" charset="0"/>
                          <a:cs typeface="Times New Roman" panose="02020603050405020304" pitchFamily="18" charset="0"/>
                        </a:rPr>
                        <a:t>                Fecha</a:t>
                      </a:r>
                      <a:r>
                        <a:rPr lang="es-MX" sz="1200" b="0" kern="100" dirty="0">
                          <a:solidFill>
                            <a:srgbClr val="2E74B5"/>
                          </a:solidFill>
                          <a:effectLst/>
                          <a:latin typeface="+mn-lt"/>
                          <a:ea typeface="Calibri" panose="020F0502020204030204" pitchFamily="34" charset="0"/>
                          <a:cs typeface="Times New Roman" panose="02020603050405020304" pitchFamily="18" charset="0"/>
                        </a:rPr>
                        <a:t>:    </a:t>
                      </a:r>
                      <a:r>
                        <a:rPr lang="es-MX" sz="1200" b="0" kern="100" dirty="0">
                          <a:solidFill>
                            <a:srgbClr val="000000"/>
                          </a:solidFill>
                          <a:effectLst/>
                          <a:latin typeface="+mn-lt"/>
                          <a:ea typeface="Calibri" panose="020F0502020204030204" pitchFamily="34" charset="0"/>
                          <a:cs typeface="Times New Roman" panose="02020603050405020304" pitchFamily="18" charset="0"/>
                        </a:rPr>
                        <a:t>Martes  20   </a:t>
                      </a:r>
                      <a:r>
                        <a:rPr lang="es-MX" sz="1200" b="0" kern="100" dirty="0">
                          <a:effectLst/>
                          <a:latin typeface="+mn-lt"/>
                          <a:ea typeface="Calibri" panose="020F0502020204030204" pitchFamily="34" charset="0"/>
                          <a:cs typeface="Times New Roman" panose="02020603050405020304" pitchFamily="18" charset="0"/>
                        </a:rPr>
                        <a:t>de enero de 2026</a:t>
                      </a:r>
                    </a:p>
                    <a:p>
                      <a:pPr algn="ctr">
                        <a:lnSpc>
                          <a:spcPct val="107000"/>
                        </a:lnSpc>
                        <a:spcAft>
                          <a:spcPts val="800"/>
                        </a:spcAft>
                        <a:buNone/>
                      </a:pPr>
                      <a:r>
                        <a:rPr lang="es-MX" sz="1200" b="0" kern="100" dirty="0">
                          <a:solidFill>
                            <a:srgbClr val="2E74B5"/>
                          </a:solidFill>
                          <a:effectLst/>
                          <a:latin typeface="+mn-lt"/>
                          <a:ea typeface="Calibri" panose="020F0502020204030204" pitchFamily="34" charset="0"/>
                          <a:cs typeface="Times New Roman" panose="02020603050405020304" pitchFamily="18" charset="0"/>
                        </a:rPr>
                        <a:t>         Subtema:   </a:t>
                      </a:r>
                      <a:r>
                        <a:rPr lang="es-MX" sz="1200" b="0" kern="100" dirty="0">
                          <a:effectLst/>
                          <a:latin typeface="+mn-lt"/>
                          <a:ea typeface="Calibri" panose="020F0502020204030204" pitchFamily="34" charset="0"/>
                          <a:cs typeface="Times New Roman" panose="02020603050405020304" pitchFamily="18" charset="0"/>
                        </a:rPr>
                        <a:t> Sabores y alimentos del maíz</a:t>
                      </a:r>
                    </a:p>
                    <a:p>
                      <a:pPr algn="ctr">
                        <a:lnSpc>
                          <a:spcPct val="107000"/>
                        </a:lnSpc>
                        <a:spcAft>
                          <a:spcPts val="800"/>
                        </a:spcAft>
                        <a:buNone/>
                      </a:pPr>
                      <a:r>
                        <a:rPr lang="es-MX" sz="1200" b="0" kern="100" dirty="0">
                          <a:solidFill>
                            <a:srgbClr val="2E74B5"/>
                          </a:solidFill>
                          <a:effectLst/>
                          <a:latin typeface="+mn-lt"/>
                          <a:ea typeface="Calibri" panose="020F0502020204030204" pitchFamily="34" charset="0"/>
                          <a:cs typeface="Times New Roman" panose="02020603050405020304" pitchFamily="18" charset="0"/>
                        </a:rPr>
                        <a:t>         Actividad:</a:t>
                      </a:r>
                      <a:r>
                        <a:rPr lang="es-MX" sz="1200" b="0" kern="100" dirty="0">
                          <a:effectLst/>
                          <a:latin typeface="+mn-lt"/>
                          <a:ea typeface="Calibri" panose="020F0502020204030204" pitchFamily="34" charset="0"/>
                          <a:cs typeface="Times New Roman" panose="02020603050405020304" pitchFamily="18" charset="0"/>
                        </a:rPr>
                        <a:t>     Exploramos con los sentidos</a:t>
                      </a:r>
                    </a:p>
                  </a:txBody>
                  <a:tcPr marL="49893" marR="4989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s-MX"/>
                    </a:p>
                  </a:txBody>
                  <a:tcPr/>
                </a:tc>
                <a:tc hMerge="1">
                  <a:txBody>
                    <a:bodyPr/>
                    <a:lstStyle/>
                    <a:p>
                      <a:endParaRPr lang="es-MX"/>
                    </a:p>
                  </a:txBody>
                  <a:tcPr/>
                </a:tc>
                <a:extLst>
                  <a:ext uri="{0D108BD9-81ED-4DB2-BD59-A6C34878D82A}">
                    <a16:rowId xmlns:a16="http://schemas.microsoft.com/office/drawing/2014/main" val="840004347"/>
                  </a:ext>
                </a:extLst>
              </a:tr>
              <a:tr h="160075">
                <a:tc>
                  <a:txBody>
                    <a:bodyPr/>
                    <a:lstStyle/>
                    <a:p>
                      <a:pPr>
                        <a:lnSpc>
                          <a:spcPct val="107000"/>
                        </a:lnSpc>
                        <a:spcAft>
                          <a:spcPts val="800"/>
                        </a:spcAft>
                        <a:buNone/>
                      </a:pPr>
                      <a:r>
                        <a:rPr lang="es-MX" sz="1200" b="1" kern="100">
                          <a:effectLst/>
                          <a:latin typeface="+mn-lt"/>
                          <a:ea typeface="Calibri" panose="020F0502020204030204" pitchFamily="34" charset="0"/>
                          <a:cs typeface="Times New Roman" panose="02020603050405020304" pitchFamily="18" charset="0"/>
                        </a:rPr>
                        <a:t>Momento</a:t>
                      </a:r>
                      <a:endParaRPr lang="es-MX" sz="1200" kern="100">
                        <a:effectLst/>
                        <a:latin typeface="+mn-lt"/>
                        <a:ea typeface="Calibri" panose="020F0502020204030204" pitchFamily="34" charset="0"/>
                        <a:cs typeface="Times New Roman" panose="02020603050405020304" pitchFamily="18" charset="0"/>
                      </a:endParaRPr>
                    </a:p>
                  </a:txBody>
                  <a:tcPr marL="49893" marR="4989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s-MX" sz="1200" b="1" kern="100" dirty="0">
                          <a:effectLst/>
                          <a:latin typeface="+mn-lt"/>
                          <a:ea typeface="Calibri" panose="020F0502020204030204" pitchFamily="34" charset="0"/>
                          <a:cs typeface="Times New Roman" panose="02020603050405020304" pitchFamily="18" charset="0"/>
                        </a:rPr>
                        <a:t>                                                               Actividades</a:t>
                      </a:r>
                      <a:endParaRPr lang="es-MX" sz="1200" kern="100" dirty="0">
                        <a:effectLst/>
                        <a:latin typeface="+mn-lt"/>
                        <a:ea typeface="Calibri" panose="020F0502020204030204" pitchFamily="34" charset="0"/>
                        <a:cs typeface="Times New Roman" panose="02020603050405020304" pitchFamily="18" charset="0"/>
                      </a:endParaRPr>
                    </a:p>
                  </a:txBody>
                  <a:tcPr marL="49893" marR="4989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s-MX" sz="1200" b="1" kern="100" dirty="0">
                          <a:effectLst/>
                          <a:latin typeface="+mn-lt"/>
                          <a:ea typeface="Calibri" panose="020F0502020204030204" pitchFamily="34" charset="0"/>
                          <a:cs typeface="Times New Roman" panose="02020603050405020304" pitchFamily="18" charset="0"/>
                        </a:rPr>
                        <a:t>Recursos</a:t>
                      </a:r>
                    </a:p>
                    <a:p>
                      <a:pPr>
                        <a:lnSpc>
                          <a:spcPct val="107000"/>
                        </a:lnSpc>
                        <a:spcAft>
                          <a:spcPts val="800"/>
                        </a:spcAft>
                        <a:buNone/>
                      </a:pPr>
                      <a:endParaRPr lang="es-MX" sz="1200" kern="100" dirty="0">
                        <a:effectLst/>
                        <a:latin typeface="+mn-lt"/>
                        <a:ea typeface="Calibri" panose="020F0502020204030204" pitchFamily="34" charset="0"/>
                        <a:cs typeface="Times New Roman" panose="02020603050405020304" pitchFamily="18" charset="0"/>
                      </a:endParaRPr>
                    </a:p>
                  </a:txBody>
                  <a:tcPr marL="49893" marR="4989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97473111"/>
                  </a:ext>
                </a:extLst>
              </a:tr>
              <a:tr h="3077119">
                <a:tc>
                  <a:txBody>
                    <a:bodyPr/>
                    <a:lstStyle/>
                    <a:p>
                      <a:pPr>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Analizar y Reflexionar</a:t>
                      </a:r>
                    </a:p>
                  </a:txBody>
                  <a:tcPr marL="49893" marR="4989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342900" lvl="0" indent="-342900">
                        <a:lnSpc>
                          <a:spcPct val="107000"/>
                        </a:lnSpc>
                        <a:buFont typeface="Wingdings" panose="05000000000000000000" pitchFamily="2" charset="2"/>
                        <a:buChar char=""/>
                      </a:pPr>
                      <a:r>
                        <a:rPr lang="es-MX" sz="1200" b="0" kern="100" dirty="0">
                          <a:effectLst/>
                          <a:latin typeface="+mn-lt"/>
                          <a:ea typeface="Calibri" panose="020F0502020204030204" pitchFamily="34" charset="0"/>
                          <a:cs typeface="Times New Roman" panose="02020603050405020304" pitchFamily="18" charset="0"/>
                        </a:rPr>
                        <a:t>Iniciar las actividades con los alumnos (as) con una dinámica, en una caja colocar elementos del maíz. se darán indicaciones al grupo.</a:t>
                      </a:r>
                    </a:p>
                    <a:p>
                      <a:pPr marL="342900" lvl="0" indent="-342900">
                        <a:lnSpc>
                          <a:spcPct val="107000"/>
                        </a:lnSpc>
                        <a:buFont typeface="Wingdings" panose="05000000000000000000" pitchFamily="2" charset="2"/>
                        <a:buChar char=""/>
                      </a:pPr>
                      <a:r>
                        <a:rPr lang="es-MX" sz="1200" b="0" kern="100" dirty="0">
                          <a:effectLst/>
                          <a:latin typeface="+mn-lt"/>
                          <a:ea typeface="Calibri" panose="020F0502020204030204" pitchFamily="34" charset="0"/>
                          <a:cs typeface="Times New Roman" panose="02020603050405020304" pitchFamily="18" charset="0"/>
                        </a:rPr>
                        <a:t>Elegir a un alumno el cual se vendará de los ojos, la indicación será que tome de la caja un elemento y lo manipule, lo huela incluso lo pruebe y trate de adivinar de que elemento se trata, el resto del grupo se mantendrá callado hasta que el compañero pida ayuda y entre todos se mencionara el nombre. Se realizarán varias participaciones con el grupo invitando a que todos participen</a:t>
                      </a:r>
                    </a:p>
                    <a:p>
                      <a:pPr marL="342900" lvl="0" indent="-342900">
                        <a:lnSpc>
                          <a:spcPct val="107000"/>
                        </a:lnSpc>
                        <a:buFont typeface="Wingdings" panose="05000000000000000000" pitchFamily="2" charset="2"/>
                        <a:buChar char=""/>
                      </a:pPr>
                      <a:r>
                        <a:rPr lang="es-MX" sz="1200" b="0" kern="100" dirty="0">
                          <a:effectLst/>
                          <a:latin typeface="+mn-lt"/>
                          <a:ea typeface="Calibri" panose="020F0502020204030204" pitchFamily="34" charset="0"/>
                          <a:cs typeface="Times New Roman" panose="02020603050405020304" pitchFamily="18" charset="0"/>
                        </a:rPr>
                        <a:t>Invitar a los alumnos(as) que tomen un lugar cómodo para observar el siguiente video a cerca de los sentidos </a:t>
                      </a:r>
                      <a:r>
                        <a:rPr lang="es-MX" sz="1200" b="0" u="sng" kern="100" dirty="0">
                          <a:solidFill>
                            <a:srgbClr val="0563C1"/>
                          </a:solidFill>
                          <a:effectLst/>
                          <a:latin typeface="+mn-lt"/>
                          <a:ea typeface="Calibri" panose="020F0502020204030204" pitchFamily="34" charset="0"/>
                          <a:cs typeface="Times New Roman" panose="02020603050405020304" pitchFamily="18" charset="0"/>
                          <a:hlinkClick r:id="rId3"/>
                        </a:rPr>
                        <a:t>https://www.youtube.com/watch?v=a_EfwFzm1ys</a:t>
                      </a:r>
                      <a:r>
                        <a:rPr lang="es-MX" sz="1200" b="0" kern="100" dirty="0">
                          <a:effectLst/>
                          <a:latin typeface="+mn-lt"/>
                          <a:ea typeface="Calibri" panose="020F0502020204030204" pitchFamily="34" charset="0"/>
                          <a:cs typeface="Times New Roman" panose="02020603050405020304" pitchFamily="18" charset="0"/>
                        </a:rPr>
                        <a:t>, posteriormente dialogaremos de manera grupal para que sirve cada uno de los sentidos (ojos, oído, manos, nariz, boca) y lo relacionaremos con la actividad de los ojos vendados y el video, se realizaran comentarios.</a:t>
                      </a:r>
                    </a:p>
                    <a:p>
                      <a:pPr marL="342900" lvl="0" indent="-342900">
                        <a:lnSpc>
                          <a:spcPct val="107000"/>
                        </a:lnSpc>
                        <a:buFont typeface="Wingdings" panose="05000000000000000000" pitchFamily="2" charset="2"/>
                        <a:buChar char=""/>
                      </a:pPr>
                      <a:r>
                        <a:rPr lang="es-MX" sz="1200" b="0" kern="100" dirty="0">
                          <a:effectLst/>
                          <a:latin typeface="+mn-lt"/>
                          <a:ea typeface="Calibri" panose="020F0502020204030204" pitchFamily="34" charset="0"/>
                          <a:cs typeface="Times New Roman" panose="02020603050405020304" pitchFamily="18" charset="0"/>
                        </a:rPr>
                        <a:t>Dialogar con los alumnos cual fue la experiencia que tuvieron al explorar los materiales, y ahora tomaran un elemento (tortilla, elote, atole, memela, productos de maíz) y lo probaran cada uno e irán comentando y compartiendo a sus compañeros a que sabe.</a:t>
                      </a:r>
                    </a:p>
                    <a:p>
                      <a:pPr marL="342900" lvl="0" indent="-342900">
                        <a:lnSpc>
                          <a:spcPct val="107000"/>
                        </a:lnSpc>
                        <a:buFont typeface="Wingdings" panose="05000000000000000000" pitchFamily="2" charset="2"/>
                        <a:buChar char=""/>
                      </a:pPr>
                      <a:r>
                        <a:rPr lang="es-MX" sz="1200" b="0" kern="100" dirty="0">
                          <a:effectLst/>
                          <a:latin typeface="+mn-lt"/>
                          <a:ea typeface="Calibri" panose="020F0502020204030204" pitchFamily="34" charset="0"/>
                          <a:cs typeface="Times New Roman" panose="02020603050405020304" pitchFamily="18" charset="0"/>
                        </a:rPr>
                        <a:t> Solicitar a los alumnos (as) que con plastilina molden algún elemento del maíz, puede ser el que más les parezca interesante, al finalizar se colocaran en una mesita y todos los alumnos de manera ordenada pasaran a observar los elementos moldeados con plastilina, analizaran formas, colores, tamaños.</a:t>
                      </a:r>
                    </a:p>
                    <a:p>
                      <a:pPr marL="342900" lvl="0" indent="-342900">
                        <a:lnSpc>
                          <a:spcPct val="107000"/>
                        </a:lnSpc>
                        <a:spcAft>
                          <a:spcPts val="800"/>
                        </a:spcAft>
                        <a:buFont typeface="Wingdings" panose="05000000000000000000" pitchFamily="2" charset="2"/>
                        <a:buChar char=""/>
                      </a:pPr>
                      <a:r>
                        <a:rPr lang="es-MX" sz="1200" b="0" kern="100" dirty="0">
                          <a:effectLst/>
                          <a:latin typeface="+mn-lt"/>
                          <a:ea typeface="Calibri" panose="020F0502020204030204" pitchFamily="34" charset="0"/>
                          <a:cs typeface="Times New Roman" panose="02020603050405020304" pitchFamily="18" charset="0"/>
                        </a:rPr>
                        <a:t>Para finalizar esta actividad se solicitará a los alumnos (as) que cantes la canción que en sesiones anteriores se a estado practicando </a:t>
                      </a:r>
                    </a:p>
                    <a:p>
                      <a:pPr>
                        <a:lnSpc>
                          <a:spcPct val="115000"/>
                        </a:lnSpc>
                        <a:spcAft>
                          <a:spcPts val="1000"/>
                        </a:spcAft>
                        <a:buNone/>
                      </a:pPr>
                      <a:r>
                        <a:rPr lang="es-MX" sz="1200" b="0" kern="100" dirty="0">
                          <a:effectLst/>
                          <a:latin typeface="+mn-lt"/>
                          <a:ea typeface="Calibri" panose="020F0502020204030204" pitchFamily="34" charset="0"/>
                          <a:cs typeface="Times New Roman" panose="02020603050405020304" pitchFamily="18" charset="0"/>
                        </a:rPr>
                        <a:t>.      </a:t>
                      </a:r>
                      <a:r>
                        <a:rPr lang="es-MX" sz="1200" b="0" u="sng" kern="100" dirty="0">
                          <a:solidFill>
                            <a:srgbClr val="0563C1"/>
                          </a:solidFill>
                          <a:effectLst/>
                          <a:latin typeface="+mn-lt"/>
                          <a:ea typeface="Calibri" panose="020F0502020204030204" pitchFamily="34" charset="0"/>
                          <a:cs typeface="Times New Roman" panose="02020603050405020304" pitchFamily="18" charset="0"/>
                          <a:hlinkClick r:id="rId4"/>
                        </a:rPr>
                        <a:t>https://www.youtube.com/watch?v=b4FrILpELL0</a:t>
                      </a:r>
                      <a:endParaRPr lang="es-MX" sz="1200" b="0" kern="100" dirty="0">
                        <a:effectLst/>
                        <a:latin typeface="+mn-lt"/>
                        <a:ea typeface="Calibri" panose="020F0502020204030204" pitchFamily="34" charset="0"/>
                        <a:cs typeface="Times New Roman" panose="02020603050405020304" pitchFamily="18" charset="0"/>
                      </a:endParaRPr>
                    </a:p>
                  </a:txBody>
                  <a:tcPr marL="49893" marR="4989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Vendas</a:t>
                      </a:r>
                    </a:p>
                    <a:p>
                      <a:pPr>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Caja</a:t>
                      </a:r>
                    </a:p>
                    <a:p>
                      <a:pPr>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Proyector</a:t>
                      </a:r>
                    </a:p>
                    <a:p>
                      <a:pPr>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Laptop</a:t>
                      </a:r>
                    </a:p>
                    <a:p>
                      <a:pPr>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Plastilina</a:t>
                      </a:r>
                    </a:p>
                    <a:p>
                      <a:pPr>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Libreta de trabajo</a:t>
                      </a:r>
                    </a:p>
                    <a:p>
                      <a:pPr>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bocina</a:t>
                      </a:r>
                    </a:p>
                    <a:p>
                      <a:pPr>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txBody>
                  <a:tcPr marL="49893" marR="4989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09342917"/>
                  </a:ext>
                </a:extLst>
              </a:tr>
              <a:tr h="329157">
                <a:tc>
                  <a:txBody>
                    <a:bodyPr/>
                    <a:lstStyle/>
                    <a:p>
                      <a:pPr>
                        <a:lnSpc>
                          <a:spcPct val="107000"/>
                        </a:lnSpc>
                        <a:spcAft>
                          <a:spcPts val="800"/>
                        </a:spcAft>
                        <a:buNone/>
                      </a:pPr>
                      <a:r>
                        <a:rPr lang="es-MX" sz="1200" kern="100">
                          <a:effectLst/>
                          <a:latin typeface="+mn-lt"/>
                          <a:ea typeface="Calibri" panose="020F0502020204030204" pitchFamily="34" charset="0"/>
                          <a:cs typeface="Times New Roman" panose="02020603050405020304" pitchFamily="18" charset="0"/>
                        </a:rPr>
                        <a:t>Marcos de oracion</a:t>
                      </a:r>
                    </a:p>
                  </a:txBody>
                  <a:tcPr marL="49893" marR="4989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La tortilla es buena    in tlaxcal </a:t>
                      </a:r>
                      <a:r>
                        <a:rPr lang="es-MX" sz="1200" kern="100" dirty="0" err="1">
                          <a:effectLst/>
                          <a:latin typeface="+mn-lt"/>
                          <a:ea typeface="Calibri" panose="020F0502020204030204" pitchFamily="34" charset="0"/>
                          <a:cs typeface="Times New Roman" panose="02020603050405020304" pitchFamily="18" charset="0"/>
                        </a:rPr>
                        <a:t>wuelik</a:t>
                      </a:r>
                      <a:r>
                        <a:rPr lang="es-MX" sz="1200" kern="100" dirty="0">
                          <a:effectLst/>
                          <a:latin typeface="+mn-lt"/>
                          <a:ea typeface="Calibri" panose="020F0502020204030204" pitchFamily="34" charset="0"/>
                          <a:cs typeface="Times New Roman" panose="02020603050405020304" pitchFamily="18" charset="0"/>
                        </a:rPr>
                        <a:t> </a:t>
                      </a:r>
                    </a:p>
                    <a:p>
                      <a:pPr>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txBody>
                  <a:tcPr marL="49893" marR="4989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txBody>
                  <a:tcPr marL="49893" marR="4989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66105430"/>
                  </a:ext>
                </a:extLst>
              </a:tr>
            </a:tbl>
          </a:graphicData>
        </a:graphic>
      </p:graphicFrame>
    </p:spTree>
    <p:extLst>
      <p:ext uri="{BB962C8B-B14F-4D97-AF65-F5344CB8AC3E}">
        <p14:creationId xmlns:p14="http://schemas.microsoft.com/office/powerpoint/2010/main" val="17697235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1DF9A-F9FB-D67D-6648-E413E89197E7}"/>
            </a:ext>
          </a:extLst>
        </p:cNvPr>
        <p:cNvGrpSpPr/>
        <p:nvPr/>
      </p:nvGrpSpPr>
      <p:grpSpPr>
        <a:xfrm>
          <a:off x="0" y="0"/>
          <a:ext cx="0" cy="0"/>
          <a:chOff x="0" y="0"/>
          <a:chExt cx="0" cy="0"/>
        </a:xfrm>
      </p:grpSpPr>
      <p:graphicFrame>
        <p:nvGraphicFramePr>
          <p:cNvPr id="2" name="Tabla 1">
            <a:extLst>
              <a:ext uri="{FF2B5EF4-FFF2-40B4-BE49-F238E27FC236}">
                <a16:creationId xmlns:a16="http://schemas.microsoft.com/office/drawing/2014/main" id="{EA8F3F2A-0C6A-1AC8-723A-443E740B6D15}"/>
              </a:ext>
            </a:extLst>
          </p:cNvPr>
          <p:cNvGraphicFramePr>
            <a:graphicFrameLocks noGrp="1"/>
          </p:cNvGraphicFramePr>
          <p:nvPr>
            <p:extLst>
              <p:ext uri="{D42A27DB-BD31-4B8C-83A1-F6EECF244321}">
                <p14:modId xmlns:p14="http://schemas.microsoft.com/office/powerpoint/2010/main" val="3417771700"/>
              </p:ext>
            </p:extLst>
          </p:nvPr>
        </p:nvGraphicFramePr>
        <p:xfrm>
          <a:off x="302508" y="119090"/>
          <a:ext cx="11301182" cy="6107303"/>
        </p:xfrm>
        <a:graphic>
          <a:graphicData uri="http://schemas.openxmlformats.org/drawingml/2006/table">
            <a:tbl>
              <a:tblPr firstRow="1" firstCol="1" bandRow="1"/>
              <a:tblGrid>
                <a:gridCol w="2116011">
                  <a:extLst>
                    <a:ext uri="{9D8B030D-6E8A-4147-A177-3AD203B41FA5}">
                      <a16:colId xmlns:a16="http://schemas.microsoft.com/office/drawing/2014/main" val="2911341941"/>
                    </a:ext>
                  </a:extLst>
                </a:gridCol>
                <a:gridCol w="7183806">
                  <a:extLst>
                    <a:ext uri="{9D8B030D-6E8A-4147-A177-3AD203B41FA5}">
                      <a16:colId xmlns:a16="http://schemas.microsoft.com/office/drawing/2014/main" val="3637160099"/>
                    </a:ext>
                  </a:extLst>
                </a:gridCol>
                <a:gridCol w="2001365">
                  <a:extLst>
                    <a:ext uri="{9D8B030D-6E8A-4147-A177-3AD203B41FA5}">
                      <a16:colId xmlns:a16="http://schemas.microsoft.com/office/drawing/2014/main" val="3369402935"/>
                    </a:ext>
                  </a:extLst>
                </a:gridCol>
              </a:tblGrid>
              <a:tr h="0">
                <a:tc gridSpan="3">
                  <a:txBody>
                    <a:bodyPr/>
                    <a:lstStyle/>
                    <a:p>
                      <a:pPr algn="ctr">
                        <a:lnSpc>
                          <a:spcPct val="107000"/>
                        </a:lnSpc>
                        <a:spcAft>
                          <a:spcPts val="800"/>
                        </a:spcAft>
                        <a:buNone/>
                      </a:pPr>
                      <a:r>
                        <a:rPr lang="es-MX" sz="1200" b="1" kern="100" dirty="0">
                          <a:solidFill>
                            <a:srgbClr val="2E74B5"/>
                          </a:solidFill>
                          <a:effectLst/>
                          <a:latin typeface="+mn-lt"/>
                          <a:ea typeface="Calibri" panose="020F0502020204030204" pitchFamily="34" charset="0"/>
                          <a:cs typeface="Times New Roman" panose="02020603050405020304" pitchFamily="18" charset="0"/>
                        </a:rPr>
                        <a:t>            Sesión         </a:t>
                      </a:r>
                      <a:r>
                        <a:rPr lang="es-MX" sz="1200" b="1" kern="100" dirty="0">
                          <a:solidFill>
                            <a:srgbClr val="000000"/>
                          </a:solidFill>
                          <a:effectLst/>
                          <a:latin typeface="+mn-lt"/>
                          <a:ea typeface="Calibri" panose="020F0502020204030204" pitchFamily="34" charset="0"/>
                          <a:cs typeface="Times New Roman" panose="02020603050405020304" pitchFamily="18" charset="0"/>
                        </a:rPr>
                        <a:t>8</a:t>
                      </a:r>
                      <a:r>
                        <a:rPr lang="es-MX" sz="1200" b="1" kern="100" dirty="0">
                          <a:solidFill>
                            <a:srgbClr val="2E74B5"/>
                          </a:solidFill>
                          <a:effectLst/>
                          <a:latin typeface="+mn-lt"/>
                          <a:ea typeface="Calibri" panose="020F0502020204030204" pitchFamily="34" charset="0"/>
                          <a:cs typeface="Times New Roman" panose="02020603050405020304" pitchFamily="18" charset="0"/>
                        </a:rPr>
                        <a:t>                      </a:t>
                      </a:r>
                      <a:endParaRPr lang="es-MX" sz="1200" kern="100" dirty="0">
                        <a:effectLst/>
                        <a:latin typeface="+mn-lt"/>
                        <a:ea typeface="Calibri" panose="020F0502020204030204" pitchFamily="34" charset="0"/>
                        <a:cs typeface="Times New Roman" panose="02020603050405020304" pitchFamily="18" charset="0"/>
                      </a:endParaRPr>
                    </a:p>
                    <a:p>
                      <a:pPr algn="ctr">
                        <a:lnSpc>
                          <a:spcPct val="107000"/>
                        </a:lnSpc>
                        <a:spcAft>
                          <a:spcPts val="800"/>
                        </a:spcAft>
                        <a:buNone/>
                      </a:pPr>
                      <a:r>
                        <a:rPr lang="es-MX" sz="1200" b="1" kern="100" dirty="0">
                          <a:solidFill>
                            <a:srgbClr val="2E74B5"/>
                          </a:solidFill>
                          <a:effectLst/>
                          <a:latin typeface="+mn-lt"/>
                          <a:ea typeface="Calibri" panose="020F0502020204030204" pitchFamily="34" charset="0"/>
                          <a:cs typeface="Times New Roman" panose="02020603050405020304" pitchFamily="18" charset="0"/>
                        </a:rPr>
                        <a:t>   Fecha:    </a:t>
                      </a:r>
                      <a:r>
                        <a:rPr lang="es-MX" sz="1200" b="0" kern="100" dirty="0">
                          <a:solidFill>
                            <a:srgbClr val="000000"/>
                          </a:solidFill>
                          <a:effectLst/>
                          <a:latin typeface="+mn-lt"/>
                          <a:ea typeface="Calibri" panose="020F0502020204030204" pitchFamily="34" charset="0"/>
                          <a:cs typeface="Times New Roman" panose="02020603050405020304" pitchFamily="18" charset="0"/>
                        </a:rPr>
                        <a:t>miércoles 21  </a:t>
                      </a:r>
                      <a:r>
                        <a:rPr lang="es-MX" sz="1200" b="0" kern="100" dirty="0">
                          <a:effectLst/>
                          <a:latin typeface="+mn-lt"/>
                          <a:ea typeface="Calibri" panose="020F0502020204030204" pitchFamily="34" charset="0"/>
                          <a:cs typeface="Times New Roman" panose="02020603050405020304" pitchFamily="18" charset="0"/>
                        </a:rPr>
                        <a:t>de enero de 2026</a:t>
                      </a:r>
                    </a:p>
                    <a:p>
                      <a:pPr algn="ctr">
                        <a:lnSpc>
                          <a:spcPct val="107000"/>
                        </a:lnSpc>
                        <a:spcAft>
                          <a:spcPts val="800"/>
                        </a:spcAft>
                        <a:buNone/>
                      </a:pPr>
                      <a:r>
                        <a:rPr lang="es-MX" sz="1200" b="1" kern="100" dirty="0">
                          <a:solidFill>
                            <a:srgbClr val="2E74B5"/>
                          </a:solidFill>
                          <a:effectLst/>
                          <a:latin typeface="+mn-lt"/>
                          <a:ea typeface="Calibri" panose="020F0502020204030204" pitchFamily="34" charset="0"/>
                          <a:cs typeface="Times New Roman" panose="02020603050405020304" pitchFamily="18" charset="0"/>
                        </a:rPr>
                        <a:t>  Subtema:   </a:t>
                      </a:r>
                      <a:r>
                        <a:rPr lang="es-MX" sz="1200" kern="100" dirty="0">
                          <a:effectLst/>
                          <a:latin typeface="+mn-lt"/>
                          <a:ea typeface="Calibri" panose="020F0502020204030204" pitchFamily="34" charset="0"/>
                          <a:cs typeface="Times New Roman" panose="02020603050405020304" pitchFamily="18" charset="0"/>
                        </a:rPr>
                        <a:t> Sabores y alimentos del maíz</a:t>
                      </a:r>
                    </a:p>
                    <a:p>
                      <a:pPr algn="ctr">
                        <a:lnSpc>
                          <a:spcPct val="107000"/>
                        </a:lnSpc>
                        <a:spcAft>
                          <a:spcPts val="800"/>
                        </a:spcAft>
                        <a:buNone/>
                      </a:pPr>
                      <a:r>
                        <a:rPr lang="es-MX" sz="1200" b="1" kern="100" dirty="0">
                          <a:solidFill>
                            <a:srgbClr val="2E74B5"/>
                          </a:solidFill>
                          <a:effectLst/>
                          <a:latin typeface="+mn-lt"/>
                          <a:ea typeface="Calibri" panose="020F0502020204030204" pitchFamily="34" charset="0"/>
                          <a:cs typeface="Times New Roman" panose="02020603050405020304" pitchFamily="18" charset="0"/>
                        </a:rPr>
                        <a:t> Actividad:</a:t>
                      </a:r>
                      <a:r>
                        <a:rPr lang="es-MX" sz="1200" b="1" kern="100" dirty="0">
                          <a:effectLst/>
                          <a:latin typeface="+mn-lt"/>
                          <a:ea typeface="Calibri" panose="020F0502020204030204" pitchFamily="34" charset="0"/>
                          <a:cs typeface="Times New Roman" panose="02020603050405020304" pitchFamily="18" charset="0"/>
                        </a:rPr>
                        <a:t>   </a:t>
                      </a:r>
                      <a:r>
                        <a:rPr lang="es-MX" sz="1200" b="0" kern="100" dirty="0">
                          <a:effectLst/>
                          <a:latin typeface="+mn-lt"/>
                          <a:ea typeface="Calibri" panose="020F0502020204030204" pitchFamily="34" charset="0"/>
                          <a:cs typeface="Times New Roman" panose="02020603050405020304" pitchFamily="18" charset="0"/>
                        </a:rPr>
                        <a:t>Jugamos a hacer tortillas</a:t>
                      </a:r>
                      <a:r>
                        <a:rPr lang="es-MX" sz="1200" b="0" kern="100" dirty="0">
                          <a:solidFill>
                            <a:srgbClr val="2E74B5"/>
                          </a:solidFill>
                          <a:effectLst/>
                          <a:latin typeface="+mn-lt"/>
                          <a:ea typeface="Calibri" panose="020F0502020204030204" pitchFamily="34" charset="0"/>
                          <a:cs typeface="Times New Roman" panose="02020603050405020304" pitchFamily="18" charset="0"/>
                        </a:rPr>
                        <a:t> </a:t>
                      </a:r>
                      <a:endParaRPr lang="es-MX" sz="1200" b="0" kern="100" dirty="0">
                        <a:effectLst/>
                        <a:latin typeface="+mn-lt"/>
                        <a:ea typeface="Calibri" panose="020F0502020204030204" pitchFamily="34" charset="0"/>
                        <a:cs typeface="Times New Roman" panose="02020603050405020304" pitchFamily="18" charset="0"/>
                      </a:endParaRPr>
                    </a:p>
                  </a:txBody>
                  <a:tcPr marL="43565" marR="435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s-MX"/>
                    </a:p>
                  </a:txBody>
                  <a:tcPr/>
                </a:tc>
                <a:tc hMerge="1">
                  <a:txBody>
                    <a:bodyPr/>
                    <a:lstStyle/>
                    <a:p>
                      <a:endParaRPr lang="es-MX"/>
                    </a:p>
                  </a:txBody>
                  <a:tcPr/>
                </a:tc>
                <a:extLst>
                  <a:ext uri="{0D108BD9-81ED-4DB2-BD59-A6C34878D82A}">
                    <a16:rowId xmlns:a16="http://schemas.microsoft.com/office/drawing/2014/main" val="343208570"/>
                  </a:ext>
                </a:extLst>
              </a:tr>
              <a:tr h="139770">
                <a:tc>
                  <a:txBody>
                    <a:bodyPr/>
                    <a:lstStyle/>
                    <a:p>
                      <a:pPr algn="l">
                        <a:lnSpc>
                          <a:spcPct val="107000"/>
                        </a:lnSpc>
                        <a:spcAft>
                          <a:spcPts val="800"/>
                        </a:spcAft>
                        <a:buNone/>
                      </a:pPr>
                      <a:r>
                        <a:rPr lang="es-MX" sz="1200" b="1" kern="100">
                          <a:effectLst/>
                          <a:latin typeface="+mn-lt"/>
                          <a:ea typeface="Calibri" panose="020F0502020204030204" pitchFamily="34" charset="0"/>
                          <a:cs typeface="Times New Roman" panose="02020603050405020304" pitchFamily="18" charset="0"/>
                        </a:rPr>
                        <a:t>Momento</a:t>
                      </a:r>
                      <a:endParaRPr lang="es-MX" sz="1200" kern="100">
                        <a:effectLst/>
                        <a:latin typeface="+mn-lt"/>
                        <a:ea typeface="Calibri" panose="020F0502020204030204" pitchFamily="34" charset="0"/>
                        <a:cs typeface="Times New Roman" panose="02020603050405020304" pitchFamily="18" charset="0"/>
                      </a:endParaRPr>
                    </a:p>
                  </a:txBody>
                  <a:tcPr marL="43565" marR="435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1200" b="1" kern="100" dirty="0">
                          <a:effectLst/>
                          <a:latin typeface="+mn-lt"/>
                          <a:ea typeface="Calibri" panose="020F0502020204030204" pitchFamily="34" charset="0"/>
                          <a:cs typeface="Times New Roman" panose="02020603050405020304" pitchFamily="18" charset="0"/>
                        </a:rPr>
                        <a:t>                                                               Actividades</a:t>
                      </a:r>
                      <a:endParaRPr lang="es-MX" sz="1200" kern="100" dirty="0">
                        <a:effectLst/>
                        <a:latin typeface="+mn-lt"/>
                        <a:ea typeface="Calibri" panose="020F0502020204030204" pitchFamily="34" charset="0"/>
                        <a:cs typeface="Times New Roman" panose="02020603050405020304" pitchFamily="18" charset="0"/>
                      </a:endParaRPr>
                    </a:p>
                  </a:txBody>
                  <a:tcPr marL="43565" marR="435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1200" b="1" kern="100" dirty="0">
                          <a:effectLst/>
                          <a:latin typeface="+mn-lt"/>
                          <a:ea typeface="Calibri" panose="020F0502020204030204" pitchFamily="34" charset="0"/>
                          <a:cs typeface="Times New Roman" panose="02020603050405020304" pitchFamily="18" charset="0"/>
                        </a:rPr>
                        <a:t>Recursos</a:t>
                      </a:r>
                    </a:p>
                    <a:p>
                      <a:pPr algn="l">
                        <a:lnSpc>
                          <a:spcPct val="107000"/>
                        </a:lnSpc>
                        <a:spcAft>
                          <a:spcPts val="800"/>
                        </a:spcAft>
                        <a:buNone/>
                      </a:pPr>
                      <a:endParaRPr lang="es-MX" sz="1200" kern="100" dirty="0">
                        <a:effectLst/>
                        <a:latin typeface="+mn-lt"/>
                        <a:ea typeface="Calibri" panose="020F0502020204030204" pitchFamily="34" charset="0"/>
                        <a:cs typeface="Times New Roman" panose="02020603050405020304" pitchFamily="18" charset="0"/>
                      </a:endParaRPr>
                    </a:p>
                  </a:txBody>
                  <a:tcPr marL="43565" marR="435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85253623"/>
                  </a:ext>
                </a:extLst>
              </a:tr>
              <a:tr h="3416312">
                <a:tc>
                  <a:txBody>
                    <a:bodyPr/>
                    <a:lstStyle/>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Resolver en Común</a:t>
                      </a:r>
                    </a:p>
                  </a:txBody>
                  <a:tcPr marL="43565" marR="435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342900" lvl="0" indent="-342900" algn="l">
                        <a:lnSpc>
                          <a:spcPct val="100000"/>
                        </a:lnSpc>
                        <a:spcAft>
                          <a:spcPts val="10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Dialogar con los alumnos (as) que, si en algún momento han hecho tortillas, ¿saben como se hacen? ¿Quién las hace en casa? ¿que necesitamos para hacer tortillas? </a:t>
                      </a:r>
                    </a:p>
                    <a:p>
                      <a:pPr marL="342900" lvl="0" indent="-342900" algn="l">
                        <a:lnSpc>
                          <a:spcPct val="100000"/>
                        </a:lnSpc>
                        <a:spcAft>
                          <a:spcPts val="10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Invitemos a los alumnos (as) a ver la siguiente proyección a cerca de como se hacen tortillas en las comunidades </a:t>
                      </a:r>
                      <a:r>
                        <a:rPr lang="es-MX" sz="1200" u="sng" kern="100" dirty="0">
                          <a:solidFill>
                            <a:srgbClr val="0563C1"/>
                          </a:solidFill>
                          <a:effectLst/>
                          <a:latin typeface="+mn-lt"/>
                          <a:ea typeface="Calibri" panose="020F0502020204030204" pitchFamily="34" charset="0"/>
                          <a:cs typeface="Times New Roman" panose="02020603050405020304" pitchFamily="18" charset="0"/>
                          <a:hlinkClick r:id="rId2"/>
                        </a:rPr>
                        <a:t>https://www.youtube.com/watch?v=GyA4E02fHPY</a:t>
                      </a:r>
                      <a:r>
                        <a:rPr lang="es-MX" sz="1200" kern="100" dirty="0">
                          <a:effectLst/>
                          <a:latin typeface="+mn-lt"/>
                          <a:ea typeface="Calibri" panose="020F0502020204030204" pitchFamily="34" charset="0"/>
                          <a:cs typeface="Times New Roman" panose="02020603050405020304" pitchFamily="18" charset="0"/>
                        </a:rPr>
                        <a:t>  y comentar con el grupo si les gustaría hacerlas </a:t>
                      </a:r>
                    </a:p>
                    <a:p>
                      <a:pPr marL="342900" lvl="0" indent="-342900" algn="l">
                        <a:lnSpc>
                          <a:spcPct val="100000"/>
                        </a:lnSpc>
                        <a:spcAft>
                          <a:spcPts val="10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Motivar a los alumnos (as) para que   participen colectivamente para decidir </a:t>
                      </a:r>
                      <a:r>
                        <a:rPr lang="es-MX" sz="1200" b="1" kern="100" dirty="0">
                          <a:effectLst/>
                          <a:latin typeface="+mn-lt"/>
                          <a:ea typeface="Calibri" panose="020F0502020204030204" pitchFamily="34" charset="0"/>
                          <a:cs typeface="Times New Roman" panose="02020603050405020304" pitchFamily="18" charset="0"/>
                        </a:rPr>
                        <a:t>cómo hacer tortillas</a:t>
                      </a:r>
                      <a:r>
                        <a:rPr lang="es-MX" sz="1200" kern="100" dirty="0">
                          <a:effectLst/>
                          <a:latin typeface="+mn-lt"/>
                          <a:ea typeface="Calibri" panose="020F0502020204030204" pitchFamily="34" charset="0"/>
                          <a:cs typeface="Times New Roman" panose="02020603050405020304" pitchFamily="18" charset="0"/>
                        </a:rPr>
                        <a:t>, compartiendo ideas, acciones y acuerdos, con acompañamiento de la docente ¿De dónde sale? ¿Quién la hace en casa? ¿Qué necesitamos para hacerla? Cada niño dice una idea.</a:t>
                      </a:r>
                    </a:p>
                    <a:p>
                      <a:pPr marL="342900" lvl="0" indent="-342900" algn="l">
                        <a:lnSpc>
                          <a:spcPct val="100000"/>
                        </a:lnSpc>
                        <a:spcAft>
                          <a:spcPts val="10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Realizar un listado de los materiales que se utilizaran para poder hacer tortillas maíz agua manos, comal masa, en una lámina se pegaran imágenes de los materiales que están en lista y se pegara en una parte del salón para tener presente lo que se utilizara </a:t>
                      </a:r>
                    </a:p>
                    <a:p>
                      <a:pPr marL="342900" lvl="0" indent="-342900" algn="l">
                        <a:lnSpc>
                          <a:spcPct val="100000"/>
                        </a:lnSpc>
                        <a:spcAft>
                          <a:spcPts val="10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De manera grupal contar cuantos materiales se necesitan primero se contarán en español y posteriormente en náhuat, a cada material la docente escribe su nombre y los alumnos lo pronunciarán en voz alta </a:t>
                      </a:r>
                    </a:p>
                    <a:p>
                      <a:pPr marL="342900" lvl="0" indent="-342900" algn="l">
                        <a:lnSpc>
                          <a:spcPct val="100000"/>
                        </a:lnSpc>
                        <a:spcAft>
                          <a:spcPts val="10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Entre todos se dice en voz alta decimos </a:t>
                      </a:r>
                      <a:r>
                        <a:rPr lang="es-MX" sz="1200" i="1" kern="100" dirty="0">
                          <a:effectLst/>
                          <a:latin typeface="+mn-lt"/>
                          <a:ea typeface="Calibri" panose="020F0502020204030204" pitchFamily="34" charset="0"/>
                          <a:cs typeface="Times New Roman" panose="02020603050405020304" pitchFamily="18" charset="0"/>
                        </a:rPr>
                        <a:t>“Para hacer tortillas necesitamos…” y se mencionan los nombres de los materiales que están en la lamina</a:t>
                      </a:r>
                      <a:endParaRPr lang="es-MX" sz="1200" kern="100" dirty="0">
                        <a:effectLst/>
                        <a:latin typeface="+mn-lt"/>
                        <a:ea typeface="Calibri" panose="020F0502020204030204" pitchFamily="34" charset="0"/>
                        <a:cs typeface="Times New Roman" panose="02020603050405020304" pitchFamily="18" charset="0"/>
                      </a:endParaRPr>
                    </a:p>
                    <a:p>
                      <a:pPr marL="342900" lvl="0" indent="-342900" algn="l">
                        <a:lnSpc>
                          <a:spcPct val="100000"/>
                        </a:lnSpc>
                        <a:spcAft>
                          <a:spcPts val="1000"/>
                        </a:spcAft>
                        <a:buFont typeface="Wingdings" panose="05000000000000000000" pitchFamily="2" charset="2"/>
                        <a:buChar char=""/>
                      </a:pPr>
                      <a:r>
                        <a:rPr lang="es-MX" sz="1200" i="1" kern="100" dirty="0">
                          <a:effectLst/>
                          <a:latin typeface="+mn-lt"/>
                          <a:ea typeface="Calibri" panose="020F0502020204030204" pitchFamily="34" charset="0"/>
                          <a:cs typeface="Times New Roman" panose="02020603050405020304" pitchFamily="18" charset="0"/>
                        </a:rPr>
                        <a:t>Solicitar que el día de mañana traer los materiales necesarios para ello se tomaran acuerdos de quienes traerán los materiales</a:t>
                      </a:r>
                      <a:endParaRPr lang="es-MX" sz="1200" kern="100" dirty="0">
                        <a:effectLst/>
                        <a:latin typeface="+mn-lt"/>
                        <a:ea typeface="Calibri" panose="020F0502020204030204" pitchFamily="34" charset="0"/>
                        <a:cs typeface="Times New Roman" panose="02020603050405020304" pitchFamily="18" charset="0"/>
                      </a:endParaRPr>
                    </a:p>
                  </a:txBody>
                  <a:tcPr marL="43565" marR="435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laptop</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Proyector</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Pizarrón</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Plumones</a:t>
                      </a:r>
                    </a:p>
                    <a:p>
                      <a:pPr algn="l">
                        <a:lnSpc>
                          <a:spcPct val="107000"/>
                        </a:lnSpc>
                        <a:spcAft>
                          <a:spcPts val="800"/>
                        </a:spcAft>
                        <a:buNone/>
                      </a:pPr>
                      <a:endParaRPr lang="es-MX" sz="1200" kern="100" dirty="0">
                        <a:effectLst/>
                        <a:latin typeface="+mn-lt"/>
                        <a:ea typeface="Calibri" panose="020F0502020204030204" pitchFamily="34" charset="0"/>
                        <a:cs typeface="Times New Roman" panose="02020603050405020304" pitchFamily="18" charset="0"/>
                      </a:endParaRP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txBody>
                  <a:tcPr marL="43565" marR="435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40463425"/>
                  </a:ext>
                </a:extLst>
              </a:tr>
              <a:tr h="0">
                <a:tc>
                  <a:txBody>
                    <a:bodyPr/>
                    <a:lstStyle/>
                    <a:p>
                      <a:pPr algn="l">
                        <a:lnSpc>
                          <a:spcPct val="107000"/>
                        </a:lnSpc>
                        <a:spcAft>
                          <a:spcPts val="800"/>
                        </a:spcAft>
                        <a:buNone/>
                      </a:pPr>
                      <a:r>
                        <a:rPr lang="es-MX" sz="1200" kern="100">
                          <a:effectLst/>
                          <a:latin typeface="+mn-lt"/>
                          <a:ea typeface="Calibri" panose="020F0502020204030204" pitchFamily="34" charset="0"/>
                          <a:cs typeface="Times New Roman" panose="02020603050405020304" pitchFamily="18" charset="0"/>
                        </a:rPr>
                        <a:t>Marcos de oracion</a:t>
                      </a:r>
                    </a:p>
                  </a:txBody>
                  <a:tcPr marL="43565" marR="435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s-MX" sz="1200" kern="100" dirty="0">
                          <a:effectLst/>
                          <a:latin typeface="+mn-lt"/>
                          <a:ea typeface="Calibri" panose="020F0502020204030204" pitchFamily="34" charset="0"/>
                          <a:cs typeface="Times New Roman" panose="02020603050405020304" pitchFamily="18" charset="0"/>
                        </a:rPr>
                        <a:t> Yo como      Ne ni </a:t>
                      </a:r>
                      <a:r>
                        <a:rPr lang="es-MX" sz="1200" kern="100" dirty="0" err="1">
                          <a:effectLst/>
                          <a:latin typeface="+mn-lt"/>
                          <a:ea typeface="Calibri" panose="020F0502020204030204" pitchFamily="34" charset="0"/>
                          <a:cs typeface="Times New Roman" panose="02020603050405020304" pitchFamily="18" charset="0"/>
                        </a:rPr>
                        <a:t>tlakua</a:t>
                      </a:r>
                      <a:r>
                        <a:rPr lang="es-MX" sz="1200" kern="100" dirty="0">
                          <a:effectLst/>
                          <a:latin typeface="+mn-lt"/>
                          <a:ea typeface="Calibri" panose="020F0502020204030204" pitchFamily="34" charset="0"/>
                          <a:cs typeface="Times New Roman" panose="02020603050405020304" pitchFamily="18" charset="0"/>
                        </a:rPr>
                        <a:t> </a:t>
                      </a:r>
                    </a:p>
                    <a:p>
                      <a:pPr algn="l">
                        <a:lnSpc>
                          <a:spcPct val="107000"/>
                        </a:lnSpc>
                        <a:spcAft>
                          <a:spcPts val="800"/>
                        </a:spcAft>
                        <a:buNone/>
                      </a:pPr>
                      <a:endParaRPr lang="es-MX" sz="1200" kern="100" dirty="0">
                        <a:effectLst/>
                        <a:latin typeface="+mn-lt"/>
                        <a:ea typeface="Calibri" panose="020F0502020204030204" pitchFamily="34" charset="0"/>
                        <a:cs typeface="Times New Roman" panose="02020603050405020304" pitchFamily="18" charset="0"/>
                      </a:endParaRPr>
                    </a:p>
                  </a:txBody>
                  <a:tcPr marL="43565" marR="435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gn="l">
                        <a:lnSpc>
                          <a:spcPct val="107000"/>
                        </a:lnSpc>
                        <a:spcAft>
                          <a:spcPts val="800"/>
                        </a:spcAft>
                        <a:buNone/>
                      </a:pPr>
                      <a:endParaRPr lang="es-MX" sz="1200" kern="100" dirty="0">
                        <a:effectLst/>
                        <a:latin typeface="+mn-lt"/>
                        <a:ea typeface="Calibri" panose="020F0502020204030204" pitchFamily="34" charset="0"/>
                        <a:cs typeface="Times New Roman" panose="02020603050405020304" pitchFamily="18" charset="0"/>
                      </a:endParaRPr>
                    </a:p>
                  </a:txBody>
                  <a:tcPr marL="43565" marR="435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29212300"/>
                  </a:ext>
                </a:extLst>
              </a:tr>
            </a:tbl>
          </a:graphicData>
        </a:graphic>
      </p:graphicFrame>
    </p:spTree>
    <p:extLst>
      <p:ext uri="{BB962C8B-B14F-4D97-AF65-F5344CB8AC3E}">
        <p14:creationId xmlns:p14="http://schemas.microsoft.com/office/powerpoint/2010/main" val="17517069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59C56-E54B-0B9F-1808-2CDEC6BF92B1}"/>
            </a:ext>
          </a:extLst>
        </p:cNvPr>
        <p:cNvGrpSpPr/>
        <p:nvPr/>
      </p:nvGrpSpPr>
      <p:grpSpPr>
        <a:xfrm>
          <a:off x="0" y="0"/>
          <a:ext cx="0" cy="0"/>
          <a:chOff x="0" y="0"/>
          <a:chExt cx="0" cy="0"/>
        </a:xfrm>
      </p:grpSpPr>
      <p:graphicFrame>
        <p:nvGraphicFramePr>
          <p:cNvPr id="4" name="Tabla 3">
            <a:extLst>
              <a:ext uri="{FF2B5EF4-FFF2-40B4-BE49-F238E27FC236}">
                <a16:creationId xmlns:a16="http://schemas.microsoft.com/office/drawing/2014/main" id="{FB374A38-9E0C-B056-1676-E04A180E0B0E}"/>
              </a:ext>
            </a:extLst>
          </p:cNvPr>
          <p:cNvGraphicFramePr>
            <a:graphicFrameLocks noGrp="1"/>
          </p:cNvGraphicFramePr>
          <p:nvPr>
            <p:extLst>
              <p:ext uri="{D42A27DB-BD31-4B8C-83A1-F6EECF244321}">
                <p14:modId xmlns:p14="http://schemas.microsoft.com/office/powerpoint/2010/main" val="2109679050"/>
              </p:ext>
            </p:extLst>
          </p:nvPr>
        </p:nvGraphicFramePr>
        <p:xfrm>
          <a:off x="305495" y="114619"/>
          <a:ext cx="11581010" cy="6614004"/>
        </p:xfrm>
        <a:graphic>
          <a:graphicData uri="http://schemas.openxmlformats.org/drawingml/2006/table">
            <a:tbl>
              <a:tblPr firstRow="1" firstCol="1" bandRow="1"/>
              <a:tblGrid>
                <a:gridCol w="2168406">
                  <a:extLst>
                    <a:ext uri="{9D8B030D-6E8A-4147-A177-3AD203B41FA5}">
                      <a16:colId xmlns:a16="http://schemas.microsoft.com/office/drawing/2014/main" val="2119239786"/>
                    </a:ext>
                  </a:extLst>
                </a:gridCol>
                <a:gridCol w="7361684">
                  <a:extLst>
                    <a:ext uri="{9D8B030D-6E8A-4147-A177-3AD203B41FA5}">
                      <a16:colId xmlns:a16="http://schemas.microsoft.com/office/drawing/2014/main" val="3802736623"/>
                    </a:ext>
                  </a:extLst>
                </a:gridCol>
                <a:gridCol w="2050920">
                  <a:extLst>
                    <a:ext uri="{9D8B030D-6E8A-4147-A177-3AD203B41FA5}">
                      <a16:colId xmlns:a16="http://schemas.microsoft.com/office/drawing/2014/main" val="3080201892"/>
                    </a:ext>
                  </a:extLst>
                </a:gridCol>
              </a:tblGrid>
              <a:tr h="1060536">
                <a:tc gridSpan="3">
                  <a:txBody>
                    <a:bodyPr/>
                    <a:lstStyle/>
                    <a:p>
                      <a:pPr algn="ctr">
                        <a:lnSpc>
                          <a:spcPct val="107000"/>
                        </a:lnSpc>
                        <a:spcAft>
                          <a:spcPts val="800"/>
                        </a:spcAft>
                        <a:buNone/>
                      </a:pPr>
                      <a:r>
                        <a:rPr lang="es-MX" sz="1200" b="1" kern="100" dirty="0">
                          <a:solidFill>
                            <a:srgbClr val="2E74B5"/>
                          </a:solidFill>
                          <a:effectLst/>
                          <a:latin typeface="+mn-lt"/>
                          <a:ea typeface="Calibri" panose="020F0502020204030204" pitchFamily="34" charset="0"/>
                          <a:cs typeface="Times New Roman" panose="02020603050405020304" pitchFamily="18" charset="0"/>
                        </a:rPr>
                        <a:t>         Sesión      </a:t>
                      </a:r>
                      <a:r>
                        <a:rPr lang="es-MX" sz="1200" b="1" kern="100" dirty="0">
                          <a:solidFill>
                            <a:srgbClr val="000000"/>
                          </a:solidFill>
                          <a:effectLst/>
                          <a:latin typeface="+mn-lt"/>
                          <a:ea typeface="Calibri" panose="020F0502020204030204" pitchFamily="34" charset="0"/>
                          <a:cs typeface="Times New Roman" panose="02020603050405020304" pitchFamily="18" charset="0"/>
                        </a:rPr>
                        <a:t>9</a:t>
                      </a:r>
                      <a:r>
                        <a:rPr lang="es-MX" sz="1200" b="1" kern="100" dirty="0">
                          <a:solidFill>
                            <a:srgbClr val="2E74B5"/>
                          </a:solidFill>
                          <a:effectLst/>
                          <a:latin typeface="+mn-lt"/>
                          <a:ea typeface="Calibri" panose="020F0502020204030204" pitchFamily="34" charset="0"/>
                          <a:cs typeface="Times New Roman" panose="02020603050405020304" pitchFamily="18" charset="0"/>
                        </a:rPr>
                        <a:t>        </a:t>
                      </a:r>
                      <a:endParaRPr lang="es-MX" sz="1200" kern="100" dirty="0">
                        <a:effectLst/>
                        <a:latin typeface="+mn-lt"/>
                        <a:ea typeface="Calibri" panose="020F0502020204030204" pitchFamily="34" charset="0"/>
                        <a:cs typeface="Times New Roman" panose="02020603050405020304" pitchFamily="18" charset="0"/>
                      </a:endParaRPr>
                    </a:p>
                    <a:p>
                      <a:pPr algn="ctr">
                        <a:lnSpc>
                          <a:spcPct val="107000"/>
                        </a:lnSpc>
                        <a:spcAft>
                          <a:spcPts val="800"/>
                        </a:spcAft>
                        <a:buNone/>
                      </a:pPr>
                      <a:r>
                        <a:rPr lang="es-MX" sz="1200" b="1" kern="100" dirty="0">
                          <a:solidFill>
                            <a:srgbClr val="2E74B5"/>
                          </a:solidFill>
                          <a:effectLst/>
                          <a:latin typeface="+mn-lt"/>
                          <a:ea typeface="Calibri" panose="020F0502020204030204" pitchFamily="34" charset="0"/>
                          <a:cs typeface="Times New Roman" panose="02020603050405020304" pitchFamily="18" charset="0"/>
                        </a:rPr>
                        <a:t>                      Fecha:    </a:t>
                      </a:r>
                      <a:r>
                        <a:rPr lang="es-MX" sz="1200" b="1" kern="100" dirty="0">
                          <a:solidFill>
                            <a:srgbClr val="000000"/>
                          </a:solidFill>
                          <a:effectLst/>
                          <a:latin typeface="+mn-lt"/>
                          <a:ea typeface="Calibri" panose="020F0502020204030204" pitchFamily="34" charset="0"/>
                          <a:cs typeface="Times New Roman" panose="02020603050405020304" pitchFamily="18" charset="0"/>
                        </a:rPr>
                        <a:t>Jueves  22  </a:t>
                      </a:r>
                      <a:r>
                        <a:rPr lang="es-MX" sz="1200" b="1" kern="100" dirty="0">
                          <a:effectLst/>
                          <a:latin typeface="+mn-lt"/>
                          <a:ea typeface="Calibri" panose="020F0502020204030204" pitchFamily="34" charset="0"/>
                          <a:cs typeface="Times New Roman" panose="02020603050405020304" pitchFamily="18" charset="0"/>
                        </a:rPr>
                        <a:t>de enero de 2026</a:t>
                      </a:r>
                    </a:p>
                    <a:p>
                      <a:pPr algn="ctr">
                        <a:lnSpc>
                          <a:spcPct val="107000"/>
                        </a:lnSpc>
                        <a:spcAft>
                          <a:spcPts val="800"/>
                        </a:spcAft>
                        <a:buNone/>
                      </a:pPr>
                      <a:r>
                        <a:rPr lang="es-MX" sz="1200" b="1" kern="100" dirty="0">
                          <a:solidFill>
                            <a:srgbClr val="2E74B5"/>
                          </a:solidFill>
                          <a:effectLst/>
                          <a:latin typeface="+mn-lt"/>
                          <a:ea typeface="Calibri" panose="020F0502020204030204" pitchFamily="34" charset="0"/>
                          <a:cs typeface="Times New Roman" panose="02020603050405020304" pitchFamily="18" charset="0"/>
                        </a:rPr>
                        <a:t>  Subtema:   </a:t>
                      </a:r>
                      <a:r>
                        <a:rPr lang="es-MX" sz="1200" kern="100" dirty="0">
                          <a:effectLst/>
                          <a:latin typeface="+mn-lt"/>
                          <a:ea typeface="Calibri" panose="020F0502020204030204" pitchFamily="34" charset="0"/>
                          <a:cs typeface="Times New Roman" panose="02020603050405020304" pitchFamily="18" charset="0"/>
                        </a:rPr>
                        <a:t> Sabores y alimentos </a:t>
                      </a:r>
                    </a:p>
                    <a:p>
                      <a:pPr algn="ctr">
                        <a:lnSpc>
                          <a:spcPct val="107000"/>
                        </a:lnSpc>
                        <a:spcAft>
                          <a:spcPts val="800"/>
                        </a:spcAft>
                        <a:buNone/>
                      </a:pPr>
                      <a:r>
                        <a:rPr lang="es-MX" sz="1200" b="1" kern="100" dirty="0">
                          <a:solidFill>
                            <a:srgbClr val="2E74B5"/>
                          </a:solidFill>
                          <a:effectLst/>
                          <a:latin typeface="+mn-lt"/>
                          <a:ea typeface="Calibri" panose="020F0502020204030204" pitchFamily="34" charset="0"/>
                          <a:cs typeface="Times New Roman" panose="02020603050405020304" pitchFamily="18" charset="0"/>
                        </a:rPr>
                        <a:t>              Actividad:</a:t>
                      </a:r>
                      <a:r>
                        <a:rPr lang="es-MX" sz="1200" b="1" kern="100" dirty="0">
                          <a:effectLst/>
                          <a:latin typeface="+mn-lt"/>
                          <a:ea typeface="Calibri" panose="020F0502020204030204" pitchFamily="34" charset="0"/>
                          <a:cs typeface="Times New Roman" panose="02020603050405020304" pitchFamily="18" charset="0"/>
                        </a:rPr>
                        <a:t>    Jugamos a hacer tortillas</a:t>
                      </a:r>
                      <a:endParaRPr lang="es-MX" sz="1200" kern="100" dirty="0">
                        <a:effectLst/>
                        <a:latin typeface="+mn-lt"/>
                        <a:ea typeface="Calibri" panose="020F0502020204030204" pitchFamily="34" charset="0"/>
                        <a:cs typeface="Times New Roman" panose="02020603050405020304" pitchFamily="18" charset="0"/>
                      </a:endParaRPr>
                    </a:p>
                  </a:txBody>
                  <a:tcPr marL="40332" marR="403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s-MX"/>
                    </a:p>
                  </a:txBody>
                  <a:tcPr/>
                </a:tc>
                <a:tc hMerge="1">
                  <a:txBody>
                    <a:bodyPr/>
                    <a:lstStyle/>
                    <a:p>
                      <a:endParaRPr lang="es-MX"/>
                    </a:p>
                  </a:txBody>
                  <a:tcPr/>
                </a:tc>
                <a:extLst>
                  <a:ext uri="{0D108BD9-81ED-4DB2-BD59-A6C34878D82A}">
                    <a16:rowId xmlns:a16="http://schemas.microsoft.com/office/drawing/2014/main" val="3659139420"/>
                  </a:ext>
                </a:extLst>
              </a:tr>
              <a:tr h="477123">
                <a:tc>
                  <a:txBody>
                    <a:bodyPr/>
                    <a:lstStyle/>
                    <a:p>
                      <a:pPr algn="l">
                        <a:lnSpc>
                          <a:spcPct val="107000"/>
                        </a:lnSpc>
                        <a:spcAft>
                          <a:spcPts val="800"/>
                        </a:spcAft>
                        <a:buNone/>
                      </a:pPr>
                      <a:r>
                        <a:rPr lang="es-MX" sz="1200" b="1" kern="100">
                          <a:effectLst/>
                          <a:latin typeface="+mn-lt"/>
                          <a:ea typeface="Calibri" panose="020F0502020204030204" pitchFamily="34" charset="0"/>
                          <a:cs typeface="Times New Roman" panose="02020603050405020304" pitchFamily="18" charset="0"/>
                        </a:rPr>
                        <a:t>Momento</a:t>
                      </a:r>
                      <a:endParaRPr lang="es-MX" sz="1200" kern="100">
                        <a:effectLst/>
                        <a:latin typeface="+mn-lt"/>
                        <a:ea typeface="Calibri" panose="020F0502020204030204" pitchFamily="34" charset="0"/>
                        <a:cs typeface="Times New Roman" panose="02020603050405020304" pitchFamily="18" charset="0"/>
                      </a:endParaRPr>
                    </a:p>
                  </a:txBody>
                  <a:tcPr marL="40332" marR="403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1200" b="1" kern="100">
                          <a:effectLst/>
                          <a:latin typeface="+mn-lt"/>
                          <a:ea typeface="Calibri" panose="020F0502020204030204" pitchFamily="34" charset="0"/>
                          <a:cs typeface="Times New Roman" panose="02020603050405020304" pitchFamily="18" charset="0"/>
                        </a:rPr>
                        <a:t>                                                               Actividades</a:t>
                      </a:r>
                      <a:endParaRPr lang="es-MX" sz="1200" kern="100">
                        <a:effectLst/>
                        <a:latin typeface="+mn-lt"/>
                        <a:ea typeface="Calibri" panose="020F0502020204030204" pitchFamily="34" charset="0"/>
                        <a:cs typeface="Times New Roman" panose="02020603050405020304" pitchFamily="18" charset="0"/>
                      </a:endParaRPr>
                    </a:p>
                  </a:txBody>
                  <a:tcPr marL="40332" marR="403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1200" b="1" kern="100" dirty="0">
                          <a:effectLst/>
                          <a:latin typeface="+mn-lt"/>
                          <a:ea typeface="Calibri" panose="020F0502020204030204" pitchFamily="34" charset="0"/>
                          <a:cs typeface="Times New Roman" panose="02020603050405020304" pitchFamily="18" charset="0"/>
                        </a:rPr>
                        <a:t>Recursos</a:t>
                      </a:r>
                    </a:p>
                    <a:p>
                      <a:pPr algn="l">
                        <a:lnSpc>
                          <a:spcPct val="107000"/>
                        </a:lnSpc>
                        <a:spcAft>
                          <a:spcPts val="800"/>
                        </a:spcAft>
                        <a:buNone/>
                      </a:pPr>
                      <a:endParaRPr lang="es-MX" sz="1200" kern="100" dirty="0">
                        <a:effectLst/>
                        <a:latin typeface="+mn-lt"/>
                        <a:ea typeface="Calibri" panose="020F0502020204030204" pitchFamily="34" charset="0"/>
                        <a:cs typeface="Times New Roman" panose="02020603050405020304" pitchFamily="18" charset="0"/>
                      </a:endParaRPr>
                    </a:p>
                  </a:txBody>
                  <a:tcPr marL="40332" marR="403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23183539"/>
                  </a:ext>
                </a:extLst>
              </a:tr>
              <a:tr h="4197409">
                <a:tc>
                  <a:txBody>
                    <a:bodyPr/>
                    <a:lstStyle/>
                    <a:p>
                      <a:pPr algn="l">
                        <a:lnSpc>
                          <a:spcPct val="107000"/>
                        </a:lnSpc>
                        <a:spcAft>
                          <a:spcPts val="800"/>
                        </a:spcAft>
                        <a:buNone/>
                      </a:pPr>
                      <a:r>
                        <a:rPr lang="es-MX" sz="1200" kern="100">
                          <a:effectLst/>
                          <a:latin typeface="+mn-lt"/>
                          <a:ea typeface="Calibri" panose="020F0502020204030204" pitchFamily="34" charset="0"/>
                          <a:cs typeface="Times New Roman" panose="02020603050405020304" pitchFamily="18" charset="0"/>
                        </a:rPr>
                        <a:t> </a:t>
                      </a:r>
                    </a:p>
                    <a:p>
                      <a:pPr algn="l">
                        <a:lnSpc>
                          <a:spcPct val="107000"/>
                        </a:lnSpc>
                        <a:spcAft>
                          <a:spcPts val="800"/>
                        </a:spcAft>
                        <a:buNone/>
                      </a:pPr>
                      <a:r>
                        <a:rPr lang="es-MX" sz="1200" kern="100">
                          <a:effectLst/>
                          <a:latin typeface="+mn-lt"/>
                          <a:ea typeface="Calibri" panose="020F0502020204030204" pitchFamily="34" charset="0"/>
                          <a:cs typeface="Times New Roman" panose="02020603050405020304" pitchFamily="18" charset="0"/>
                        </a:rPr>
                        <a:t> </a:t>
                      </a:r>
                    </a:p>
                    <a:p>
                      <a:pPr algn="l">
                        <a:lnSpc>
                          <a:spcPct val="107000"/>
                        </a:lnSpc>
                        <a:spcAft>
                          <a:spcPts val="800"/>
                        </a:spcAft>
                        <a:buNone/>
                      </a:pPr>
                      <a:r>
                        <a:rPr lang="es-MX" sz="1200" kern="100">
                          <a:effectLst/>
                          <a:latin typeface="+mn-lt"/>
                          <a:ea typeface="Calibri" panose="020F0502020204030204" pitchFamily="34" charset="0"/>
                          <a:cs typeface="Times New Roman" panose="02020603050405020304" pitchFamily="18" charset="0"/>
                        </a:rPr>
                        <a:t> </a:t>
                      </a:r>
                    </a:p>
                    <a:p>
                      <a:pPr algn="l">
                        <a:lnSpc>
                          <a:spcPct val="107000"/>
                        </a:lnSpc>
                        <a:spcAft>
                          <a:spcPts val="800"/>
                        </a:spcAft>
                        <a:buNone/>
                      </a:pPr>
                      <a:r>
                        <a:rPr lang="es-MX" sz="1200" kern="100">
                          <a:effectLst/>
                          <a:latin typeface="+mn-lt"/>
                          <a:ea typeface="Calibri" panose="020F0502020204030204" pitchFamily="34" charset="0"/>
                          <a:cs typeface="Times New Roman" panose="02020603050405020304" pitchFamily="18" charset="0"/>
                        </a:rPr>
                        <a:t> </a:t>
                      </a:r>
                    </a:p>
                    <a:p>
                      <a:pPr algn="l">
                        <a:lnSpc>
                          <a:spcPct val="107000"/>
                        </a:lnSpc>
                        <a:spcAft>
                          <a:spcPts val="800"/>
                        </a:spcAft>
                        <a:buNone/>
                      </a:pPr>
                      <a:r>
                        <a:rPr lang="es-MX" sz="1200" kern="100">
                          <a:effectLst/>
                          <a:latin typeface="+mn-lt"/>
                          <a:ea typeface="Calibri" panose="020F0502020204030204" pitchFamily="34" charset="0"/>
                          <a:cs typeface="Times New Roman" panose="02020603050405020304" pitchFamily="18" charset="0"/>
                        </a:rPr>
                        <a:t> </a:t>
                      </a:r>
                    </a:p>
                    <a:p>
                      <a:pPr algn="l">
                        <a:lnSpc>
                          <a:spcPct val="107000"/>
                        </a:lnSpc>
                        <a:spcAft>
                          <a:spcPts val="800"/>
                        </a:spcAft>
                        <a:buNone/>
                      </a:pPr>
                      <a:r>
                        <a:rPr lang="es-MX" sz="1200" kern="100">
                          <a:effectLst/>
                          <a:latin typeface="+mn-lt"/>
                          <a:ea typeface="Calibri" panose="020F0502020204030204" pitchFamily="34" charset="0"/>
                          <a:cs typeface="Times New Roman" panose="02020603050405020304" pitchFamily="18" charset="0"/>
                        </a:rPr>
                        <a:t>Resolver en Común</a:t>
                      </a:r>
                    </a:p>
                    <a:p>
                      <a:pPr algn="l">
                        <a:lnSpc>
                          <a:spcPct val="107000"/>
                        </a:lnSpc>
                        <a:spcAft>
                          <a:spcPts val="800"/>
                        </a:spcAft>
                        <a:buNone/>
                      </a:pPr>
                      <a:r>
                        <a:rPr lang="es-MX" sz="1200" kern="100">
                          <a:effectLst/>
                          <a:latin typeface="+mn-lt"/>
                          <a:ea typeface="Calibri" panose="020F0502020204030204" pitchFamily="34" charset="0"/>
                          <a:cs typeface="Times New Roman" panose="02020603050405020304" pitchFamily="18" charset="0"/>
                        </a:rPr>
                        <a:t> </a:t>
                      </a:r>
                    </a:p>
                    <a:p>
                      <a:pPr algn="ctr">
                        <a:lnSpc>
                          <a:spcPct val="107000"/>
                        </a:lnSpc>
                        <a:spcAft>
                          <a:spcPts val="800"/>
                        </a:spcAft>
                        <a:buNone/>
                      </a:pPr>
                      <a:r>
                        <a:rPr lang="es-MX" sz="1200" kern="100">
                          <a:effectLst/>
                          <a:latin typeface="+mn-lt"/>
                          <a:ea typeface="Calibri" panose="020F0502020204030204" pitchFamily="34" charset="0"/>
                          <a:cs typeface="Times New Roman" panose="02020603050405020304" pitchFamily="18" charset="0"/>
                        </a:rPr>
                        <a:t> </a:t>
                      </a:r>
                    </a:p>
                  </a:txBody>
                  <a:tcPr marL="40332" marR="403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342900" lvl="0" indent="-342900" algn="l">
                        <a:lnSpc>
                          <a:spcPct val="107000"/>
                        </a:lnSpc>
                        <a:spcAft>
                          <a:spcPts val="10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Iniciar las actividades con los alumnos (as) con un a actividad, todos los alumnos formaran un círculo, la docente da la indicación de que jugaremos con un globo el cual se lanzara hacia arriba y no tendrán que dejarlo caer, si eso pasa el alumno que lo deje caer participara pasando en medio del circulo platicara a cerca de la actividad que vimos el día de ayer. Se invitará a que todos los alumnos participen y compartan sus ideas con sus compañeros.</a:t>
                      </a:r>
                    </a:p>
                    <a:p>
                      <a:pPr marL="342900" lvl="0" indent="-342900" algn="l">
                        <a:lnSpc>
                          <a:spcPct val="107000"/>
                        </a:lnSpc>
                        <a:spcAft>
                          <a:spcPts val="10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Invitar a los alumnos(as) a verificar si los materiales que el día de hoy se trajeron son los correctos para poder hacer las tortillas, se contaran si están completos y en voz alta se mencionara su nombre</a:t>
                      </a:r>
                    </a:p>
                    <a:p>
                      <a:pPr marL="342900" lvl="0" indent="-342900" algn="l">
                        <a:lnSpc>
                          <a:spcPct val="107000"/>
                        </a:lnSpc>
                        <a:spcAft>
                          <a:spcPts val="10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Dialogar con los alumnos que antes de empezar a la elaboración de tortillas, primero se tendrán que practicar medidas de higiene como: lavarse las manos y recogerse el cabello</a:t>
                      </a:r>
                    </a:p>
                    <a:p>
                      <a:pPr marL="342900" lvl="0" indent="-342900" algn="l">
                        <a:lnSpc>
                          <a:spcPct val="107000"/>
                        </a:lnSpc>
                        <a:spcAft>
                          <a:spcPts val="10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Invitar a los alumnos (as) a juagar a hacer tortillas, para ello se les brindara una bolita de masa </a:t>
                      </a:r>
                    </a:p>
                    <a:p>
                      <a:pPr marL="342900" lvl="0" indent="-342900" algn="l">
                        <a:lnSpc>
                          <a:spcPct val="107000"/>
                        </a:lnSpc>
                        <a:spcAft>
                          <a:spcPts val="10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Brindar a los alumnos una bolita de masa, cada alumno amasara hasta que quede muy suave y lista para hacer tortillas, tomar acuerdos de cómo se harán las tortillas, iniciar con las tortillas</a:t>
                      </a:r>
                    </a:p>
                    <a:p>
                      <a:pPr marL="342900" lvl="0" indent="-342900" algn="l">
                        <a:lnSpc>
                          <a:spcPct val="107000"/>
                        </a:lnSpc>
                        <a:spcAft>
                          <a:spcPts val="10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Al terminar la actividad la docente preguntara si algún día habían hecho tortillas, que les pareció ahora que ya lo hicieron, les pareció interesante, motivar a los alumnos para que cada uno cuente su experiencia a sus compañeros y también compartan con sus papas cuando lleguen a casita la experiencia que tuvieron en esta jornada de trabajo </a:t>
                      </a:r>
                    </a:p>
                    <a:p>
                      <a:pPr marL="342900" lvl="0" indent="-342900" algn="l">
                        <a:lnSpc>
                          <a:spcPct val="107000"/>
                        </a:lnSpc>
                        <a:spcAft>
                          <a:spcPts val="10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Tarea Para el día de mañana solicitar a los alumnos traigan una imagen o un dibujo de alguna comida elaborada con maíz.</a:t>
                      </a:r>
                    </a:p>
                  </a:txBody>
                  <a:tcPr marL="40332" marR="403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Globo</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Masa</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Agua</a:t>
                      </a:r>
                    </a:p>
                    <a:p>
                      <a:pPr algn="l">
                        <a:lnSpc>
                          <a:spcPct val="107000"/>
                        </a:lnSpc>
                        <a:spcAft>
                          <a:spcPts val="800"/>
                        </a:spcAft>
                        <a:buNone/>
                      </a:pPr>
                      <a:endParaRPr lang="es-MX" sz="1200" kern="100" dirty="0">
                        <a:effectLst/>
                        <a:latin typeface="+mn-lt"/>
                        <a:ea typeface="Calibri" panose="020F0502020204030204" pitchFamily="34" charset="0"/>
                        <a:cs typeface="Times New Roman" panose="02020603050405020304" pitchFamily="18" charset="0"/>
                      </a:endParaRP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txBody>
                  <a:tcPr marL="40332" marR="403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04170315"/>
                  </a:ext>
                </a:extLst>
              </a:tr>
              <a:tr h="768829">
                <a:tc>
                  <a:txBody>
                    <a:bodyPr/>
                    <a:lstStyle/>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Marcos de oración</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txBody>
                  <a:tcPr marL="40332" marR="403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El maíz es alimento         in </a:t>
                      </a:r>
                      <a:r>
                        <a:rPr lang="es-MX" sz="1200" kern="100" dirty="0" err="1">
                          <a:effectLst/>
                          <a:latin typeface="+mn-lt"/>
                          <a:ea typeface="Calibri" panose="020F0502020204030204" pitchFamily="34" charset="0"/>
                          <a:cs typeface="Times New Roman" panose="02020603050405020304" pitchFamily="18" charset="0"/>
                        </a:rPr>
                        <a:t>taoli</a:t>
                      </a:r>
                      <a:r>
                        <a:rPr lang="es-MX" sz="1200" kern="100" dirty="0">
                          <a:effectLst/>
                          <a:latin typeface="+mn-lt"/>
                          <a:ea typeface="Calibri" panose="020F0502020204030204" pitchFamily="34" charset="0"/>
                          <a:cs typeface="Times New Roman" panose="02020603050405020304" pitchFamily="18" charset="0"/>
                        </a:rPr>
                        <a:t> no </a:t>
                      </a:r>
                      <a:r>
                        <a:rPr lang="es-MX" sz="1200" kern="100" dirty="0" err="1">
                          <a:effectLst/>
                          <a:latin typeface="+mn-lt"/>
                          <a:ea typeface="Calibri" panose="020F0502020204030204" pitchFamily="34" charset="0"/>
                          <a:cs typeface="Times New Roman" panose="02020603050405020304" pitchFamily="18" charset="0"/>
                        </a:rPr>
                        <a:t>tonalcayotl</a:t>
                      </a:r>
                      <a:endParaRPr lang="es-MX" sz="1200" kern="100" dirty="0">
                        <a:effectLst/>
                        <a:latin typeface="+mn-lt"/>
                        <a:ea typeface="Calibri" panose="020F0502020204030204" pitchFamily="34" charset="0"/>
                        <a:cs typeface="Times New Roman" panose="02020603050405020304" pitchFamily="18" charset="0"/>
                      </a:endParaRP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El maíz es blanco     in </a:t>
                      </a:r>
                      <a:r>
                        <a:rPr lang="es-MX" sz="1200" kern="100" dirty="0" err="1">
                          <a:effectLst/>
                          <a:latin typeface="+mn-lt"/>
                          <a:ea typeface="Calibri" panose="020F0502020204030204" pitchFamily="34" charset="0"/>
                          <a:cs typeface="Times New Roman" panose="02020603050405020304" pitchFamily="18" charset="0"/>
                        </a:rPr>
                        <a:t>tlaoli</a:t>
                      </a:r>
                      <a:r>
                        <a:rPr lang="es-MX" sz="1200" kern="100" dirty="0">
                          <a:effectLst/>
                          <a:latin typeface="+mn-lt"/>
                          <a:ea typeface="Calibri" panose="020F0502020204030204" pitchFamily="34" charset="0"/>
                          <a:cs typeface="Times New Roman" panose="02020603050405020304" pitchFamily="18" charset="0"/>
                        </a:rPr>
                        <a:t>  </a:t>
                      </a:r>
                      <a:r>
                        <a:rPr lang="es-MX" sz="1200" kern="100" dirty="0" err="1">
                          <a:effectLst/>
                          <a:latin typeface="+mn-lt"/>
                          <a:ea typeface="Calibri" panose="020F0502020204030204" pitchFamily="34" charset="0"/>
                          <a:cs typeface="Times New Roman" panose="02020603050405020304" pitchFamily="18" charset="0"/>
                        </a:rPr>
                        <a:t>iztak</a:t>
                      </a:r>
                      <a:endParaRPr lang="es-MX" sz="1200" kern="100" dirty="0">
                        <a:effectLst/>
                        <a:latin typeface="+mn-lt"/>
                        <a:ea typeface="Calibri" panose="020F0502020204030204" pitchFamily="34" charset="0"/>
                        <a:cs typeface="Times New Roman" panose="02020603050405020304" pitchFamily="18" charset="0"/>
                      </a:endParaRPr>
                    </a:p>
                  </a:txBody>
                  <a:tcPr marL="40332" marR="403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txBody>
                  <a:tcPr marL="40332" marR="403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07777813"/>
                  </a:ext>
                </a:extLst>
              </a:tr>
            </a:tbl>
          </a:graphicData>
        </a:graphic>
      </p:graphicFrame>
    </p:spTree>
    <p:extLst>
      <p:ext uri="{BB962C8B-B14F-4D97-AF65-F5344CB8AC3E}">
        <p14:creationId xmlns:p14="http://schemas.microsoft.com/office/powerpoint/2010/main" val="37795553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C8080-84A9-C41F-2CA3-B19DB2738D27}"/>
            </a:ext>
          </a:extLst>
        </p:cNvPr>
        <p:cNvGrpSpPr/>
        <p:nvPr/>
      </p:nvGrpSpPr>
      <p:grpSpPr>
        <a:xfrm>
          <a:off x="0" y="0"/>
          <a:ext cx="0" cy="0"/>
          <a:chOff x="0" y="0"/>
          <a:chExt cx="0" cy="0"/>
        </a:xfrm>
      </p:grpSpPr>
      <p:graphicFrame>
        <p:nvGraphicFramePr>
          <p:cNvPr id="4" name="Tabla 3">
            <a:extLst>
              <a:ext uri="{FF2B5EF4-FFF2-40B4-BE49-F238E27FC236}">
                <a16:creationId xmlns:a16="http://schemas.microsoft.com/office/drawing/2014/main" id="{E629574B-FA8B-F9BB-7A01-A43B27FB7082}"/>
              </a:ext>
            </a:extLst>
          </p:cNvPr>
          <p:cNvGraphicFramePr>
            <a:graphicFrameLocks noGrp="1"/>
          </p:cNvGraphicFramePr>
          <p:nvPr>
            <p:extLst>
              <p:ext uri="{D42A27DB-BD31-4B8C-83A1-F6EECF244321}">
                <p14:modId xmlns:p14="http://schemas.microsoft.com/office/powerpoint/2010/main" val="1521348472"/>
              </p:ext>
            </p:extLst>
          </p:nvPr>
        </p:nvGraphicFramePr>
        <p:xfrm>
          <a:off x="201070" y="179895"/>
          <a:ext cx="11789859" cy="6189980"/>
        </p:xfrm>
        <a:graphic>
          <a:graphicData uri="http://schemas.openxmlformats.org/drawingml/2006/table">
            <a:tbl>
              <a:tblPr firstRow="1" firstCol="1" bandRow="1"/>
              <a:tblGrid>
                <a:gridCol w="2207511">
                  <a:extLst>
                    <a:ext uri="{9D8B030D-6E8A-4147-A177-3AD203B41FA5}">
                      <a16:colId xmlns:a16="http://schemas.microsoft.com/office/drawing/2014/main" val="1633688666"/>
                    </a:ext>
                  </a:extLst>
                </a:gridCol>
                <a:gridCol w="7494444">
                  <a:extLst>
                    <a:ext uri="{9D8B030D-6E8A-4147-A177-3AD203B41FA5}">
                      <a16:colId xmlns:a16="http://schemas.microsoft.com/office/drawing/2014/main" val="1108007271"/>
                    </a:ext>
                  </a:extLst>
                </a:gridCol>
                <a:gridCol w="2087904">
                  <a:extLst>
                    <a:ext uri="{9D8B030D-6E8A-4147-A177-3AD203B41FA5}">
                      <a16:colId xmlns:a16="http://schemas.microsoft.com/office/drawing/2014/main" val="1805175111"/>
                    </a:ext>
                  </a:extLst>
                </a:gridCol>
              </a:tblGrid>
              <a:tr h="730081">
                <a:tc gridSpan="3">
                  <a:txBody>
                    <a:bodyPr/>
                    <a:lstStyle/>
                    <a:p>
                      <a:pPr algn="ctr">
                        <a:lnSpc>
                          <a:spcPct val="107000"/>
                        </a:lnSpc>
                        <a:spcAft>
                          <a:spcPts val="800"/>
                        </a:spcAft>
                        <a:buNone/>
                      </a:pPr>
                      <a:r>
                        <a:rPr lang="es-MX" sz="1200" b="1" kern="100" dirty="0">
                          <a:solidFill>
                            <a:srgbClr val="2E74B5"/>
                          </a:solidFill>
                          <a:effectLst/>
                          <a:latin typeface="+mn-lt"/>
                          <a:ea typeface="Calibri" panose="020F0502020204030204" pitchFamily="34" charset="0"/>
                          <a:cs typeface="Times New Roman" panose="02020603050405020304" pitchFamily="18" charset="0"/>
                        </a:rPr>
                        <a:t>Sesión  </a:t>
                      </a:r>
                      <a:r>
                        <a:rPr lang="es-MX" sz="1200" b="1" kern="100" dirty="0">
                          <a:solidFill>
                            <a:srgbClr val="000000"/>
                          </a:solidFill>
                          <a:effectLst/>
                          <a:latin typeface="+mn-lt"/>
                          <a:ea typeface="Calibri" panose="020F0502020204030204" pitchFamily="34" charset="0"/>
                          <a:cs typeface="Times New Roman" panose="02020603050405020304" pitchFamily="18" charset="0"/>
                        </a:rPr>
                        <a:t>10</a:t>
                      </a:r>
                      <a:r>
                        <a:rPr lang="es-MX" sz="1200" b="1" kern="100" dirty="0">
                          <a:solidFill>
                            <a:srgbClr val="2E74B5"/>
                          </a:solidFill>
                          <a:effectLst/>
                          <a:latin typeface="+mn-lt"/>
                          <a:ea typeface="Calibri" panose="020F0502020204030204" pitchFamily="34" charset="0"/>
                          <a:cs typeface="Times New Roman" panose="02020603050405020304" pitchFamily="18" charset="0"/>
                        </a:rPr>
                        <a:t>        </a:t>
                      </a:r>
                      <a:endParaRPr lang="es-MX" sz="1200" kern="100" dirty="0">
                        <a:effectLst/>
                        <a:latin typeface="+mn-lt"/>
                        <a:ea typeface="Calibri" panose="020F0502020204030204" pitchFamily="34" charset="0"/>
                        <a:cs typeface="Times New Roman" panose="02020603050405020304" pitchFamily="18" charset="0"/>
                      </a:endParaRPr>
                    </a:p>
                    <a:p>
                      <a:pPr algn="ctr">
                        <a:lnSpc>
                          <a:spcPct val="107000"/>
                        </a:lnSpc>
                        <a:spcAft>
                          <a:spcPts val="800"/>
                        </a:spcAft>
                        <a:buNone/>
                      </a:pPr>
                      <a:r>
                        <a:rPr lang="es-MX" sz="1200" b="1" kern="100" dirty="0">
                          <a:solidFill>
                            <a:srgbClr val="2E74B5"/>
                          </a:solidFill>
                          <a:effectLst/>
                          <a:latin typeface="+mn-lt"/>
                          <a:ea typeface="Calibri" panose="020F0502020204030204" pitchFamily="34" charset="0"/>
                          <a:cs typeface="Times New Roman" panose="02020603050405020304" pitchFamily="18" charset="0"/>
                        </a:rPr>
                        <a:t>Fecha</a:t>
                      </a:r>
                      <a:r>
                        <a:rPr lang="es-MX" sz="1200" b="0" kern="100" dirty="0">
                          <a:solidFill>
                            <a:srgbClr val="000000"/>
                          </a:solidFill>
                          <a:effectLst/>
                          <a:latin typeface="+mn-lt"/>
                          <a:ea typeface="Calibri" panose="020F0502020204030204" pitchFamily="34" charset="0"/>
                          <a:cs typeface="Times New Roman" panose="02020603050405020304" pitchFamily="18" charset="0"/>
                        </a:rPr>
                        <a:t>:    Viernes 23   </a:t>
                      </a:r>
                      <a:r>
                        <a:rPr lang="es-MX" sz="1200" b="0" kern="100" dirty="0">
                          <a:effectLst/>
                          <a:latin typeface="+mn-lt"/>
                          <a:ea typeface="Calibri" panose="020F0502020204030204" pitchFamily="34" charset="0"/>
                          <a:cs typeface="Times New Roman" panose="02020603050405020304" pitchFamily="18" charset="0"/>
                        </a:rPr>
                        <a:t>de enero de 2026</a:t>
                      </a:r>
                    </a:p>
                    <a:p>
                      <a:pPr algn="ctr">
                        <a:lnSpc>
                          <a:spcPct val="107000"/>
                        </a:lnSpc>
                        <a:spcAft>
                          <a:spcPts val="800"/>
                        </a:spcAft>
                        <a:buNone/>
                      </a:pPr>
                      <a:r>
                        <a:rPr lang="es-MX" sz="1200" b="1" kern="100" dirty="0">
                          <a:solidFill>
                            <a:srgbClr val="2E74B5"/>
                          </a:solidFill>
                          <a:effectLst/>
                          <a:latin typeface="+mn-lt"/>
                          <a:ea typeface="Calibri" panose="020F0502020204030204" pitchFamily="34" charset="0"/>
                          <a:cs typeface="Times New Roman" panose="02020603050405020304" pitchFamily="18" charset="0"/>
                        </a:rPr>
                        <a:t> Subtema:   </a:t>
                      </a:r>
                      <a:r>
                        <a:rPr lang="es-MX" sz="1200" kern="100" dirty="0">
                          <a:effectLst/>
                          <a:latin typeface="+mn-lt"/>
                          <a:ea typeface="Calibri" panose="020F0502020204030204" pitchFamily="34" charset="0"/>
                          <a:cs typeface="Times New Roman" panose="02020603050405020304" pitchFamily="18" charset="0"/>
                        </a:rPr>
                        <a:t> Sabores y alimentos del maíz</a:t>
                      </a:r>
                    </a:p>
                    <a:p>
                      <a:pPr algn="ctr">
                        <a:lnSpc>
                          <a:spcPct val="107000"/>
                        </a:lnSpc>
                        <a:spcAft>
                          <a:spcPts val="800"/>
                        </a:spcAft>
                        <a:buNone/>
                      </a:pPr>
                      <a:r>
                        <a:rPr lang="es-MX" sz="1200" b="1" kern="100" dirty="0">
                          <a:solidFill>
                            <a:srgbClr val="2E74B5"/>
                          </a:solidFill>
                          <a:effectLst/>
                          <a:latin typeface="+mn-lt"/>
                          <a:ea typeface="Calibri" panose="020F0502020204030204" pitchFamily="34" charset="0"/>
                          <a:cs typeface="Times New Roman" panose="02020603050405020304" pitchFamily="18" charset="0"/>
                        </a:rPr>
                        <a:t>Actividad:</a:t>
                      </a:r>
                      <a:r>
                        <a:rPr lang="es-MX" sz="1200" b="1" kern="100" dirty="0">
                          <a:effectLst/>
                          <a:latin typeface="+mn-lt"/>
                          <a:ea typeface="Calibri" panose="020F0502020204030204" pitchFamily="34" charset="0"/>
                          <a:cs typeface="Times New Roman" panose="02020603050405020304" pitchFamily="18" charset="0"/>
                        </a:rPr>
                        <a:t>     </a:t>
                      </a:r>
                      <a:r>
                        <a:rPr lang="es-MX" sz="1200" b="0" kern="100" dirty="0">
                          <a:effectLst/>
                          <a:latin typeface="+mn-lt"/>
                          <a:ea typeface="Calibri" panose="020F0502020204030204" pitchFamily="34" charset="0"/>
                          <a:cs typeface="Times New Roman" panose="02020603050405020304" pitchFamily="18" charset="0"/>
                        </a:rPr>
                        <a:t>Recetas de mi familia </a:t>
                      </a:r>
                    </a:p>
                  </a:txBody>
                  <a:tcPr marL="44975" marR="449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s-MX"/>
                    </a:p>
                  </a:txBody>
                  <a:tcPr/>
                </a:tc>
                <a:tc hMerge="1">
                  <a:txBody>
                    <a:bodyPr/>
                    <a:lstStyle/>
                    <a:p>
                      <a:endParaRPr lang="es-MX"/>
                    </a:p>
                  </a:txBody>
                  <a:tcPr/>
                </a:tc>
                <a:extLst>
                  <a:ext uri="{0D108BD9-81ED-4DB2-BD59-A6C34878D82A}">
                    <a16:rowId xmlns:a16="http://schemas.microsoft.com/office/drawing/2014/main" val="718989192"/>
                  </a:ext>
                </a:extLst>
              </a:tr>
              <a:tr h="360637">
                <a:tc>
                  <a:txBody>
                    <a:bodyPr/>
                    <a:lstStyle/>
                    <a:p>
                      <a:pPr algn="l">
                        <a:lnSpc>
                          <a:spcPct val="107000"/>
                        </a:lnSpc>
                        <a:spcAft>
                          <a:spcPts val="800"/>
                        </a:spcAft>
                        <a:buNone/>
                      </a:pPr>
                      <a:r>
                        <a:rPr lang="es-MX" sz="1200" b="1" kern="100" dirty="0">
                          <a:effectLst/>
                          <a:latin typeface="+mn-lt"/>
                          <a:ea typeface="Calibri" panose="020F0502020204030204" pitchFamily="34" charset="0"/>
                          <a:cs typeface="Times New Roman" panose="02020603050405020304" pitchFamily="18" charset="0"/>
                        </a:rPr>
                        <a:t>Momento</a:t>
                      </a:r>
                      <a:endParaRPr lang="es-MX" sz="1200" kern="100" dirty="0">
                        <a:effectLst/>
                        <a:latin typeface="+mn-lt"/>
                        <a:ea typeface="Calibri" panose="020F0502020204030204" pitchFamily="34" charset="0"/>
                        <a:cs typeface="Times New Roman" panose="02020603050405020304" pitchFamily="18" charset="0"/>
                      </a:endParaRPr>
                    </a:p>
                  </a:txBody>
                  <a:tcPr marL="44975" marR="449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1200" b="1" kern="100" dirty="0">
                          <a:effectLst/>
                          <a:latin typeface="+mn-lt"/>
                          <a:ea typeface="Calibri" panose="020F0502020204030204" pitchFamily="34" charset="0"/>
                          <a:cs typeface="Times New Roman" panose="02020603050405020304" pitchFamily="18" charset="0"/>
                        </a:rPr>
                        <a:t>                                                                                  Actividades</a:t>
                      </a:r>
                      <a:endParaRPr lang="es-MX" sz="1200" kern="100" dirty="0">
                        <a:effectLst/>
                        <a:latin typeface="+mn-lt"/>
                        <a:ea typeface="Calibri" panose="020F0502020204030204" pitchFamily="34" charset="0"/>
                        <a:cs typeface="Times New Roman" panose="02020603050405020304" pitchFamily="18" charset="0"/>
                      </a:endParaRPr>
                    </a:p>
                  </a:txBody>
                  <a:tcPr marL="44975" marR="449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1200" b="1" kern="100">
                          <a:effectLst/>
                          <a:latin typeface="+mn-lt"/>
                          <a:ea typeface="Calibri" panose="020F0502020204030204" pitchFamily="34" charset="0"/>
                          <a:cs typeface="Times New Roman" panose="02020603050405020304" pitchFamily="18" charset="0"/>
                        </a:rPr>
                        <a:t>Recursos</a:t>
                      </a:r>
                      <a:endParaRPr lang="es-MX" sz="1200" kern="100">
                        <a:effectLst/>
                        <a:latin typeface="+mn-lt"/>
                        <a:ea typeface="Calibri" panose="020F0502020204030204" pitchFamily="34" charset="0"/>
                        <a:cs typeface="Times New Roman" panose="02020603050405020304" pitchFamily="18" charset="0"/>
                      </a:endParaRPr>
                    </a:p>
                    <a:p>
                      <a:pPr algn="l">
                        <a:lnSpc>
                          <a:spcPct val="107000"/>
                        </a:lnSpc>
                        <a:spcAft>
                          <a:spcPts val="800"/>
                        </a:spcAft>
                        <a:buNone/>
                      </a:pPr>
                      <a:r>
                        <a:rPr lang="es-MX" sz="1200" b="1" kern="100">
                          <a:effectLst/>
                          <a:latin typeface="+mn-lt"/>
                          <a:ea typeface="Calibri" panose="020F0502020204030204" pitchFamily="34" charset="0"/>
                          <a:cs typeface="Times New Roman" panose="02020603050405020304" pitchFamily="18" charset="0"/>
                        </a:rPr>
                        <a:t> </a:t>
                      </a:r>
                      <a:endParaRPr lang="es-MX" sz="1200" kern="100">
                        <a:effectLst/>
                        <a:latin typeface="+mn-lt"/>
                        <a:ea typeface="Calibri" panose="020F0502020204030204" pitchFamily="34" charset="0"/>
                        <a:cs typeface="Times New Roman" panose="02020603050405020304" pitchFamily="18" charset="0"/>
                      </a:endParaRPr>
                    </a:p>
                  </a:txBody>
                  <a:tcPr marL="44975" marR="449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81024589"/>
                  </a:ext>
                </a:extLst>
              </a:tr>
              <a:tr h="2795060">
                <a:tc>
                  <a:txBody>
                    <a:bodyPr/>
                    <a:lstStyle/>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gn="l">
                        <a:lnSpc>
                          <a:spcPct val="107000"/>
                        </a:lnSpc>
                        <a:spcAft>
                          <a:spcPts val="800"/>
                        </a:spcAft>
                        <a:buNone/>
                      </a:pPr>
                      <a:endParaRPr lang="es-MX" sz="1200" b="0" kern="100" dirty="0">
                        <a:effectLst/>
                        <a:latin typeface="+mn-lt"/>
                        <a:ea typeface="Calibri" panose="020F0502020204030204" pitchFamily="34" charset="0"/>
                        <a:cs typeface="Times New Roman" panose="02020603050405020304" pitchFamily="18" charset="0"/>
                      </a:endParaRPr>
                    </a:p>
                    <a:p>
                      <a:pPr algn="l">
                        <a:lnSpc>
                          <a:spcPct val="107000"/>
                        </a:lnSpc>
                        <a:spcAft>
                          <a:spcPts val="800"/>
                        </a:spcAft>
                        <a:buNone/>
                      </a:pPr>
                      <a:r>
                        <a:rPr lang="es-MX" sz="1200" b="0" kern="100" dirty="0">
                          <a:effectLst/>
                          <a:latin typeface="+mn-lt"/>
                          <a:ea typeface="Calibri" panose="020F0502020204030204" pitchFamily="34" charset="0"/>
                          <a:cs typeface="Times New Roman" panose="02020603050405020304" pitchFamily="18" charset="0"/>
                        </a:rPr>
                        <a:t>   Comunicar y transferir</a:t>
                      </a:r>
                    </a:p>
                  </a:txBody>
                  <a:tcPr marL="44975" marR="449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342900" lvl="0" indent="-342900" algn="l">
                        <a:lnSpc>
                          <a:spcPct val="107000"/>
                        </a:lnSpc>
                        <a:spcAft>
                          <a:spcPts val="8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Para iniciar la actividad del día de hoy solicitar a cada alumno (a) muestre un </a:t>
                      </a:r>
                      <a:r>
                        <a:rPr lang="es-MX" sz="1200" b="1" kern="100" dirty="0">
                          <a:effectLst/>
                          <a:latin typeface="+mn-lt"/>
                          <a:ea typeface="Calibri" panose="020F0502020204030204" pitchFamily="34" charset="0"/>
                          <a:cs typeface="Times New Roman" panose="02020603050405020304" pitchFamily="18" charset="0"/>
                        </a:rPr>
                        <a:t>dibujo o imagen</a:t>
                      </a:r>
                      <a:r>
                        <a:rPr lang="es-MX" sz="1200" kern="100" dirty="0">
                          <a:effectLst/>
                          <a:latin typeface="+mn-lt"/>
                          <a:ea typeface="Calibri" panose="020F0502020204030204" pitchFamily="34" charset="0"/>
                          <a:cs typeface="Times New Roman" panose="02020603050405020304" pitchFamily="18" charset="0"/>
                        </a:rPr>
                        <a:t> de una comida de maíz que hacen en su casa (tortilla, tamal, atole etc.) y la compartan con sus compañeros explicando que son alimentos que se consumen en casita con la familia </a:t>
                      </a:r>
                    </a:p>
                    <a:p>
                      <a:pPr marL="342900" lvl="0" indent="-342900" algn="l">
                        <a:lnSpc>
                          <a:spcPct val="107000"/>
                        </a:lnSpc>
                        <a:spcAft>
                          <a:spcPts val="8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Explicar a los alumnos(as) que en esta sesión realizaremos recetas de alimentos elaborados con maíz que se produce en la comunidad de san José Chapulco con las imágenes que traen de casa cada alumno elaborará su recetario, cada alumno aporta una hoja con: dibujo del alimento, nombre del platillo (escrito por el docente) y el niño explicará cómo se elabora y la docente escribirá para ir formando la receta, al terminar la docente preguntara que alimento es y quien lo elabora en casa</a:t>
                      </a:r>
                    </a:p>
                    <a:p>
                      <a:pPr marL="342900" lvl="0" indent="-342900" algn="l">
                        <a:lnSpc>
                          <a:spcPct val="107000"/>
                        </a:lnSpc>
                        <a:spcAft>
                          <a:spcPts val="8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Compartir con todo el grupo su receta, cada alumno realizara la presentación de su receta, mencionara el nombre del platillo, que ingredientes lleva y como se elabora.</a:t>
                      </a:r>
                    </a:p>
                    <a:p>
                      <a:pPr marL="342900" lvl="0" indent="-342900" algn="l">
                        <a:lnSpc>
                          <a:spcPct val="107000"/>
                        </a:lnSpc>
                        <a:spcAft>
                          <a:spcPts val="8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Juntar todas las recetas y armar un recetario, mismo que se transferirá con algunos padres de familia para que lo observen y sacar recetas para elaborar en casita y compartir en familia</a:t>
                      </a:r>
                    </a:p>
                    <a:p>
                      <a:pPr marL="342900" lvl="0" indent="-342900" algn="l">
                        <a:lnSpc>
                          <a:spcPct val="107000"/>
                        </a:lnSpc>
                        <a:spcAft>
                          <a:spcPts val="8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Transferir las recetas por medio del juego, dentro del salón tomar acuerdos, se formarán dos equipos para jugar a ser papá, mamá o abuelita, cada equipo elegirá una receta de las que se acaban de realizar y realizar una presentación donde la abuelita le enseñara a mamá y papá como hacer esa receta, usando frases sencillas y al terminar se concluirá con que este juego es una representación de lo que pasa en casa</a:t>
                      </a:r>
                    </a:p>
                    <a:p>
                      <a:pPr algn="l">
                        <a:lnSpc>
                          <a:spcPct val="115000"/>
                        </a:lnSpc>
                        <a:spcAft>
                          <a:spcPts val="1000"/>
                        </a:spcAft>
                        <a:buNone/>
                      </a:pPr>
                      <a:r>
                        <a:rPr lang="es-MX" sz="1200" kern="100" dirty="0">
                          <a:effectLst/>
                          <a:latin typeface="+mn-lt"/>
                          <a:ea typeface="Calibri" panose="020F0502020204030204" pitchFamily="34" charset="0"/>
                          <a:cs typeface="Times New Roman" panose="02020603050405020304" pitchFamily="18" charset="0"/>
                        </a:rPr>
                        <a:t> </a:t>
                      </a:r>
                    </a:p>
                  </a:txBody>
                  <a:tcPr marL="44975" marR="449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Dibujo</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Imagen</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Hojas</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Pegamento</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Tijeras</a:t>
                      </a:r>
                    </a:p>
                    <a:p>
                      <a:pPr algn="l">
                        <a:lnSpc>
                          <a:spcPct val="107000"/>
                        </a:lnSpc>
                        <a:spcAft>
                          <a:spcPts val="800"/>
                        </a:spcAft>
                        <a:buNone/>
                      </a:pPr>
                      <a:endParaRPr lang="es-MX" sz="1200" kern="100" dirty="0">
                        <a:effectLst/>
                        <a:latin typeface="+mn-lt"/>
                        <a:ea typeface="Calibri" panose="020F0502020204030204" pitchFamily="34" charset="0"/>
                        <a:cs typeface="Times New Roman" panose="02020603050405020304" pitchFamily="18" charset="0"/>
                      </a:endParaRPr>
                    </a:p>
                  </a:txBody>
                  <a:tcPr marL="44975" marR="449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16948482"/>
                  </a:ext>
                </a:extLst>
              </a:tr>
              <a:tr h="296714">
                <a:tc>
                  <a:txBody>
                    <a:bodyPr/>
                    <a:lstStyle/>
                    <a:p>
                      <a:pPr algn="l">
                        <a:lnSpc>
                          <a:spcPct val="107000"/>
                        </a:lnSpc>
                        <a:spcAft>
                          <a:spcPts val="800"/>
                        </a:spcAft>
                        <a:buNone/>
                      </a:pPr>
                      <a:r>
                        <a:rPr lang="es-MX" sz="1200" kern="100">
                          <a:effectLst/>
                          <a:latin typeface="+mn-lt"/>
                          <a:ea typeface="Calibri" panose="020F0502020204030204" pitchFamily="34" charset="0"/>
                          <a:cs typeface="Times New Roman" panose="02020603050405020304" pitchFamily="18" charset="0"/>
                        </a:rPr>
                        <a:t>Marcos de oración</a:t>
                      </a:r>
                    </a:p>
                    <a:p>
                      <a:pPr algn="l">
                        <a:lnSpc>
                          <a:spcPct val="107000"/>
                        </a:lnSpc>
                        <a:spcAft>
                          <a:spcPts val="800"/>
                        </a:spcAft>
                        <a:buNone/>
                      </a:pPr>
                      <a:r>
                        <a:rPr lang="es-MX" sz="1200" kern="100">
                          <a:effectLst/>
                          <a:latin typeface="+mn-lt"/>
                          <a:ea typeface="Calibri" panose="020F0502020204030204" pitchFamily="34" charset="0"/>
                          <a:cs typeface="Times New Roman" panose="02020603050405020304" pitchFamily="18" charset="0"/>
                        </a:rPr>
                        <a:t> </a:t>
                      </a:r>
                    </a:p>
                  </a:txBody>
                  <a:tcPr marL="44975" marR="449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El </a:t>
                      </a:r>
                      <a:r>
                        <a:rPr lang="es-MX" sz="1200" kern="100" dirty="0" err="1">
                          <a:effectLst/>
                          <a:latin typeface="+mn-lt"/>
                          <a:ea typeface="Calibri" panose="020F0502020204030204" pitchFamily="34" charset="0"/>
                          <a:cs typeface="Times New Roman" panose="02020603050405020304" pitchFamily="18" charset="0"/>
                        </a:rPr>
                        <a:t>maiz</a:t>
                      </a:r>
                      <a:r>
                        <a:rPr lang="es-MX" sz="1200" kern="100" dirty="0">
                          <a:effectLst/>
                          <a:latin typeface="+mn-lt"/>
                          <a:ea typeface="Calibri" panose="020F0502020204030204" pitchFamily="34" charset="0"/>
                          <a:cs typeface="Times New Roman" panose="02020603050405020304" pitchFamily="18" charset="0"/>
                        </a:rPr>
                        <a:t> es alimento         in </a:t>
                      </a:r>
                      <a:r>
                        <a:rPr lang="es-MX" sz="1200" kern="100" dirty="0" err="1">
                          <a:effectLst/>
                          <a:latin typeface="+mn-lt"/>
                          <a:ea typeface="Calibri" panose="020F0502020204030204" pitchFamily="34" charset="0"/>
                          <a:cs typeface="Times New Roman" panose="02020603050405020304" pitchFamily="18" charset="0"/>
                        </a:rPr>
                        <a:t>taoli</a:t>
                      </a:r>
                      <a:r>
                        <a:rPr lang="es-MX" sz="1200" kern="100" dirty="0">
                          <a:effectLst/>
                          <a:latin typeface="+mn-lt"/>
                          <a:ea typeface="Calibri" panose="020F0502020204030204" pitchFamily="34" charset="0"/>
                          <a:cs typeface="Times New Roman" panose="02020603050405020304" pitchFamily="18" charset="0"/>
                        </a:rPr>
                        <a:t> no </a:t>
                      </a:r>
                      <a:r>
                        <a:rPr lang="es-MX" sz="1200" kern="100" dirty="0" err="1">
                          <a:effectLst/>
                          <a:latin typeface="+mn-lt"/>
                          <a:ea typeface="Calibri" panose="020F0502020204030204" pitchFamily="34" charset="0"/>
                          <a:cs typeface="Times New Roman" panose="02020603050405020304" pitchFamily="18" charset="0"/>
                        </a:rPr>
                        <a:t>tonalcayotl</a:t>
                      </a:r>
                      <a:endParaRPr lang="es-MX" sz="1200" kern="100" dirty="0">
                        <a:effectLst/>
                        <a:latin typeface="+mn-lt"/>
                        <a:ea typeface="Calibri" panose="020F0502020204030204" pitchFamily="34" charset="0"/>
                        <a:cs typeface="Times New Roman" panose="02020603050405020304" pitchFamily="18" charset="0"/>
                      </a:endParaRP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El maíz es blanco     in </a:t>
                      </a:r>
                      <a:r>
                        <a:rPr lang="es-MX" sz="1200" kern="100" dirty="0" err="1">
                          <a:effectLst/>
                          <a:latin typeface="+mn-lt"/>
                          <a:ea typeface="Calibri" panose="020F0502020204030204" pitchFamily="34" charset="0"/>
                          <a:cs typeface="Times New Roman" panose="02020603050405020304" pitchFamily="18" charset="0"/>
                        </a:rPr>
                        <a:t>tlaoli</a:t>
                      </a:r>
                      <a:r>
                        <a:rPr lang="es-MX" sz="1200" kern="100" dirty="0">
                          <a:effectLst/>
                          <a:latin typeface="+mn-lt"/>
                          <a:ea typeface="Calibri" panose="020F0502020204030204" pitchFamily="34" charset="0"/>
                          <a:cs typeface="Times New Roman" panose="02020603050405020304" pitchFamily="18" charset="0"/>
                        </a:rPr>
                        <a:t> </a:t>
                      </a:r>
                      <a:r>
                        <a:rPr lang="es-MX" sz="1200" kern="100" dirty="0" err="1">
                          <a:effectLst/>
                          <a:latin typeface="+mn-lt"/>
                          <a:ea typeface="Calibri" panose="020F0502020204030204" pitchFamily="34" charset="0"/>
                          <a:cs typeface="Times New Roman" panose="02020603050405020304" pitchFamily="18" charset="0"/>
                        </a:rPr>
                        <a:t>iztac</a:t>
                      </a:r>
                      <a:endParaRPr lang="es-MX" sz="1200" kern="100" dirty="0">
                        <a:effectLst/>
                        <a:latin typeface="+mn-lt"/>
                        <a:ea typeface="Calibri" panose="020F0502020204030204" pitchFamily="34" charset="0"/>
                        <a:cs typeface="Times New Roman" panose="02020603050405020304" pitchFamily="18" charset="0"/>
                      </a:endParaRPr>
                    </a:p>
                    <a:p>
                      <a:pPr algn="l">
                        <a:lnSpc>
                          <a:spcPct val="107000"/>
                        </a:lnSpc>
                        <a:spcAft>
                          <a:spcPts val="800"/>
                        </a:spcAft>
                        <a:buNone/>
                      </a:pPr>
                      <a:endParaRPr lang="es-MX" sz="1200" kern="100" dirty="0">
                        <a:effectLst/>
                        <a:latin typeface="+mn-lt"/>
                        <a:ea typeface="Calibri" panose="020F0502020204030204" pitchFamily="34" charset="0"/>
                        <a:cs typeface="Times New Roman" panose="02020603050405020304" pitchFamily="18" charset="0"/>
                      </a:endParaRPr>
                    </a:p>
                  </a:txBody>
                  <a:tcPr marL="44975" marR="449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txBody>
                  <a:tcPr marL="44975" marR="449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78344332"/>
                  </a:ext>
                </a:extLst>
              </a:tr>
            </a:tbl>
          </a:graphicData>
        </a:graphic>
      </p:graphicFrame>
    </p:spTree>
    <p:extLst>
      <p:ext uri="{BB962C8B-B14F-4D97-AF65-F5344CB8AC3E}">
        <p14:creationId xmlns:p14="http://schemas.microsoft.com/office/powerpoint/2010/main" val="2239141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CFFBD-8F5A-3054-BF28-8BFA81A8DC4E}"/>
            </a:ext>
          </a:extLst>
        </p:cNvPr>
        <p:cNvGrpSpPr/>
        <p:nvPr/>
      </p:nvGrpSpPr>
      <p:grpSpPr>
        <a:xfrm>
          <a:off x="0" y="0"/>
          <a:ext cx="0" cy="0"/>
          <a:chOff x="0" y="0"/>
          <a:chExt cx="0" cy="0"/>
        </a:xfrm>
      </p:grpSpPr>
      <p:graphicFrame>
        <p:nvGraphicFramePr>
          <p:cNvPr id="3" name="Tabla 2">
            <a:extLst>
              <a:ext uri="{FF2B5EF4-FFF2-40B4-BE49-F238E27FC236}">
                <a16:creationId xmlns:a16="http://schemas.microsoft.com/office/drawing/2014/main" id="{0F74C9CC-3BEE-198B-F283-3EE7C6A13861}"/>
              </a:ext>
            </a:extLst>
          </p:cNvPr>
          <p:cNvGraphicFramePr>
            <a:graphicFrameLocks noGrp="1"/>
          </p:cNvGraphicFramePr>
          <p:nvPr>
            <p:extLst>
              <p:ext uri="{D42A27DB-BD31-4B8C-83A1-F6EECF244321}">
                <p14:modId xmlns:p14="http://schemas.microsoft.com/office/powerpoint/2010/main" val="2441635688"/>
              </p:ext>
            </p:extLst>
          </p:nvPr>
        </p:nvGraphicFramePr>
        <p:xfrm>
          <a:off x="446338" y="135390"/>
          <a:ext cx="11541370" cy="6245814"/>
        </p:xfrm>
        <a:graphic>
          <a:graphicData uri="http://schemas.openxmlformats.org/drawingml/2006/table">
            <a:tbl>
              <a:tblPr firstRow="1" firstCol="1" bandRow="1"/>
              <a:tblGrid>
                <a:gridCol w="1653797">
                  <a:extLst>
                    <a:ext uri="{9D8B030D-6E8A-4147-A177-3AD203B41FA5}">
                      <a16:colId xmlns:a16="http://schemas.microsoft.com/office/drawing/2014/main" val="1893721466"/>
                    </a:ext>
                  </a:extLst>
                </a:gridCol>
                <a:gridCol w="8415464">
                  <a:extLst>
                    <a:ext uri="{9D8B030D-6E8A-4147-A177-3AD203B41FA5}">
                      <a16:colId xmlns:a16="http://schemas.microsoft.com/office/drawing/2014/main" val="3424932548"/>
                    </a:ext>
                  </a:extLst>
                </a:gridCol>
                <a:gridCol w="1472109">
                  <a:extLst>
                    <a:ext uri="{9D8B030D-6E8A-4147-A177-3AD203B41FA5}">
                      <a16:colId xmlns:a16="http://schemas.microsoft.com/office/drawing/2014/main" val="3710189087"/>
                    </a:ext>
                  </a:extLst>
                </a:gridCol>
              </a:tblGrid>
              <a:tr h="1145375">
                <a:tc gridSpan="3">
                  <a:txBody>
                    <a:bodyPr/>
                    <a:lstStyle/>
                    <a:p>
                      <a:pPr algn="ctr">
                        <a:lnSpc>
                          <a:spcPct val="107000"/>
                        </a:lnSpc>
                        <a:spcAft>
                          <a:spcPts val="800"/>
                        </a:spcAft>
                        <a:buNone/>
                      </a:pPr>
                      <a:r>
                        <a:rPr lang="es-MX" sz="1200" b="0" kern="100" dirty="0">
                          <a:solidFill>
                            <a:srgbClr val="2E74B5"/>
                          </a:solidFill>
                          <a:effectLst/>
                          <a:latin typeface="+mn-lt"/>
                          <a:ea typeface="Calibri" panose="020F0502020204030204" pitchFamily="34" charset="0"/>
                          <a:cs typeface="Times New Roman" panose="02020603050405020304" pitchFamily="18" charset="0"/>
                        </a:rPr>
                        <a:t>Sesión </a:t>
                      </a:r>
                      <a:r>
                        <a:rPr lang="es-MX" sz="1200" b="0" kern="100" dirty="0">
                          <a:solidFill>
                            <a:srgbClr val="000000"/>
                          </a:solidFill>
                          <a:effectLst/>
                          <a:latin typeface="+mn-lt"/>
                          <a:ea typeface="Calibri" panose="020F0502020204030204" pitchFamily="34" charset="0"/>
                          <a:cs typeface="Times New Roman" panose="02020603050405020304" pitchFamily="18" charset="0"/>
                        </a:rPr>
                        <a:t>11</a:t>
                      </a:r>
                      <a:r>
                        <a:rPr lang="es-MX" sz="1200" b="0" kern="100" dirty="0">
                          <a:solidFill>
                            <a:srgbClr val="2E74B5"/>
                          </a:solidFill>
                          <a:effectLst/>
                          <a:latin typeface="+mn-lt"/>
                          <a:ea typeface="Calibri" panose="020F0502020204030204" pitchFamily="34" charset="0"/>
                          <a:cs typeface="Times New Roman" panose="02020603050405020304" pitchFamily="18" charset="0"/>
                        </a:rPr>
                        <a:t>   </a:t>
                      </a:r>
                      <a:endParaRPr lang="es-MX" sz="1200" b="0" kern="100" dirty="0">
                        <a:effectLst/>
                        <a:latin typeface="+mn-lt"/>
                        <a:ea typeface="Calibri" panose="020F0502020204030204" pitchFamily="34" charset="0"/>
                        <a:cs typeface="Times New Roman" panose="02020603050405020304" pitchFamily="18" charset="0"/>
                      </a:endParaRPr>
                    </a:p>
                    <a:p>
                      <a:pPr algn="ctr">
                        <a:lnSpc>
                          <a:spcPct val="107000"/>
                        </a:lnSpc>
                        <a:spcAft>
                          <a:spcPts val="800"/>
                        </a:spcAft>
                        <a:buNone/>
                      </a:pPr>
                      <a:r>
                        <a:rPr lang="es-MX" sz="1200" b="0" kern="100" dirty="0">
                          <a:solidFill>
                            <a:srgbClr val="2E74B5"/>
                          </a:solidFill>
                          <a:effectLst/>
                          <a:latin typeface="+mn-lt"/>
                          <a:ea typeface="Calibri" panose="020F0502020204030204" pitchFamily="34" charset="0"/>
                          <a:cs typeface="Times New Roman" panose="02020603050405020304" pitchFamily="18" charset="0"/>
                        </a:rPr>
                        <a:t>                  Fecha</a:t>
                      </a:r>
                      <a:r>
                        <a:rPr lang="es-MX" sz="1200" b="0" kern="100" dirty="0">
                          <a:solidFill>
                            <a:srgbClr val="000000"/>
                          </a:solidFill>
                          <a:effectLst/>
                          <a:latin typeface="+mn-lt"/>
                          <a:ea typeface="Calibri" panose="020F0502020204030204" pitchFamily="34" charset="0"/>
                          <a:cs typeface="Times New Roman" panose="02020603050405020304" pitchFamily="18" charset="0"/>
                        </a:rPr>
                        <a:t>:     Lunes 26  </a:t>
                      </a:r>
                      <a:r>
                        <a:rPr lang="es-MX" sz="1200" b="0" kern="100" dirty="0">
                          <a:effectLst/>
                          <a:latin typeface="+mn-lt"/>
                          <a:ea typeface="Calibri" panose="020F0502020204030204" pitchFamily="34" charset="0"/>
                          <a:cs typeface="Times New Roman" panose="02020603050405020304" pitchFamily="18" charset="0"/>
                        </a:rPr>
                        <a:t>de enero de 2026</a:t>
                      </a:r>
                    </a:p>
                    <a:p>
                      <a:pPr algn="ctr">
                        <a:lnSpc>
                          <a:spcPct val="107000"/>
                        </a:lnSpc>
                        <a:spcAft>
                          <a:spcPts val="800"/>
                        </a:spcAft>
                        <a:buNone/>
                      </a:pPr>
                      <a:r>
                        <a:rPr lang="es-MX" sz="1200" b="0" kern="100" dirty="0">
                          <a:solidFill>
                            <a:srgbClr val="2E74B5"/>
                          </a:solidFill>
                          <a:effectLst/>
                          <a:latin typeface="+mn-lt"/>
                          <a:ea typeface="Calibri" panose="020F0502020204030204" pitchFamily="34" charset="0"/>
                          <a:cs typeface="Times New Roman" panose="02020603050405020304" pitchFamily="18" charset="0"/>
                        </a:rPr>
                        <a:t>                          Subtema:   </a:t>
                      </a:r>
                      <a:r>
                        <a:rPr lang="es-MX" sz="1200" b="0" kern="100" dirty="0">
                          <a:effectLst/>
                          <a:latin typeface="+mn-lt"/>
                          <a:ea typeface="Calibri" panose="020F0502020204030204" pitchFamily="34" charset="0"/>
                          <a:cs typeface="Times New Roman" panose="02020603050405020304" pitchFamily="18" charset="0"/>
                        </a:rPr>
                        <a:t>   El maíz, nuestra identidad y cuido</a:t>
                      </a:r>
                    </a:p>
                    <a:p>
                      <a:pPr algn="ctr">
                        <a:lnSpc>
                          <a:spcPct val="107000"/>
                        </a:lnSpc>
                        <a:spcAft>
                          <a:spcPts val="800"/>
                        </a:spcAft>
                        <a:buNone/>
                      </a:pPr>
                      <a:r>
                        <a:rPr lang="es-MX" sz="1200" b="0" kern="100" dirty="0">
                          <a:effectLst/>
                          <a:latin typeface="+mn-lt"/>
                          <a:ea typeface="Calibri" panose="020F0502020204030204" pitchFamily="34" charset="0"/>
                          <a:cs typeface="Times New Roman" panose="02020603050405020304" pitchFamily="18" charset="0"/>
                        </a:rPr>
                        <a:t> </a:t>
                      </a:r>
                      <a:r>
                        <a:rPr lang="es-MX" sz="1200" b="0" kern="100" dirty="0">
                          <a:solidFill>
                            <a:srgbClr val="2E74B5"/>
                          </a:solidFill>
                          <a:effectLst/>
                          <a:latin typeface="+mn-lt"/>
                          <a:ea typeface="Calibri" panose="020F0502020204030204" pitchFamily="34" charset="0"/>
                          <a:cs typeface="Times New Roman" panose="02020603050405020304" pitchFamily="18" charset="0"/>
                        </a:rPr>
                        <a:t>Actividad:</a:t>
                      </a:r>
                      <a:r>
                        <a:rPr lang="es-MX" sz="1200" b="0" kern="100" dirty="0">
                          <a:effectLst/>
                          <a:latin typeface="+mn-lt"/>
                          <a:ea typeface="Calibri" panose="020F0502020204030204" pitchFamily="34" charset="0"/>
                          <a:cs typeface="Times New Roman" panose="02020603050405020304" pitchFamily="18" charset="0"/>
                        </a:rPr>
                        <a:t>  El cuento del maíz</a:t>
                      </a:r>
                    </a:p>
                  </a:txBody>
                  <a:tcPr marL="40790" marR="407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s-MX"/>
                    </a:p>
                  </a:txBody>
                  <a:tcPr/>
                </a:tc>
                <a:tc hMerge="1">
                  <a:txBody>
                    <a:bodyPr/>
                    <a:lstStyle/>
                    <a:p>
                      <a:endParaRPr lang="es-MX"/>
                    </a:p>
                  </a:txBody>
                  <a:tcPr/>
                </a:tc>
                <a:extLst>
                  <a:ext uri="{0D108BD9-81ED-4DB2-BD59-A6C34878D82A}">
                    <a16:rowId xmlns:a16="http://schemas.microsoft.com/office/drawing/2014/main" val="1816588172"/>
                  </a:ext>
                </a:extLst>
              </a:tr>
              <a:tr h="243587">
                <a:tc>
                  <a:txBody>
                    <a:bodyPr/>
                    <a:lstStyle/>
                    <a:p>
                      <a:pPr algn="l">
                        <a:lnSpc>
                          <a:spcPct val="107000"/>
                        </a:lnSpc>
                        <a:spcAft>
                          <a:spcPts val="800"/>
                        </a:spcAft>
                        <a:buNone/>
                      </a:pPr>
                      <a:r>
                        <a:rPr lang="es-MX" sz="1200" b="1" kern="100" dirty="0">
                          <a:effectLst/>
                          <a:latin typeface="+mn-lt"/>
                          <a:ea typeface="Calibri" panose="020F0502020204030204" pitchFamily="34" charset="0"/>
                          <a:cs typeface="Times New Roman" panose="02020603050405020304" pitchFamily="18" charset="0"/>
                        </a:rPr>
                        <a:t>Momento</a:t>
                      </a:r>
                      <a:endParaRPr lang="es-MX" sz="1200" kern="100" dirty="0">
                        <a:effectLst/>
                        <a:latin typeface="+mn-lt"/>
                        <a:ea typeface="Calibri" panose="020F0502020204030204" pitchFamily="34" charset="0"/>
                        <a:cs typeface="Times New Roman" panose="02020603050405020304" pitchFamily="18" charset="0"/>
                      </a:endParaRPr>
                    </a:p>
                  </a:txBody>
                  <a:tcPr marL="40790" marR="407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1200" b="1" kern="100" dirty="0">
                          <a:effectLst/>
                          <a:latin typeface="+mn-lt"/>
                          <a:ea typeface="Calibri" panose="020F0502020204030204" pitchFamily="34" charset="0"/>
                          <a:cs typeface="Times New Roman" panose="02020603050405020304" pitchFamily="18" charset="0"/>
                        </a:rPr>
                        <a:t>                                                                    Actividades</a:t>
                      </a:r>
                      <a:endParaRPr lang="es-MX" sz="1200" kern="100" dirty="0">
                        <a:effectLst/>
                        <a:latin typeface="+mn-lt"/>
                        <a:ea typeface="Calibri" panose="020F0502020204030204" pitchFamily="34" charset="0"/>
                        <a:cs typeface="Times New Roman" panose="02020603050405020304" pitchFamily="18" charset="0"/>
                      </a:endParaRPr>
                    </a:p>
                  </a:txBody>
                  <a:tcPr marL="40790" marR="407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1200" b="1" kern="100">
                          <a:effectLst/>
                          <a:latin typeface="+mn-lt"/>
                          <a:ea typeface="Calibri" panose="020F0502020204030204" pitchFamily="34" charset="0"/>
                          <a:cs typeface="Times New Roman" panose="02020603050405020304" pitchFamily="18" charset="0"/>
                        </a:rPr>
                        <a:t>recursos</a:t>
                      </a:r>
                      <a:endParaRPr lang="es-MX" sz="1200" kern="100">
                        <a:effectLst/>
                        <a:latin typeface="+mn-lt"/>
                        <a:ea typeface="Calibri" panose="020F0502020204030204" pitchFamily="34" charset="0"/>
                        <a:cs typeface="Times New Roman" panose="02020603050405020304" pitchFamily="18" charset="0"/>
                      </a:endParaRPr>
                    </a:p>
                  </a:txBody>
                  <a:tcPr marL="40790" marR="407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43451166"/>
                  </a:ext>
                </a:extLst>
              </a:tr>
              <a:tr h="4370569">
                <a:tc>
                  <a:txBody>
                    <a:bodyPr/>
                    <a:lstStyle/>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Partir de la Realidad.</a:t>
                      </a:r>
                    </a:p>
                  </a:txBody>
                  <a:tcPr marL="40790" marR="407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342900" lvl="0" indent="-342900" algn="l">
                        <a:lnSpc>
                          <a:spcPct val="100000"/>
                        </a:lnSpc>
                        <a:spcAft>
                          <a:spcPts val="1000"/>
                        </a:spcAft>
                        <a:buFont typeface="Wingdings" panose="05000000000000000000" pitchFamily="2" charset="2"/>
                        <a:buChar char=""/>
                      </a:pPr>
                      <a:r>
                        <a:rPr lang="es-MX" sz="1100" kern="100" dirty="0">
                          <a:effectLst/>
                          <a:latin typeface="+mn-lt"/>
                          <a:ea typeface="Calibri" panose="020F0502020204030204" pitchFamily="34" charset="0"/>
                          <a:cs typeface="Times New Roman" panose="02020603050405020304" pitchFamily="18" charset="0"/>
                        </a:rPr>
                        <a:t>Invitar a los alumnos (as) a observar la siguiente proyección sobre la leyenda del maíz    </a:t>
                      </a:r>
                      <a:r>
                        <a:rPr lang="es-MX" sz="1100" u="sng" kern="100" dirty="0">
                          <a:solidFill>
                            <a:srgbClr val="0563C1"/>
                          </a:solidFill>
                          <a:effectLst/>
                          <a:latin typeface="+mn-lt"/>
                          <a:ea typeface="Calibri" panose="020F0502020204030204" pitchFamily="34" charset="0"/>
                          <a:cs typeface="Times New Roman" panose="02020603050405020304" pitchFamily="18" charset="0"/>
                          <a:hlinkClick r:id="rId2"/>
                        </a:rPr>
                        <a:t>https://www.youtube.com/watch?v=ilVz49IQgqw</a:t>
                      </a:r>
                      <a:r>
                        <a:rPr lang="es-MX" sz="1100" kern="100" dirty="0">
                          <a:effectLst/>
                          <a:latin typeface="+mn-lt"/>
                          <a:ea typeface="Calibri" panose="020F0502020204030204" pitchFamily="34" charset="0"/>
                          <a:cs typeface="Times New Roman" panose="02020603050405020304" pitchFamily="18" charset="0"/>
                        </a:rPr>
                        <a:t>  al finalizar el video se realizará un análisis, a cerca del mismo, mediante las interrogantes, los alumnos participaran respondiendo cada interrogante ¿Cómo se llamada el dios (</a:t>
                      </a:r>
                      <a:r>
                        <a:rPr lang="es-MX" sz="1100" kern="100" dirty="0" err="1">
                          <a:effectLst/>
                          <a:latin typeface="+mn-lt"/>
                          <a:ea typeface="Calibri" panose="020F0502020204030204" pitchFamily="34" charset="0"/>
                          <a:cs typeface="Times New Roman" panose="02020603050405020304" pitchFamily="18" charset="0"/>
                        </a:rPr>
                        <a:t>Quetzalcoatl</a:t>
                      </a:r>
                      <a:r>
                        <a:rPr lang="es-MX" sz="1100" kern="100" dirty="0">
                          <a:effectLst/>
                          <a:latin typeface="+mn-lt"/>
                          <a:ea typeface="Calibri" panose="020F0502020204030204" pitchFamily="34" charset="0"/>
                          <a:cs typeface="Times New Roman" panose="02020603050405020304" pitchFamily="18" charset="0"/>
                        </a:rPr>
                        <a:t>) ¿en qué se convirtió </a:t>
                      </a:r>
                      <a:r>
                        <a:rPr lang="es-MX" sz="1100" kern="100" dirty="0" err="1">
                          <a:effectLst/>
                          <a:latin typeface="+mn-lt"/>
                          <a:ea typeface="Calibri" panose="020F0502020204030204" pitchFamily="34" charset="0"/>
                          <a:cs typeface="Times New Roman" panose="02020603050405020304" pitchFamily="18" charset="0"/>
                        </a:rPr>
                        <a:t>Quetzalcoatl</a:t>
                      </a:r>
                      <a:r>
                        <a:rPr lang="es-MX" sz="1100" kern="100" dirty="0">
                          <a:effectLst/>
                          <a:latin typeface="+mn-lt"/>
                          <a:ea typeface="Calibri" panose="020F0502020204030204" pitchFamily="34" charset="0"/>
                          <a:cs typeface="Times New Roman" panose="02020603050405020304" pitchFamily="18" charset="0"/>
                        </a:rPr>
                        <a:t>?  ¿Qué encontraron? ¿Qué traían? ¿de que color era?  ¿Cuántas hormigas eran? ¿Qué hicieron los aztecas con el grano de maíz? y desde entonces el producto primordial en México es el maíz ¿Para qué sirve el maíz según la leyenda (preparar harina) </a:t>
                      </a:r>
                    </a:p>
                    <a:p>
                      <a:pPr marL="342900" lvl="0" indent="-342900" algn="l">
                        <a:lnSpc>
                          <a:spcPct val="100000"/>
                        </a:lnSpc>
                        <a:spcAft>
                          <a:spcPts val="1000"/>
                        </a:spcAft>
                        <a:buFont typeface="Wingdings" panose="05000000000000000000" pitchFamily="2" charset="2"/>
                        <a:buChar char=""/>
                      </a:pPr>
                      <a:r>
                        <a:rPr lang="es-MX" sz="1100" kern="100" dirty="0">
                          <a:effectLst/>
                          <a:latin typeface="+mn-lt"/>
                          <a:ea typeface="Calibri" panose="020F0502020204030204" pitchFamily="34" charset="0"/>
                          <a:cs typeface="Times New Roman" panose="02020603050405020304" pitchFamily="18" charset="0"/>
                        </a:rPr>
                        <a:t>Mostrar imágenes a los alumnos (as) por medio de imágenes personajes del cuento, dios Quetzalcóatl, hormiga negra y roja, los alumnos identificaran cual es el personaje principal, mencionaran su nombre, que hicieron las hormigas y adonde fueron, mostrar la imagen de los aztecas y mencionaran lo que hicieron cundo tuvieron el grano de maíz (realizar una representación del cuento utilizando las imágenes</a:t>
                      </a:r>
                    </a:p>
                    <a:p>
                      <a:pPr marL="342900" lvl="0" indent="-342900" algn="l">
                        <a:lnSpc>
                          <a:spcPct val="100000"/>
                        </a:lnSpc>
                        <a:spcAft>
                          <a:spcPts val="1000"/>
                        </a:spcAft>
                        <a:buFont typeface="Wingdings" panose="05000000000000000000" pitchFamily="2" charset="2"/>
                        <a:buChar char=""/>
                      </a:pPr>
                      <a:r>
                        <a:rPr lang="es-MX" sz="1100" kern="100" dirty="0">
                          <a:effectLst/>
                          <a:latin typeface="+mn-lt"/>
                          <a:ea typeface="Calibri" panose="020F0502020204030204" pitchFamily="34" charset="0"/>
                          <a:cs typeface="Times New Roman" panose="02020603050405020304" pitchFamily="18" charset="0"/>
                        </a:rPr>
                        <a:t>Invitara a los alumnos a que este cuento de acuerdo con la historia lo relacionen con su comunidad de san José Chapulco </a:t>
                      </a:r>
                    </a:p>
                    <a:p>
                      <a:pPr marL="228600" algn="l">
                        <a:lnSpc>
                          <a:spcPct val="100000"/>
                        </a:lnSpc>
                        <a:spcAft>
                          <a:spcPts val="1000"/>
                        </a:spcAft>
                        <a:buNone/>
                      </a:pPr>
                      <a:r>
                        <a:rPr lang="es-MX" sz="1100" b="1" kern="100" dirty="0">
                          <a:effectLst/>
                          <a:latin typeface="+mn-lt"/>
                          <a:ea typeface="Calibri" panose="020F0502020204030204" pitchFamily="34" charset="0"/>
                          <a:cs typeface="Times New Roman" panose="02020603050405020304" pitchFamily="18" charset="0"/>
                        </a:rPr>
                        <a:t>Actividad cambia la historia del cuento</a:t>
                      </a:r>
                    </a:p>
                    <a:p>
                      <a:pPr marL="400050" indent="-171450" algn="l">
                        <a:lnSpc>
                          <a:spcPct val="100000"/>
                        </a:lnSpc>
                        <a:spcAft>
                          <a:spcPts val="1000"/>
                        </a:spcAft>
                        <a:buFont typeface="Wingdings" panose="05000000000000000000" pitchFamily="2" charset="2"/>
                        <a:buChar char="Ø"/>
                      </a:pPr>
                      <a:r>
                        <a:rPr lang="es-MX" sz="1100" kern="100" dirty="0">
                          <a:effectLst/>
                          <a:latin typeface="+mn-lt"/>
                          <a:ea typeface="Calibri" panose="020F0502020204030204" pitchFamily="34" charset="0"/>
                          <a:cs typeface="Times New Roman" panose="02020603050405020304" pitchFamily="18" charset="0"/>
                        </a:rPr>
                        <a:t>La maestra contara un cuento pequeño a los alumnos (as) y la consigna es que entre todo el grupo los alumnos cambien el final del cuento o la historia </a:t>
                      </a:r>
                    </a:p>
                    <a:p>
                      <a:pPr marL="342900" lvl="0" indent="-342900" algn="l">
                        <a:lnSpc>
                          <a:spcPct val="100000"/>
                        </a:lnSpc>
                        <a:spcAft>
                          <a:spcPts val="1000"/>
                        </a:spcAft>
                        <a:buFont typeface="Wingdings" panose="05000000000000000000" pitchFamily="2" charset="2"/>
                        <a:buChar char=""/>
                      </a:pPr>
                      <a:r>
                        <a:rPr lang="es-MX" sz="1100" kern="100" dirty="0">
                          <a:effectLst/>
                          <a:latin typeface="+mn-lt"/>
                          <a:ea typeface="Calibri" panose="020F0502020204030204" pitchFamily="34" charset="0"/>
                          <a:cs typeface="Times New Roman" panose="02020603050405020304" pitchFamily="18" charset="0"/>
                        </a:rPr>
                        <a:t>Con apoyo de imágenes la docente ira relatando el cuento </a:t>
                      </a:r>
                    </a:p>
                    <a:p>
                      <a:pPr marL="228600" algn="l">
                        <a:lnSpc>
                          <a:spcPct val="100000"/>
                        </a:lnSpc>
                        <a:spcAft>
                          <a:spcPts val="1000"/>
                        </a:spcAft>
                        <a:buNone/>
                      </a:pPr>
                      <a:r>
                        <a:rPr lang="es-MX" sz="1100" kern="100" dirty="0">
                          <a:effectLst/>
                          <a:latin typeface="+mn-lt"/>
                          <a:ea typeface="Calibri" panose="020F0502020204030204" pitchFamily="34" charset="0"/>
                          <a:cs typeface="Times New Roman" panose="02020603050405020304" pitchFamily="18" charset="0"/>
                        </a:rPr>
                        <a:t>Había una vez un gran o de maíz, que se plantó en la tierra, el sol lo calentó y la lluvia lo rego, el maíz creció y creció, que estuvo listo para cosechar, los niños lo recogieron y lo comieron con alegría.</a:t>
                      </a:r>
                    </a:p>
                    <a:p>
                      <a:pPr marL="228600" algn="l">
                        <a:lnSpc>
                          <a:spcPct val="100000"/>
                        </a:lnSpc>
                        <a:spcAft>
                          <a:spcPts val="1000"/>
                        </a:spcAft>
                        <a:buNone/>
                      </a:pPr>
                      <a:r>
                        <a:rPr lang="es-MX" sz="1100" kern="100" dirty="0">
                          <a:effectLst/>
                          <a:latin typeface="+mn-lt"/>
                          <a:ea typeface="Calibri" panose="020F0502020204030204" pitchFamily="34" charset="0"/>
                          <a:cs typeface="Times New Roman" panose="02020603050405020304" pitchFamily="18" charset="0"/>
                        </a:rPr>
                        <a:t>Se solicitar al grupo de manera ordenada irán pasando y se apoyaran de las imágenes para contar su cuento, pero cambiaran el final</a:t>
                      </a:r>
                    </a:p>
                    <a:p>
                      <a:pPr marL="342900" lvl="0" indent="-342900" algn="l">
                        <a:lnSpc>
                          <a:spcPct val="100000"/>
                        </a:lnSpc>
                        <a:spcAft>
                          <a:spcPts val="1000"/>
                        </a:spcAft>
                        <a:buFont typeface="Wingdings" panose="05000000000000000000" pitchFamily="2" charset="2"/>
                        <a:buChar char=""/>
                      </a:pPr>
                      <a:r>
                        <a:rPr lang="es-MX" sz="1100" kern="100" dirty="0">
                          <a:effectLst/>
                          <a:latin typeface="+mn-lt"/>
                          <a:ea typeface="Calibri" panose="020F0502020204030204" pitchFamily="34" charset="0"/>
                          <a:cs typeface="Times New Roman" panose="02020603050405020304" pitchFamily="18" charset="0"/>
                        </a:rPr>
                        <a:t>Por medio de un dibujo solicitar a los alumnos(as) que expresen lo que sintieron al representar su cuento y cambiar la historia </a:t>
                      </a:r>
                    </a:p>
                  </a:txBody>
                  <a:tcPr marL="40790" marR="407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gn="l">
                        <a:lnSpc>
                          <a:spcPct val="107000"/>
                        </a:lnSpc>
                        <a:spcAft>
                          <a:spcPts val="800"/>
                        </a:spcAft>
                        <a:buNone/>
                      </a:pPr>
                      <a:endParaRPr lang="es-MX" sz="1200" kern="100" dirty="0">
                        <a:effectLst/>
                        <a:latin typeface="+mn-lt"/>
                        <a:ea typeface="Calibri" panose="020F0502020204030204" pitchFamily="34" charset="0"/>
                        <a:cs typeface="Times New Roman" panose="02020603050405020304" pitchFamily="18" charset="0"/>
                      </a:endParaRPr>
                    </a:p>
                  </a:txBody>
                  <a:tcPr marL="40790" marR="407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85808536"/>
                  </a:ext>
                </a:extLst>
              </a:tr>
              <a:tr h="196596">
                <a:tc>
                  <a:txBody>
                    <a:bodyPr/>
                    <a:lstStyle/>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Marcos de oración</a:t>
                      </a:r>
                    </a:p>
                    <a:p>
                      <a:pPr algn="l">
                        <a:lnSpc>
                          <a:spcPct val="107000"/>
                        </a:lnSpc>
                        <a:spcAft>
                          <a:spcPts val="800"/>
                        </a:spcAft>
                        <a:buNone/>
                      </a:pPr>
                      <a:endParaRPr lang="es-MX" sz="1200" kern="100" dirty="0">
                        <a:effectLst/>
                        <a:latin typeface="+mn-lt"/>
                        <a:ea typeface="Calibri" panose="020F0502020204030204" pitchFamily="34" charset="0"/>
                        <a:cs typeface="Times New Roman" panose="02020603050405020304" pitchFamily="18" charset="0"/>
                      </a:endParaRPr>
                    </a:p>
                  </a:txBody>
                  <a:tcPr marL="40790" marR="407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El </a:t>
                      </a:r>
                      <a:r>
                        <a:rPr lang="es-MX" sz="1200" kern="100" dirty="0" err="1">
                          <a:effectLst/>
                          <a:latin typeface="+mn-lt"/>
                          <a:ea typeface="Calibri" panose="020F0502020204030204" pitchFamily="34" charset="0"/>
                          <a:cs typeface="Times New Roman" panose="02020603050405020304" pitchFamily="18" charset="0"/>
                        </a:rPr>
                        <a:t>maiz</a:t>
                      </a:r>
                      <a:r>
                        <a:rPr lang="es-MX" sz="1200" kern="100" dirty="0">
                          <a:effectLst/>
                          <a:latin typeface="+mn-lt"/>
                          <a:ea typeface="Calibri" panose="020F0502020204030204" pitchFamily="34" charset="0"/>
                          <a:cs typeface="Times New Roman" panose="02020603050405020304" pitchFamily="18" charset="0"/>
                        </a:rPr>
                        <a:t> es alimento         in </a:t>
                      </a:r>
                      <a:r>
                        <a:rPr lang="es-MX" sz="1200" kern="100" dirty="0" err="1">
                          <a:effectLst/>
                          <a:latin typeface="+mn-lt"/>
                          <a:ea typeface="Calibri" panose="020F0502020204030204" pitchFamily="34" charset="0"/>
                          <a:cs typeface="Times New Roman" panose="02020603050405020304" pitchFamily="18" charset="0"/>
                        </a:rPr>
                        <a:t>taoli</a:t>
                      </a:r>
                      <a:r>
                        <a:rPr lang="es-MX" sz="1200" kern="100" dirty="0">
                          <a:effectLst/>
                          <a:latin typeface="+mn-lt"/>
                          <a:ea typeface="Calibri" panose="020F0502020204030204" pitchFamily="34" charset="0"/>
                          <a:cs typeface="Times New Roman" panose="02020603050405020304" pitchFamily="18" charset="0"/>
                        </a:rPr>
                        <a:t> no </a:t>
                      </a:r>
                      <a:r>
                        <a:rPr lang="es-MX" sz="1200" kern="100" dirty="0" err="1">
                          <a:effectLst/>
                          <a:latin typeface="+mn-lt"/>
                          <a:ea typeface="Calibri" panose="020F0502020204030204" pitchFamily="34" charset="0"/>
                          <a:cs typeface="Times New Roman" panose="02020603050405020304" pitchFamily="18" charset="0"/>
                        </a:rPr>
                        <a:t>tonalcayotl</a:t>
                      </a:r>
                      <a:endParaRPr lang="es-MX" sz="1200" kern="100" dirty="0">
                        <a:effectLst/>
                        <a:latin typeface="+mn-lt"/>
                        <a:ea typeface="Calibri" panose="020F0502020204030204" pitchFamily="34" charset="0"/>
                        <a:cs typeface="Times New Roman" panose="02020603050405020304" pitchFamily="18" charset="0"/>
                      </a:endParaRP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El maíz es blanco     in </a:t>
                      </a:r>
                      <a:r>
                        <a:rPr lang="es-MX" sz="1200" kern="100" dirty="0" err="1">
                          <a:effectLst/>
                          <a:latin typeface="+mn-lt"/>
                          <a:ea typeface="Calibri" panose="020F0502020204030204" pitchFamily="34" charset="0"/>
                          <a:cs typeface="Times New Roman" panose="02020603050405020304" pitchFamily="18" charset="0"/>
                        </a:rPr>
                        <a:t>tlaoli</a:t>
                      </a:r>
                      <a:r>
                        <a:rPr lang="es-MX" sz="1200" kern="100" dirty="0">
                          <a:effectLst/>
                          <a:latin typeface="+mn-lt"/>
                          <a:ea typeface="Calibri" panose="020F0502020204030204" pitchFamily="34" charset="0"/>
                          <a:cs typeface="Times New Roman" panose="02020603050405020304" pitchFamily="18" charset="0"/>
                        </a:rPr>
                        <a:t> </a:t>
                      </a:r>
                      <a:r>
                        <a:rPr lang="es-MX" sz="1200" kern="100" dirty="0" err="1">
                          <a:effectLst/>
                          <a:latin typeface="+mn-lt"/>
                          <a:ea typeface="Calibri" panose="020F0502020204030204" pitchFamily="34" charset="0"/>
                          <a:cs typeface="Times New Roman" panose="02020603050405020304" pitchFamily="18" charset="0"/>
                        </a:rPr>
                        <a:t>iztak</a:t>
                      </a:r>
                      <a:endParaRPr lang="es-MX" sz="1200" kern="100" dirty="0">
                        <a:effectLst/>
                        <a:latin typeface="+mn-lt"/>
                        <a:ea typeface="Calibri" panose="020F0502020204030204" pitchFamily="34" charset="0"/>
                        <a:cs typeface="Times New Roman" panose="02020603050405020304" pitchFamily="18" charset="0"/>
                      </a:endParaRPr>
                    </a:p>
                  </a:txBody>
                  <a:tcPr marL="40790" marR="407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txBody>
                  <a:tcPr marL="40790" marR="407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78274725"/>
                  </a:ext>
                </a:extLst>
              </a:tr>
            </a:tbl>
          </a:graphicData>
        </a:graphic>
      </p:graphicFrame>
    </p:spTree>
    <p:extLst>
      <p:ext uri="{BB962C8B-B14F-4D97-AF65-F5344CB8AC3E}">
        <p14:creationId xmlns:p14="http://schemas.microsoft.com/office/powerpoint/2010/main" val="21419052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D9D5D-C718-002D-6F5E-FC68ABD22627}"/>
            </a:ext>
          </a:extLst>
        </p:cNvPr>
        <p:cNvGrpSpPr/>
        <p:nvPr/>
      </p:nvGrpSpPr>
      <p:grpSpPr>
        <a:xfrm>
          <a:off x="0" y="0"/>
          <a:ext cx="0" cy="0"/>
          <a:chOff x="0" y="0"/>
          <a:chExt cx="0" cy="0"/>
        </a:xfrm>
      </p:grpSpPr>
      <p:graphicFrame>
        <p:nvGraphicFramePr>
          <p:cNvPr id="2" name="Tabla 1">
            <a:extLst>
              <a:ext uri="{FF2B5EF4-FFF2-40B4-BE49-F238E27FC236}">
                <a16:creationId xmlns:a16="http://schemas.microsoft.com/office/drawing/2014/main" id="{C5110094-D1E6-0DED-2CB4-DB6E146DCDD3}"/>
              </a:ext>
            </a:extLst>
          </p:cNvPr>
          <p:cNvGraphicFramePr>
            <a:graphicFrameLocks noGrp="1"/>
          </p:cNvGraphicFramePr>
          <p:nvPr>
            <p:extLst>
              <p:ext uri="{D42A27DB-BD31-4B8C-83A1-F6EECF244321}">
                <p14:modId xmlns:p14="http://schemas.microsoft.com/office/powerpoint/2010/main" val="4119073494"/>
              </p:ext>
            </p:extLst>
          </p:nvPr>
        </p:nvGraphicFramePr>
        <p:xfrm>
          <a:off x="292971" y="0"/>
          <a:ext cx="11606058" cy="6289622"/>
        </p:xfrm>
        <a:graphic>
          <a:graphicData uri="http://schemas.openxmlformats.org/drawingml/2006/table">
            <a:tbl>
              <a:tblPr firstRow="1" firstCol="1" bandRow="1"/>
              <a:tblGrid>
                <a:gridCol w="2173097">
                  <a:extLst>
                    <a:ext uri="{9D8B030D-6E8A-4147-A177-3AD203B41FA5}">
                      <a16:colId xmlns:a16="http://schemas.microsoft.com/office/drawing/2014/main" val="1237839232"/>
                    </a:ext>
                  </a:extLst>
                </a:gridCol>
                <a:gridCol w="7780591">
                  <a:extLst>
                    <a:ext uri="{9D8B030D-6E8A-4147-A177-3AD203B41FA5}">
                      <a16:colId xmlns:a16="http://schemas.microsoft.com/office/drawing/2014/main" val="1195120120"/>
                    </a:ext>
                  </a:extLst>
                </a:gridCol>
                <a:gridCol w="1652370">
                  <a:extLst>
                    <a:ext uri="{9D8B030D-6E8A-4147-A177-3AD203B41FA5}">
                      <a16:colId xmlns:a16="http://schemas.microsoft.com/office/drawing/2014/main" val="1215091664"/>
                    </a:ext>
                  </a:extLst>
                </a:gridCol>
              </a:tblGrid>
              <a:tr h="1132561">
                <a:tc gridSpan="3">
                  <a:txBody>
                    <a:bodyPr/>
                    <a:lstStyle/>
                    <a:p>
                      <a:pPr algn="ctr">
                        <a:lnSpc>
                          <a:spcPct val="107000"/>
                        </a:lnSpc>
                        <a:spcAft>
                          <a:spcPts val="800"/>
                        </a:spcAft>
                        <a:buNone/>
                      </a:pPr>
                      <a:r>
                        <a:rPr lang="es-MX" sz="1200" b="0" kern="100" dirty="0">
                          <a:solidFill>
                            <a:srgbClr val="2E74B5"/>
                          </a:solidFill>
                          <a:effectLst/>
                          <a:latin typeface="+mn-lt"/>
                          <a:ea typeface="Calibri" panose="020F0502020204030204" pitchFamily="34" charset="0"/>
                          <a:cs typeface="Times New Roman" panose="02020603050405020304" pitchFamily="18" charset="0"/>
                        </a:rPr>
                        <a:t>Sesión </a:t>
                      </a:r>
                      <a:r>
                        <a:rPr lang="es-MX" sz="1200" b="0" kern="100" dirty="0">
                          <a:solidFill>
                            <a:srgbClr val="000000"/>
                          </a:solidFill>
                          <a:effectLst/>
                          <a:latin typeface="+mn-lt"/>
                          <a:ea typeface="Calibri" panose="020F0502020204030204" pitchFamily="34" charset="0"/>
                          <a:cs typeface="Times New Roman" panose="02020603050405020304" pitchFamily="18" charset="0"/>
                        </a:rPr>
                        <a:t>12</a:t>
                      </a:r>
                      <a:r>
                        <a:rPr lang="es-MX" sz="1200" b="0" kern="100" dirty="0">
                          <a:solidFill>
                            <a:srgbClr val="2E74B5"/>
                          </a:solidFill>
                          <a:effectLst/>
                          <a:latin typeface="+mn-lt"/>
                          <a:ea typeface="Calibri" panose="020F0502020204030204" pitchFamily="34" charset="0"/>
                          <a:cs typeface="Times New Roman" panose="02020603050405020304" pitchFamily="18" charset="0"/>
                        </a:rPr>
                        <a:t>  </a:t>
                      </a:r>
                      <a:endParaRPr lang="es-MX" sz="1200" b="0" kern="100" dirty="0">
                        <a:effectLst/>
                        <a:latin typeface="+mn-lt"/>
                        <a:ea typeface="Calibri" panose="020F0502020204030204" pitchFamily="34" charset="0"/>
                        <a:cs typeface="Times New Roman" panose="02020603050405020304" pitchFamily="18" charset="0"/>
                      </a:endParaRPr>
                    </a:p>
                    <a:p>
                      <a:pPr algn="ctr">
                        <a:lnSpc>
                          <a:spcPct val="107000"/>
                        </a:lnSpc>
                        <a:spcAft>
                          <a:spcPts val="800"/>
                        </a:spcAft>
                        <a:buNone/>
                      </a:pPr>
                      <a:r>
                        <a:rPr lang="es-MX" sz="1200" b="0" kern="100" dirty="0">
                          <a:solidFill>
                            <a:srgbClr val="2E74B5"/>
                          </a:solidFill>
                          <a:effectLst/>
                          <a:latin typeface="+mn-lt"/>
                          <a:ea typeface="Calibri" panose="020F0502020204030204" pitchFamily="34" charset="0"/>
                          <a:cs typeface="Times New Roman" panose="02020603050405020304" pitchFamily="18" charset="0"/>
                        </a:rPr>
                        <a:t>                                            Fecha:    </a:t>
                      </a:r>
                      <a:r>
                        <a:rPr lang="es-MX" sz="1200" b="0" kern="100" dirty="0">
                          <a:solidFill>
                            <a:srgbClr val="000000"/>
                          </a:solidFill>
                          <a:effectLst/>
                          <a:latin typeface="+mn-lt"/>
                          <a:ea typeface="Calibri" panose="020F0502020204030204" pitchFamily="34" charset="0"/>
                          <a:cs typeface="Times New Roman" panose="02020603050405020304" pitchFamily="18" charset="0"/>
                        </a:rPr>
                        <a:t>Martes 27 </a:t>
                      </a:r>
                      <a:r>
                        <a:rPr lang="es-MX" sz="1200" b="0" kern="100" dirty="0">
                          <a:effectLst/>
                          <a:latin typeface="+mn-lt"/>
                          <a:ea typeface="Calibri" panose="020F0502020204030204" pitchFamily="34" charset="0"/>
                          <a:cs typeface="Times New Roman" panose="02020603050405020304" pitchFamily="18" charset="0"/>
                        </a:rPr>
                        <a:t>de enero 26</a:t>
                      </a:r>
                    </a:p>
                    <a:p>
                      <a:pPr algn="ctr">
                        <a:lnSpc>
                          <a:spcPct val="107000"/>
                        </a:lnSpc>
                        <a:spcAft>
                          <a:spcPts val="800"/>
                        </a:spcAft>
                        <a:buNone/>
                      </a:pPr>
                      <a:r>
                        <a:rPr lang="es-MX" sz="1200" b="0" kern="100" dirty="0">
                          <a:solidFill>
                            <a:srgbClr val="2E74B5"/>
                          </a:solidFill>
                          <a:effectLst/>
                          <a:latin typeface="+mn-lt"/>
                          <a:ea typeface="Calibri" panose="020F0502020204030204" pitchFamily="34" charset="0"/>
                          <a:cs typeface="Times New Roman" panose="02020603050405020304" pitchFamily="18" charset="0"/>
                        </a:rPr>
                        <a:t>                                                      Subtema:   </a:t>
                      </a:r>
                      <a:r>
                        <a:rPr lang="es-MX" sz="1200" b="0" kern="100" dirty="0">
                          <a:effectLst/>
                          <a:latin typeface="+mn-lt"/>
                          <a:ea typeface="Calibri" panose="020F0502020204030204" pitchFamily="34" charset="0"/>
                          <a:cs typeface="Times New Roman" panose="02020603050405020304" pitchFamily="18" charset="0"/>
                        </a:rPr>
                        <a:t>El maíz en mi comunidad</a:t>
                      </a:r>
                    </a:p>
                    <a:p>
                      <a:pPr algn="ctr">
                        <a:lnSpc>
                          <a:spcPct val="115000"/>
                        </a:lnSpc>
                        <a:spcAft>
                          <a:spcPts val="1000"/>
                        </a:spcAft>
                        <a:buNone/>
                      </a:pPr>
                      <a:r>
                        <a:rPr lang="es-MX" sz="1200" b="0" kern="100" dirty="0">
                          <a:solidFill>
                            <a:srgbClr val="2E74B5"/>
                          </a:solidFill>
                          <a:effectLst/>
                          <a:latin typeface="+mn-lt"/>
                          <a:ea typeface="Calibri" panose="020F0502020204030204" pitchFamily="34" charset="0"/>
                          <a:cs typeface="Times New Roman" panose="02020603050405020304" pitchFamily="18" charset="0"/>
                        </a:rPr>
                        <a:t>                                    Actividad:</a:t>
                      </a:r>
                      <a:r>
                        <a:rPr lang="es-MX" sz="1200" b="0" kern="100" dirty="0">
                          <a:effectLst/>
                          <a:latin typeface="+mn-lt"/>
                          <a:ea typeface="Calibri" panose="020F0502020204030204" pitchFamily="34" charset="0"/>
                          <a:cs typeface="Times New Roman" panose="02020603050405020304" pitchFamily="18" charset="0"/>
                        </a:rPr>
                        <a:t>    Sembramos maíz</a:t>
                      </a:r>
                    </a:p>
                  </a:txBody>
                  <a:tcPr marL="44565" marR="445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s-MX"/>
                    </a:p>
                  </a:txBody>
                  <a:tcPr/>
                </a:tc>
                <a:tc hMerge="1">
                  <a:txBody>
                    <a:bodyPr/>
                    <a:lstStyle/>
                    <a:p>
                      <a:endParaRPr lang="es-MX"/>
                    </a:p>
                  </a:txBody>
                  <a:tcPr/>
                </a:tc>
                <a:extLst>
                  <a:ext uri="{0D108BD9-81ED-4DB2-BD59-A6C34878D82A}">
                    <a16:rowId xmlns:a16="http://schemas.microsoft.com/office/drawing/2014/main" val="1291593774"/>
                  </a:ext>
                </a:extLst>
              </a:tr>
              <a:tr h="196028">
                <a:tc>
                  <a:txBody>
                    <a:bodyPr/>
                    <a:lstStyle/>
                    <a:p>
                      <a:pPr algn="l">
                        <a:lnSpc>
                          <a:spcPct val="107000"/>
                        </a:lnSpc>
                        <a:spcAft>
                          <a:spcPts val="800"/>
                        </a:spcAft>
                        <a:buNone/>
                      </a:pPr>
                      <a:r>
                        <a:rPr lang="es-MX" sz="1200" b="1" kern="100">
                          <a:effectLst/>
                          <a:latin typeface="+mn-lt"/>
                          <a:ea typeface="Calibri" panose="020F0502020204030204" pitchFamily="34" charset="0"/>
                          <a:cs typeface="Times New Roman" panose="02020603050405020304" pitchFamily="18" charset="0"/>
                        </a:rPr>
                        <a:t>Momento</a:t>
                      </a:r>
                      <a:endParaRPr lang="es-MX" sz="1200" kern="100">
                        <a:effectLst/>
                        <a:latin typeface="+mn-lt"/>
                        <a:ea typeface="Calibri" panose="020F0502020204030204" pitchFamily="34" charset="0"/>
                        <a:cs typeface="Times New Roman" panose="02020603050405020304" pitchFamily="18" charset="0"/>
                      </a:endParaRPr>
                    </a:p>
                  </a:txBody>
                  <a:tcPr marL="44565" marR="445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1200" b="1" kern="100">
                          <a:effectLst/>
                          <a:latin typeface="+mn-lt"/>
                          <a:ea typeface="Calibri" panose="020F0502020204030204" pitchFamily="34" charset="0"/>
                          <a:cs typeface="Times New Roman" panose="02020603050405020304" pitchFamily="18" charset="0"/>
                        </a:rPr>
                        <a:t>                                                               Actividades</a:t>
                      </a:r>
                      <a:endParaRPr lang="es-MX" sz="1200" kern="100">
                        <a:effectLst/>
                        <a:latin typeface="+mn-lt"/>
                        <a:ea typeface="Calibri" panose="020F0502020204030204" pitchFamily="34" charset="0"/>
                        <a:cs typeface="Times New Roman" panose="02020603050405020304" pitchFamily="18" charset="0"/>
                      </a:endParaRPr>
                    </a:p>
                  </a:txBody>
                  <a:tcPr marL="44565" marR="445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1200" b="1" kern="100">
                          <a:effectLst/>
                          <a:latin typeface="+mn-lt"/>
                          <a:ea typeface="Calibri" panose="020F0502020204030204" pitchFamily="34" charset="0"/>
                          <a:cs typeface="Times New Roman" panose="02020603050405020304" pitchFamily="18" charset="0"/>
                        </a:rPr>
                        <a:t>recursos</a:t>
                      </a:r>
                      <a:endParaRPr lang="es-MX" sz="1200" kern="100">
                        <a:effectLst/>
                        <a:latin typeface="+mn-lt"/>
                        <a:ea typeface="Calibri" panose="020F0502020204030204" pitchFamily="34" charset="0"/>
                        <a:cs typeface="Times New Roman" panose="02020603050405020304" pitchFamily="18" charset="0"/>
                      </a:endParaRPr>
                    </a:p>
                  </a:txBody>
                  <a:tcPr marL="44565" marR="445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81083855"/>
                  </a:ext>
                </a:extLst>
              </a:tr>
              <a:tr h="4773962">
                <a:tc>
                  <a:txBody>
                    <a:bodyPr/>
                    <a:lstStyle/>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Análisis y reflexión</a:t>
                      </a:r>
                    </a:p>
                  </a:txBody>
                  <a:tcPr marL="44565" marR="445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342900" lvl="0" indent="-342900" algn="l">
                        <a:lnSpc>
                          <a:spcPct val="115000"/>
                        </a:lnSpc>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Iniciar las actividades de esta sesión cantando la canción del maíz ,la docente invitara a que todos los alumnos participen </a:t>
                      </a:r>
                      <a:r>
                        <a:rPr lang="es-MX" sz="1200" u="sng" kern="100" dirty="0">
                          <a:solidFill>
                            <a:srgbClr val="0563C1"/>
                          </a:solidFill>
                          <a:effectLst/>
                          <a:latin typeface="+mn-lt"/>
                          <a:ea typeface="Calibri" panose="020F0502020204030204" pitchFamily="34" charset="0"/>
                          <a:cs typeface="Times New Roman" panose="02020603050405020304" pitchFamily="18" charset="0"/>
                          <a:hlinkClick r:id="rId2"/>
                        </a:rPr>
                        <a:t>https://www.youtube.com/watch?v=b4FrILpELL0</a:t>
                      </a:r>
                      <a:endParaRPr lang="es-MX" sz="1200" kern="100" dirty="0">
                        <a:effectLst/>
                        <a:latin typeface="+mn-lt"/>
                        <a:ea typeface="Calibri" panose="020F0502020204030204" pitchFamily="34" charset="0"/>
                        <a:cs typeface="Times New Roman" panose="02020603050405020304" pitchFamily="18" charset="0"/>
                      </a:endParaRPr>
                    </a:p>
                    <a:p>
                      <a:pPr marL="342900" lvl="0" indent="-342900" algn="l">
                        <a:lnSpc>
                          <a:spcPct val="115000"/>
                        </a:lnSpc>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Explicar a los alumnos (as) que en esta sesión sembraremos maíz, pero ¿Cómo lo vamos a hacer? ¿Qué necesitamos para sembrar? ¿cómo se siembra el maíz? ¿Qué pasara después de haber sembrado’ </a:t>
                      </a:r>
                    </a:p>
                    <a:p>
                      <a:pPr marL="342900" lvl="0" indent="-342900" algn="l">
                        <a:lnSpc>
                          <a:spcPct val="115000"/>
                        </a:lnSpc>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Invitar a los alumnos(as) a descubrir que pasara, ¿les gustaría sembrar?</a:t>
                      </a:r>
                    </a:p>
                    <a:p>
                      <a:pPr marL="342900" lvl="0" indent="-342900" algn="l">
                        <a:lnSpc>
                          <a:spcPct val="115000"/>
                        </a:lnSpc>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para ello prepararemos los materiales necesarios como es la tierra, semillas de maíz, aula, jardinera o vasos </a:t>
                      </a:r>
                    </a:p>
                    <a:p>
                      <a:pPr marL="342900" lvl="0" indent="-342900" algn="l">
                        <a:lnSpc>
                          <a:spcPct val="115000"/>
                        </a:lnSpc>
                        <a:spcAft>
                          <a:spcPts val="8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contar cuantos materiales son y nombrar cada uno d ellos materiales </a:t>
                      </a:r>
                    </a:p>
                    <a:p>
                      <a:pPr algn="l">
                        <a:lnSpc>
                          <a:spcPct val="115000"/>
                        </a:lnSpc>
                        <a:spcAft>
                          <a:spcPts val="800"/>
                        </a:spcAft>
                        <a:buNone/>
                      </a:pPr>
                      <a:r>
                        <a:rPr lang="es-MX" sz="1200" b="1" kern="100" dirty="0">
                          <a:effectLst/>
                          <a:latin typeface="+mn-lt"/>
                          <a:ea typeface="Calibri" panose="020F0502020204030204" pitchFamily="34" charset="0"/>
                          <a:cs typeface="Times New Roman" panose="02020603050405020304" pitchFamily="18" charset="0"/>
                        </a:rPr>
                        <a:t>preparemos la tierra</a:t>
                      </a:r>
                      <a:endParaRPr lang="es-MX" sz="1200" kern="100" dirty="0">
                        <a:effectLst/>
                        <a:latin typeface="+mn-lt"/>
                        <a:ea typeface="Calibri" panose="020F0502020204030204" pitchFamily="34" charset="0"/>
                        <a:cs typeface="Times New Roman" panose="02020603050405020304" pitchFamily="18" charset="0"/>
                      </a:endParaRPr>
                    </a:p>
                    <a:p>
                      <a:pPr marL="342900" lvl="0" indent="-342900" algn="l">
                        <a:lnSpc>
                          <a:spcPct val="115000"/>
                        </a:lnSpc>
                        <a:buFont typeface="Wingdings" panose="05000000000000000000" pitchFamily="2" charset="2"/>
                        <a:buChar char=""/>
                      </a:pPr>
                      <a:r>
                        <a:rPr lang="es-MX" sz="1200" b="0" kern="100" dirty="0">
                          <a:effectLst/>
                          <a:latin typeface="+mn-lt"/>
                          <a:ea typeface="Calibri" panose="020F0502020204030204" pitchFamily="34" charset="0"/>
                          <a:cs typeface="Times New Roman" panose="02020603050405020304" pitchFamily="18" charset="0"/>
                        </a:rPr>
                        <a:t>Invitar a los alumnos a observar los materiales que se tienen, para iniciar con la actividad de la siembra primer paso preparar la tierra, todos los alumnos se colocan su bata y remueven la tierra hasta quedar blandita y lista para el proceso </a:t>
                      </a:r>
                    </a:p>
                    <a:p>
                      <a:pPr marL="342900" lvl="0" indent="-342900" algn="l">
                        <a:lnSpc>
                          <a:spcPct val="115000"/>
                        </a:lnSpc>
                        <a:spcAft>
                          <a:spcPts val="800"/>
                        </a:spcAft>
                        <a:buFont typeface="Wingdings" panose="05000000000000000000" pitchFamily="2" charset="2"/>
                        <a:buChar char=""/>
                      </a:pPr>
                      <a:r>
                        <a:rPr lang="es-MX" sz="1200" b="0" kern="100" dirty="0">
                          <a:effectLst/>
                          <a:latin typeface="+mn-lt"/>
                          <a:ea typeface="Calibri" panose="020F0502020204030204" pitchFamily="34" charset="0"/>
                          <a:cs typeface="Times New Roman" panose="02020603050405020304" pitchFamily="18" charset="0"/>
                        </a:rPr>
                        <a:t>Se mesclará la tierra con un poquito de agua para que este humedad, colocar la tierra en la jardinera o en un vaso y en medio hacer un hoyo dentro de el se colocara el grano de maíz, una vez sembrado se colocaran los vasos en un lugar donde les toque el sol .</a:t>
                      </a:r>
                    </a:p>
                    <a:p>
                      <a:pPr algn="l">
                        <a:lnSpc>
                          <a:spcPct val="115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Cuidado de la planta </a:t>
                      </a:r>
                    </a:p>
                    <a:p>
                      <a:pPr marL="342900" lvl="0" indent="-342900" algn="l">
                        <a:lnSpc>
                          <a:spcPct val="115000"/>
                        </a:lnSpc>
                        <a:buFont typeface="Wingdings" panose="05000000000000000000" pitchFamily="2" charset="2"/>
                        <a:buChar char=""/>
                      </a:pPr>
                      <a:r>
                        <a:rPr lang="es-MX" sz="1200" b="0" kern="100" dirty="0">
                          <a:effectLst/>
                          <a:latin typeface="+mn-lt"/>
                          <a:ea typeface="Calibri" panose="020F0502020204030204" pitchFamily="34" charset="0"/>
                          <a:cs typeface="Times New Roman" panose="02020603050405020304" pitchFamily="18" charset="0"/>
                        </a:rPr>
                        <a:t>Explicar a los alumnos que la planta ira creciendo poco a poco, si se cuida adecuadamente, regándola y recibiendo rayos de sol, para ello se tomaran compromisos con el grupo para cuidar de su planta.</a:t>
                      </a:r>
                    </a:p>
                    <a:p>
                      <a:pPr marL="342900" lvl="0" indent="-342900" algn="l">
                        <a:lnSpc>
                          <a:spcPct val="115000"/>
                        </a:lnSpc>
                        <a:buFont typeface="Wingdings" panose="05000000000000000000" pitchFamily="2" charset="2"/>
                        <a:buChar char=""/>
                      </a:pPr>
                      <a:r>
                        <a:rPr lang="es-MX" sz="1200" b="0" kern="100" dirty="0">
                          <a:effectLst/>
                          <a:latin typeface="+mn-lt"/>
                          <a:ea typeface="Calibri" panose="020F0502020204030204" pitchFamily="34" charset="0"/>
                          <a:cs typeface="Times New Roman" panose="02020603050405020304" pitchFamily="18" charset="0"/>
                        </a:rPr>
                        <a:t>En la libreta de trabajo realizaran un dibujo de todo el proceso que realizaron de forma ordenada de la siembra del maíz y en náhuatl escribirán a su manera el nombre la siembra de maíz KITOKA TLAOLI</a:t>
                      </a:r>
                    </a:p>
                  </a:txBody>
                  <a:tcPr marL="44565" marR="445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txBody>
                  <a:tcPr marL="44565" marR="445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77741207"/>
                  </a:ext>
                </a:extLst>
              </a:tr>
              <a:tr h="128316">
                <a:tc>
                  <a:txBody>
                    <a:bodyPr/>
                    <a:lstStyle/>
                    <a:p>
                      <a:pPr algn="l">
                        <a:lnSpc>
                          <a:spcPct val="107000"/>
                        </a:lnSpc>
                        <a:spcAft>
                          <a:spcPts val="800"/>
                        </a:spcAft>
                        <a:buNone/>
                      </a:pPr>
                      <a:r>
                        <a:rPr lang="es-MX" sz="700" kern="100">
                          <a:effectLst/>
                          <a:latin typeface="Calibri" panose="020F0502020204030204" pitchFamily="34" charset="0"/>
                          <a:ea typeface="Calibri" panose="020F0502020204030204" pitchFamily="34" charset="0"/>
                          <a:cs typeface="Times New Roman" panose="02020603050405020304" pitchFamily="18" charset="0"/>
                        </a:rPr>
                        <a:t>Marcos de oracion</a:t>
                      </a:r>
                    </a:p>
                  </a:txBody>
                  <a:tcPr marL="44565" marR="445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1200" b="0" kern="100" dirty="0">
                          <a:effectLst/>
                          <a:latin typeface="Calibri" panose="020F0502020204030204" pitchFamily="34" charset="0"/>
                          <a:ea typeface="Calibri" panose="020F0502020204030204" pitchFamily="34" charset="0"/>
                          <a:cs typeface="Times New Roman" panose="02020603050405020304" pitchFamily="18" charset="0"/>
                        </a:rPr>
                        <a:t>siembra de maíz KITOKA TLAOLI</a:t>
                      </a:r>
                    </a:p>
                  </a:txBody>
                  <a:tcPr marL="44565" marR="445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700" kern="100" dirty="0">
                          <a:effectLst/>
                          <a:latin typeface="Calibri" panose="020F0502020204030204" pitchFamily="34" charset="0"/>
                          <a:ea typeface="Calibri" panose="020F0502020204030204" pitchFamily="34" charset="0"/>
                          <a:cs typeface="Times New Roman" panose="02020603050405020304" pitchFamily="18" charset="0"/>
                        </a:rPr>
                        <a:t> </a:t>
                      </a:r>
                    </a:p>
                  </a:txBody>
                  <a:tcPr marL="44565" marR="445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11542903"/>
                  </a:ext>
                </a:extLst>
              </a:tr>
            </a:tbl>
          </a:graphicData>
        </a:graphic>
      </p:graphicFrame>
    </p:spTree>
    <p:extLst>
      <p:ext uri="{BB962C8B-B14F-4D97-AF65-F5344CB8AC3E}">
        <p14:creationId xmlns:p14="http://schemas.microsoft.com/office/powerpoint/2010/main" val="29339531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CB6F78-FFE7-55D2-F69E-838BADCECD34}"/>
            </a:ext>
          </a:extLst>
        </p:cNvPr>
        <p:cNvGrpSpPr/>
        <p:nvPr/>
      </p:nvGrpSpPr>
      <p:grpSpPr>
        <a:xfrm>
          <a:off x="0" y="0"/>
          <a:ext cx="0" cy="0"/>
          <a:chOff x="0" y="0"/>
          <a:chExt cx="0" cy="0"/>
        </a:xfrm>
      </p:grpSpPr>
      <p:graphicFrame>
        <p:nvGraphicFramePr>
          <p:cNvPr id="4" name="Tabla 3">
            <a:extLst>
              <a:ext uri="{FF2B5EF4-FFF2-40B4-BE49-F238E27FC236}">
                <a16:creationId xmlns:a16="http://schemas.microsoft.com/office/drawing/2014/main" id="{5FF8B1B6-C437-62BD-D79A-5E9F6486D35D}"/>
              </a:ext>
            </a:extLst>
          </p:cNvPr>
          <p:cNvGraphicFramePr>
            <a:graphicFrameLocks noGrp="1"/>
          </p:cNvGraphicFramePr>
          <p:nvPr>
            <p:extLst>
              <p:ext uri="{D42A27DB-BD31-4B8C-83A1-F6EECF244321}">
                <p14:modId xmlns:p14="http://schemas.microsoft.com/office/powerpoint/2010/main" val="1513986584"/>
              </p:ext>
            </p:extLst>
          </p:nvPr>
        </p:nvGraphicFramePr>
        <p:xfrm>
          <a:off x="329161" y="164230"/>
          <a:ext cx="11524171" cy="6529540"/>
        </p:xfrm>
        <a:graphic>
          <a:graphicData uri="http://schemas.openxmlformats.org/drawingml/2006/table">
            <a:tbl>
              <a:tblPr firstRow="1" firstCol="1" bandRow="1"/>
              <a:tblGrid>
                <a:gridCol w="2157764">
                  <a:extLst>
                    <a:ext uri="{9D8B030D-6E8A-4147-A177-3AD203B41FA5}">
                      <a16:colId xmlns:a16="http://schemas.microsoft.com/office/drawing/2014/main" val="1680901193"/>
                    </a:ext>
                  </a:extLst>
                </a:gridCol>
                <a:gridCol w="7325553">
                  <a:extLst>
                    <a:ext uri="{9D8B030D-6E8A-4147-A177-3AD203B41FA5}">
                      <a16:colId xmlns:a16="http://schemas.microsoft.com/office/drawing/2014/main" val="1567611754"/>
                    </a:ext>
                  </a:extLst>
                </a:gridCol>
                <a:gridCol w="2040854">
                  <a:extLst>
                    <a:ext uri="{9D8B030D-6E8A-4147-A177-3AD203B41FA5}">
                      <a16:colId xmlns:a16="http://schemas.microsoft.com/office/drawing/2014/main" val="2524143006"/>
                    </a:ext>
                  </a:extLst>
                </a:gridCol>
              </a:tblGrid>
              <a:tr h="1051763">
                <a:tc gridSpan="3">
                  <a:txBody>
                    <a:bodyPr/>
                    <a:lstStyle/>
                    <a:p>
                      <a:pPr algn="ctr">
                        <a:lnSpc>
                          <a:spcPct val="107000"/>
                        </a:lnSpc>
                        <a:spcAft>
                          <a:spcPts val="800"/>
                        </a:spcAft>
                        <a:buNone/>
                      </a:pPr>
                      <a:r>
                        <a:rPr lang="es-MX" sz="1200" b="0" kern="100" dirty="0">
                          <a:solidFill>
                            <a:srgbClr val="2E74B5"/>
                          </a:solidFill>
                          <a:effectLst/>
                          <a:latin typeface="+mn-lt"/>
                          <a:ea typeface="Calibri" panose="020F0502020204030204" pitchFamily="34" charset="0"/>
                          <a:cs typeface="Times New Roman" panose="02020603050405020304" pitchFamily="18" charset="0"/>
                        </a:rPr>
                        <a:t>Sesión </a:t>
                      </a:r>
                      <a:r>
                        <a:rPr lang="es-MX" sz="1200" b="0" kern="100" dirty="0">
                          <a:solidFill>
                            <a:srgbClr val="000000"/>
                          </a:solidFill>
                          <a:effectLst/>
                          <a:latin typeface="+mn-lt"/>
                          <a:ea typeface="Calibri" panose="020F0502020204030204" pitchFamily="34" charset="0"/>
                          <a:cs typeface="Times New Roman" panose="02020603050405020304" pitchFamily="18" charset="0"/>
                        </a:rPr>
                        <a:t>13 </a:t>
                      </a:r>
                      <a:r>
                        <a:rPr lang="es-MX" sz="1200" b="0" kern="100" dirty="0">
                          <a:solidFill>
                            <a:srgbClr val="2E74B5"/>
                          </a:solidFill>
                          <a:effectLst/>
                          <a:latin typeface="+mn-lt"/>
                          <a:ea typeface="Calibri" panose="020F0502020204030204" pitchFamily="34" charset="0"/>
                          <a:cs typeface="Times New Roman" panose="02020603050405020304" pitchFamily="18" charset="0"/>
                        </a:rPr>
                        <a:t> </a:t>
                      </a:r>
                      <a:endParaRPr lang="es-MX" sz="1200" b="0" kern="100" dirty="0">
                        <a:effectLst/>
                        <a:latin typeface="+mn-lt"/>
                        <a:ea typeface="Calibri" panose="020F0502020204030204" pitchFamily="34" charset="0"/>
                        <a:cs typeface="Times New Roman" panose="02020603050405020304" pitchFamily="18" charset="0"/>
                      </a:endParaRPr>
                    </a:p>
                    <a:p>
                      <a:pPr algn="ctr">
                        <a:lnSpc>
                          <a:spcPct val="107000"/>
                        </a:lnSpc>
                        <a:spcAft>
                          <a:spcPts val="800"/>
                        </a:spcAft>
                        <a:buNone/>
                      </a:pPr>
                      <a:r>
                        <a:rPr lang="es-MX" sz="1200" b="0" kern="100" dirty="0">
                          <a:solidFill>
                            <a:srgbClr val="2E74B5"/>
                          </a:solidFill>
                          <a:effectLst/>
                          <a:latin typeface="+mn-lt"/>
                          <a:ea typeface="Calibri" panose="020F0502020204030204" pitchFamily="34" charset="0"/>
                          <a:cs typeface="Times New Roman" panose="02020603050405020304" pitchFamily="18" charset="0"/>
                        </a:rPr>
                        <a:t>                                                                 Fecha:    </a:t>
                      </a:r>
                      <a:r>
                        <a:rPr lang="es-MX" sz="1200" b="0" kern="100" dirty="0">
                          <a:solidFill>
                            <a:srgbClr val="000000"/>
                          </a:solidFill>
                          <a:effectLst/>
                          <a:latin typeface="+mn-lt"/>
                          <a:ea typeface="Calibri" panose="020F0502020204030204" pitchFamily="34" charset="0"/>
                          <a:cs typeface="Times New Roman" panose="02020603050405020304" pitchFamily="18" charset="0"/>
                        </a:rPr>
                        <a:t>miércoles 28 </a:t>
                      </a:r>
                      <a:r>
                        <a:rPr lang="es-MX" sz="1200" b="0" kern="100" dirty="0">
                          <a:effectLst/>
                          <a:latin typeface="+mn-lt"/>
                          <a:ea typeface="Calibri" panose="020F0502020204030204" pitchFamily="34" charset="0"/>
                          <a:cs typeface="Times New Roman" panose="02020603050405020304" pitchFamily="18" charset="0"/>
                        </a:rPr>
                        <a:t>de enero de    2026</a:t>
                      </a:r>
                    </a:p>
                    <a:p>
                      <a:pPr algn="ctr">
                        <a:lnSpc>
                          <a:spcPct val="107000"/>
                        </a:lnSpc>
                        <a:spcAft>
                          <a:spcPts val="800"/>
                        </a:spcAft>
                        <a:buNone/>
                      </a:pPr>
                      <a:r>
                        <a:rPr lang="es-MX" sz="1200" b="0" kern="100" dirty="0">
                          <a:solidFill>
                            <a:srgbClr val="2E74B5"/>
                          </a:solidFill>
                          <a:effectLst/>
                          <a:latin typeface="+mn-lt"/>
                          <a:ea typeface="Calibri" panose="020F0502020204030204" pitchFamily="34" charset="0"/>
                          <a:cs typeface="Times New Roman" panose="02020603050405020304" pitchFamily="18" charset="0"/>
                        </a:rPr>
                        <a:t>                                                                               Subtema:   </a:t>
                      </a:r>
                      <a:r>
                        <a:rPr lang="es-MX" sz="1200" b="0" kern="100" dirty="0">
                          <a:effectLst/>
                          <a:latin typeface="+mn-lt"/>
                          <a:ea typeface="Calibri" panose="020F0502020204030204" pitchFamily="34" charset="0"/>
                          <a:cs typeface="Times New Roman" panose="02020603050405020304" pitchFamily="18" charset="0"/>
                        </a:rPr>
                        <a:t>El maíz, nuestra identidad y cuidado</a:t>
                      </a:r>
                    </a:p>
                    <a:p>
                      <a:pPr algn="ctr">
                        <a:lnSpc>
                          <a:spcPct val="107000"/>
                        </a:lnSpc>
                        <a:spcAft>
                          <a:spcPts val="800"/>
                        </a:spcAft>
                        <a:buNone/>
                      </a:pPr>
                      <a:r>
                        <a:rPr lang="es-MX" sz="1200" b="0" kern="100" dirty="0">
                          <a:solidFill>
                            <a:srgbClr val="2E74B5"/>
                          </a:solidFill>
                          <a:effectLst/>
                          <a:latin typeface="+mn-lt"/>
                          <a:ea typeface="Calibri" panose="020F0502020204030204" pitchFamily="34" charset="0"/>
                          <a:cs typeface="Times New Roman" panose="02020603050405020304" pitchFamily="18" charset="0"/>
                        </a:rPr>
                        <a:t>                                                       Actividad:</a:t>
                      </a:r>
                      <a:r>
                        <a:rPr lang="es-MX" sz="1200" b="0" kern="100" dirty="0">
                          <a:effectLst/>
                          <a:latin typeface="+mn-lt"/>
                          <a:ea typeface="Calibri" panose="020F0502020204030204" pitchFamily="34" charset="0"/>
                          <a:cs typeface="Times New Roman" panose="02020603050405020304" pitchFamily="18" charset="0"/>
                        </a:rPr>
                        <a:t>   Observamos cómo crece</a:t>
                      </a:r>
                    </a:p>
                  </a:txBody>
                  <a:tcPr marL="41290" marR="412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s-MX"/>
                    </a:p>
                  </a:txBody>
                  <a:tcPr/>
                </a:tc>
                <a:tc hMerge="1">
                  <a:txBody>
                    <a:bodyPr/>
                    <a:lstStyle/>
                    <a:p>
                      <a:endParaRPr lang="es-MX"/>
                    </a:p>
                  </a:txBody>
                  <a:tcPr/>
                </a:tc>
                <a:extLst>
                  <a:ext uri="{0D108BD9-81ED-4DB2-BD59-A6C34878D82A}">
                    <a16:rowId xmlns:a16="http://schemas.microsoft.com/office/drawing/2014/main" val="1948846323"/>
                  </a:ext>
                </a:extLst>
              </a:tr>
              <a:tr h="473176">
                <a:tc>
                  <a:txBody>
                    <a:bodyPr/>
                    <a:lstStyle/>
                    <a:p>
                      <a:pPr>
                        <a:lnSpc>
                          <a:spcPct val="107000"/>
                        </a:lnSpc>
                        <a:spcAft>
                          <a:spcPts val="800"/>
                        </a:spcAft>
                        <a:buNone/>
                      </a:pPr>
                      <a:r>
                        <a:rPr lang="es-MX" sz="1200" b="1" kern="100">
                          <a:effectLst/>
                          <a:latin typeface="+mn-lt"/>
                          <a:ea typeface="Calibri" panose="020F0502020204030204" pitchFamily="34" charset="0"/>
                          <a:cs typeface="Times New Roman" panose="02020603050405020304" pitchFamily="18" charset="0"/>
                        </a:rPr>
                        <a:t>Momento</a:t>
                      </a:r>
                      <a:endParaRPr lang="es-MX" sz="1200" kern="100">
                        <a:effectLst/>
                        <a:latin typeface="+mn-lt"/>
                        <a:ea typeface="Calibri" panose="020F0502020204030204" pitchFamily="34" charset="0"/>
                        <a:cs typeface="Times New Roman" panose="02020603050405020304" pitchFamily="18" charset="0"/>
                      </a:endParaRPr>
                    </a:p>
                  </a:txBody>
                  <a:tcPr marL="41290" marR="412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s-MX" sz="1200" b="1" kern="100" dirty="0">
                          <a:effectLst/>
                          <a:latin typeface="+mn-lt"/>
                          <a:ea typeface="Calibri" panose="020F0502020204030204" pitchFamily="34" charset="0"/>
                          <a:cs typeface="Times New Roman" panose="02020603050405020304" pitchFamily="18" charset="0"/>
                        </a:rPr>
                        <a:t>                                                               Actividades</a:t>
                      </a:r>
                      <a:endParaRPr lang="es-MX" sz="1200" kern="100" dirty="0">
                        <a:effectLst/>
                        <a:latin typeface="+mn-lt"/>
                        <a:ea typeface="Calibri" panose="020F0502020204030204" pitchFamily="34" charset="0"/>
                        <a:cs typeface="Times New Roman" panose="02020603050405020304" pitchFamily="18" charset="0"/>
                      </a:endParaRPr>
                    </a:p>
                  </a:txBody>
                  <a:tcPr marL="41290" marR="412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s-MX" sz="1200" b="1" kern="100">
                          <a:effectLst/>
                          <a:latin typeface="+mn-lt"/>
                          <a:ea typeface="Calibri" panose="020F0502020204030204" pitchFamily="34" charset="0"/>
                          <a:cs typeface="Times New Roman" panose="02020603050405020304" pitchFamily="18" charset="0"/>
                        </a:rPr>
                        <a:t>Recursos</a:t>
                      </a:r>
                      <a:endParaRPr lang="es-MX" sz="1200" kern="100">
                        <a:effectLst/>
                        <a:latin typeface="+mn-lt"/>
                        <a:ea typeface="Calibri" panose="020F0502020204030204" pitchFamily="34" charset="0"/>
                        <a:cs typeface="Times New Roman" panose="02020603050405020304" pitchFamily="18" charset="0"/>
                      </a:endParaRPr>
                    </a:p>
                    <a:p>
                      <a:pPr>
                        <a:lnSpc>
                          <a:spcPct val="107000"/>
                        </a:lnSpc>
                        <a:spcAft>
                          <a:spcPts val="800"/>
                        </a:spcAft>
                        <a:buNone/>
                      </a:pPr>
                      <a:r>
                        <a:rPr lang="es-MX" sz="1200" b="1" kern="100">
                          <a:effectLst/>
                          <a:latin typeface="+mn-lt"/>
                          <a:ea typeface="Calibri" panose="020F0502020204030204" pitchFamily="34" charset="0"/>
                          <a:cs typeface="Times New Roman" panose="02020603050405020304" pitchFamily="18" charset="0"/>
                        </a:rPr>
                        <a:t> </a:t>
                      </a:r>
                      <a:endParaRPr lang="es-MX" sz="1200" kern="100">
                        <a:effectLst/>
                        <a:latin typeface="+mn-lt"/>
                        <a:ea typeface="Calibri" panose="020F0502020204030204" pitchFamily="34" charset="0"/>
                        <a:cs typeface="Times New Roman" panose="02020603050405020304" pitchFamily="18" charset="0"/>
                      </a:endParaRPr>
                    </a:p>
                  </a:txBody>
                  <a:tcPr marL="41290" marR="412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8533884"/>
                  </a:ext>
                </a:extLst>
              </a:tr>
              <a:tr h="4086690">
                <a:tc>
                  <a:txBody>
                    <a:bodyPr/>
                    <a:lstStyle/>
                    <a:p>
                      <a:pPr>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Resolver en </a:t>
                      </a:r>
                      <a:r>
                        <a:rPr lang="es-MX" sz="1200" kern="100" dirty="0" err="1">
                          <a:effectLst/>
                          <a:latin typeface="+mn-lt"/>
                          <a:ea typeface="Calibri" panose="020F0502020204030204" pitchFamily="34" charset="0"/>
                          <a:cs typeface="Times New Roman" panose="02020603050405020304" pitchFamily="18" charset="0"/>
                        </a:rPr>
                        <a:t>comun</a:t>
                      </a:r>
                      <a:endParaRPr lang="es-MX" sz="1200" kern="100" dirty="0">
                        <a:effectLst/>
                        <a:latin typeface="+mn-lt"/>
                        <a:ea typeface="Calibri" panose="020F0502020204030204" pitchFamily="34" charset="0"/>
                        <a:cs typeface="Times New Roman" panose="02020603050405020304" pitchFamily="18" charset="0"/>
                      </a:endParaRPr>
                    </a:p>
                  </a:txBody>
                  <a:tcPr marL="41290" marR="412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342900" lvl="0" indent="-342900">
                        <a:lnSpc>
                          <a:spcPct val="115000"/>
                        </a:lnSpc>
                        <a:spcAft>
                          <a:spcPts val="10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Invitar a los alumnos (as)  a tomar un lugar cómodo dentro del salón para a observar un video a cerca de como crece la milpa  </a:t>
                      </a:r>
                      <a:r>
                        <a:rPr lang="es-MX" sz="1200" u="sng" kern="100" dirty="0">
                          <a:solidFill>
                            <a:srgbClr val="0563C1"/>
                          </a:solidFill>
                          <a:effectLst/>
                          <a:latin typeface="+mn-lt"/>
                          <a:ea typeface="Calibri" panose="020F0502020204030204" pitchFamily="34" charset="0"/>
                          <a:cs typeface="Times New Roman" panose="02020603050405020304" pitchFamily="18" charset="0"/>
                          <a:hlinkClick r:id="rId2"/>
                        </a:rPr>
                        <a:t>https://www.youtube.com/watch?v=lLDe0AhQ6SA</a:t>
                      </a:r>
                      <a:endParaRPr lang="es-MX" sz="1200" kern="100" dirty="0">
                        <a:effectLst/>
                        <a:latin typeface="+mn-lt"/>
                        <a:ea typeface="Calibri" panose="020F0502020204030204" pitchFamily="34" charset="0"/>
                        <a:cs typeface="Times New Roman" panose="02020603050405020304" pitchFamily="18" charset="0"/>
                      </a:endParaRPr>
                    </a:p>
                    <a:p>
                      <a:pPr marL="342900" lvl="0" indent="-342900">
                        <a:lnSpc>
                          <a:spcPct val="115000"/>
                        </a:lnSpc>
                        <a:spcAft>
                          <a:spcPts val="10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En lluvia de ideas los alumnos (as) realizaran aportaciones a cerca del video   donde explica cómo se prepara la tierra para sembrar la semilla del maíz ¿Qué necesita la planta para germinar? </a:t>
                      </a:r>
                    </a:p>
                    <a:p>
                      <a:pPr marL="342900" lvl="0" indent="-342900">
                        <a:lnSpc>
                          <a:spcPct val="115000"/>
                        </a:lnSpc>
                        <a:spcAft>
                          <a:spcPts val="10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Explicar a los alumnos (as)que el sol, agua y tierra son de vital importancia para  el maíz ya que ,germina crese y se desarrolla   y queda listo para su cosecha y poder utilizar el producto de maíz, con apoyo de una lamina los alumnos observaran el crecimiento de la planta de milpa y los colores que   tiene según su crecimiento , y a media que va creciendo va sufriendo cambios  hasta llegar a producir la mazorca , misma que posteriormente se convierte en grano de maíz y es cuando se utiliza en palomitas, pozole, tamales, atole, tortillas ,memelas, etc.</a:t>
                      </a:r>
                    </a:p>
                    <a:p>
                      <a:pPr marL="342900" lvl="0" indent="-342900">
                        <a:lnSpc>
                          <a:spcPct val="115000"/>
                        </a:lnSpc>
                        <a:spcAft>
                          <a:spcPts val="10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Solicitar a los alumnos(as) que en su en la libreta de trabajo hacer el dibujo de una milpa y colorearla según observen en la lámina su color, una vez echo su dibujo buscaran imágenes de mazorca y la pegaran según el número que indique la docente ejemplo: pegar 2 mazorcas, pegar 3 mazorcas   etc.</a:t>
                      </a:r>
                    </a:p>
                    <a:p>
                      <a:pPr marL="342900" lvl="0" indent="-342900">
                        <a:lnSpc>
                          <a:spcPct val="115000"/>
                        </a:lnSpc>
                        <a:spcAft>
                          <a:spcPts val="10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Indicar a los alumnos que observen su dibujo como quedo y cuenten en voz alta cuantas mazorcas tiene su milpa y mencionen el color de su mazorca ¿es el mismo que el de la milpa? Si, no ¿Por qué?</a:t>
                      </a:r>
                    </a:p>
                    <a:p>
                      <a:pPr marL="342900" lvl="0" indent="-342900">
                        <a:lnSpc>
                          <a:spcPct val="115000"/>
                        </a:lnSpc>
                        <a:spcAft>
                          <a:spcPts val="10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Expresaran los alumnos (as) los cambios que observaron durante la sesión a cerca de la planta de la milpa, como fue creciendo hasta dar su producto</a:t>
                      </a:r>
                    </a:p>
                  </a:txBody>
                  <a:tcPr marL="41290" marR="412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proyector</a:t>
                      </a:r>
                    </a:p>
                    <a:p>
                      <a:pPr>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Libreta de trabajo</a:t>
                      </a:r>
                    </a:p>
                    <a:p>
                      <a:pPr>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Lamina </a:t>
                      </a:r>
                    </a:p>
                    <a:p>
                      <a:pPr>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Imágenes</a:t>
                      </a:r>
                    </a:p>
                    <a:p>
                      <a:pPr>
                        <a:lnSpc>
                          <a:spcPct val="107000"/>
                        </a:lnSpc>
                        <a:spcAft>
                          <a:spcPts val="800"/>
                        </a:spcAft>
                        <a:buNone/>
                      </a:pPr>
                      <a:endParaRPr lang="es-MX" sz="1200" kern="100" dirty="0">
                        <a:effectLst/>
                        <a:latin typeface="+mn-lt"/>
                        <a:ea typeface="Calibri" panose="020F0502020204030204" pitchFamily="34" charset="0"/>
                        <a:cs typeface="Times New Roman" panose="02020603050405020304" pitchFamily="18" charset="0"/>
                      </a:endParaRPr>
                    </a:p>
                    <a:p>
                      <a:pPr>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txBody>
                  <a:tcPr marL="41290" marR="412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26335615"/>
                  </a:ext>
                </a:extLst>
              </a:tr>
              <a:tr h="762470">
                <a:tc>
                  <a:txBody>
                    <a:bodyPr/>
                    <a:lstStyle/>
                    <a:p>
                      <a:pPr>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Marcos de </a:t>
                      </a:r>
                      <a:r>
                        <a:rPr lang="es-MX" sz="1200" kern="100" dirty="0" err="1">
                          <a:effectLst/>
                          <a:latin typeface="+mn-lt"/>
                          <a:ea typeface="Calibri" panose="020F0502020204030204" pitchFamily="34" charset="0"/>
                          <a:cs typeface="Times New Roman" panose="02020603050405020304" pitchFamily="18" charset="0"/>
                        </a:rPr>
                        <a:t>oracion</a:t>
                      </a:r>
                      <a:endParaRPr lang="es-MX" sz="1200" kern="100" dirty="0">
                        <a:effectLst/>
                        <a:latin typeface="+mn-lt"/>
                        <a:ea typeface="Calibri" panose="020F0502020204030204" pitchFamily="34" charset="0"/>
                        <a:cs typeface="Times New Roman" panose="02020603050405020304" pitchFamily="18" charset="0"/>
                      </a:endParaRPr>
                    </a:p>
                  </a:txBody>
                  <a:tcPr marL="41290" marR="412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La milpa es verde     In mil </a:t>
                      </a:r>
                      <a:r>
                        <a:rPr lang="es-MX" sz="1200" kern="100" dirty="0" err="1">
                          <a:effectLst/>
                          <a:latin typeface="+mn-lt"/>
                          <a:ea typeface="Calibri" panose="020F0502020204030204" pitchFamily="34" charset="0"/>
                          <a:cs typeface="Times New Roman" panose="02020603050405020304" pitchFamily="18" charset="0"/>
                        </a:rPr>
                        <a:t>xoxohuitl</a:t>
                      </a:r>
                      <a:endParaRPr lang="es-MX" sz="1200" kern="100" dirty="0">
                        <a:effectLst/>
                        <a:latin typeface="+mn-lt"/>
                        <a:ea typeface="Calibri" panose="020F0502020204030204" pitchFamily="34" charset="0"/>
                        <a:cs typeface="Times New Roman" panose="02020603050405020304" pitchFamily="18" charset="0"/>
                      </a:endParaRPr>
                    </a:p>
                  </a:txBody>
                  <a:tcPr marL="41290" marR="412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txBody>
                  <a:tcPr marL="41290" marR="412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99665261"/>
                  </a:ext>
                </a:extLst>
              </a:tr>
            </a:tbl>
          </a:graphicData>
        </a:graphic>
      </p:graphicFrame>
    </p:spTree>
    <p:extLst>
      <p:ext uri="{BB962C8B-B14F-4D97-AF65-F5344CB8AC3E}">
        <p14:creationId xmlns:p14="http://schemas.microsoft.com/office/powerpoint/2010/main" val="17539122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3AB8A-AB6D-D343-BCC9-9D2F39F760E7}"/>
            </a:ext>
          </a:extLst>
        </p:cNvPr>
        <p:cNvGrpSpPr/>
        <p:nvPr/>
      </p:nvGrpSpPr>
      <p:grpSpPr>
        <a:xfrm>
          <a:off x="0" y="0"/>
          <a:ext cx="0" cy="0"/>
          <a:chOff x="0" y="0"/>
          <a:chExt cx="0" cy="0"/>
        </a:xfrm>
      </p:grpSpPr>
      <p:graphicFrame>
        <p:nvGraphicFramePr>
          <p:cNvPr id="2" name="Tabla 1">
            <a:extLst>
              <a:ext uri="{FF2B5EF4-FFF2-40B4-BE49-F238E27FC236}">
                <a16:creationId xmlns:a16="http://schemas.microsoft.com/office/drawing/2014/main" id="{602CA035-0845-E29D-2CCF-75570982554C}"/>
              </a:ext>
            </a:extLst>
          </p:cNvPr>
          <p:cNvGraphicFramePr>
            <a:graphicFrameLocks noGrp="1"/>
          </p:cNvGraphicFramePr>
          <p:nvPr>
            <p:extLst>
              <p:ext uri="{D42A27DB-BD31-4B8C-83A1-F6EECF244321}">
                <p14:modId xmlns:p14="http://schemas.microsoft.com/office/powerpoint/2010/main" val="2420239310"/>
              </p:ext>
            </p:extLst>
          </p:nvPr>
        </p:nvGraphicFramePr>
        <p:xfrm>
          <a:off x="164125" y="365760"/>
          <a:ext cx="12027875" cy="6011207"/>
        </p:xfrm>
        <a:graphic>
          <a:graphicData uri="http://schemas.openxmlformats.org/drawingml/2006/table">
            <a:tbl>
              <a:tblPr firstRow="1" firstCol="1" bandRow="1"/>
              <a:tblGrid>
                <a:gridCol w="2252077">
                  <a:extLst>
                    <a:ext uri="{9D8B030D-6E8A-4147-A177-3AD203B41FA5}">
                      <a16:colId xmlns:a16="http://schemas.microsoft.com/office/drawing/2014/main" val="1811388572"/>
                    </a:ext>
                  </a:extLst>
                </a:gridCol>
                <a:gridCol w="7645743">
                  <a:extLst>
                    <a:ext uri="{9D8B030D-6E8A-4147-A177-3AD203B41FA5}">
                      <a16:colId xmlns:a16="http://schemas.microsoft.com/office/drawing/2014/main" val="937713493"/>
                    </a:ext>
                  </a:extLst>
                </a:gridCol>
                <a:gridCol w="2130055">
                  <a:extLst>
                    <a:ext uri="{9D8B030D-6E8A-4147-A177-3AD203B41FA5}">
                      <a16:colId xmlns:a16="http://schemas.microsoft.com/office/drawing/2014/main" val="4180320830"/>
                    </a:ext>
                  </a:extLst>
                </a:gridCol>
              </a:tblGrid>
              <a:tr h="1110615">
                <a:tc gridSpan="3">
                  <a:txBody>
                    <a:bodyPr/>
                    <a:lstStyle/>
                    <a:p>
                      <a:pPr algn="ctr">
                        <a:lnSpc>
                          <a:spcPct val="100000"/>
                        </a:lnSpc>
                        <a:spcAft>
                          <a:spcPts val="800"/>
                        </a:spcAft>
                        <a:buNone/>
                      </a:pPr>
                      <a:r>
                        <a:rPr lang="es-MX" sz="1200" b="1" kern="100" dirty="0">
                          <a:solidFill>
                            <a:srgbClr val="2E74B5"/>
                          </a:solidFill>
                          <a:effectLst/>
                          <a:latin typeface="+mn-lt"/>
                          <a:ea typeface="Calibri" panose="020F0502020204030204" pitchFamily="34" charset="0"/>
                          <a:cs typeface="Times New Roman" panose="02020603050405020304" pitchFamily="18" charset="0"/>
                        </a:rPr>
                        <a:t>  Sesión </a:t>
                      </a:r>
                      <a:r>
                        <a:rPr lang="es-MX" sz="1200" b="1" kern="100" dirty="0">
                          <a:solidFill>
                            <a:srgbClr val="000000"/>
                          </a:solidFill>
                          <a:effectLst/>
                          <a:latin typeface="+mn-lt"/>
                          <a:ea typeface="Calibri" panose="020F0502020204030204" pitchFamily="34" charset="0"/>
                          <a:cs typeface="Times New Roman" panose="02020603050405020304" pitchFamily="18" charset="0"/>
                        </a:rPr>
                        <a:t>14 </a:t>
                      </a:r>
                      <a:endParaRPr lang="es-MX" sz="1200" kern="100" dirty="0">
                        <a:effectLst/>
                        <a:latin typeface="+mn-lt"/>
                        <a:ea typeface="Calibri" panose="020F0502020204030204" pitchFamily="34" charset="0"/>
                        <a:cs typeface="Times New Roman" panose="02020603050405020304" pitchFamily="18" charset="0"/>
                      </a:endParaRPr>
                    </a:p>
                    <a:p>
                      <a:pPr algn="ctr">
                        <a:lnSpc>
                          <a:spcPct val="100000"/>
                        </a:lnSpc>
                        <a:spcAft>
                          <a:spcPts val="800"/>
                        </a:spcAft>
                        <a:buNone/>
                      </a:pPr>
                      <a:r>
                        <a:rPr lang="es-MX" sz="1200" b="1" kern="100" dirty="0">
                          <a:solidFill>
                            <a:srgbClr val="2E74B5"/>
                          </a:solidFill>
                          <a:effectLst/>
                          <a:latin typeface="+mn-lt"/>
                          <a:ea typeface="Calibri" panose="020F0502020204030204" pitchFamily="34" charset="0"/>
                          <a:cs typeface="Times New Roman" panose="02020603050405020304" pitchFamily="18" charset="0"/>
                        </a:rPr>
                        <a:t>                                                            Fecha:    </a:t>
                      </a:r>
                      <a:r>
                        <a:rPr lang="es-MX" sz="1200" b="1" kern="100" dirty="0">
                          <a:solidFill>
                            <a:srgbClr val="000000"/>
                          </a:solidFill>
                          <a:effectLst/>
                          <a:latin typeface="+mn-lt"/>
                          <a:ea typeface="Calibri" panose="020F0502020204030204" pitchFamily="34" charset="0"/>
                          <a:cs typeface="Times New Roman" panose="02020603050405020304" pitchFamily="18" charset="0"/>
                        </a:rPr>
                        <a:t>Jueves  29 </a:t>
                      </a:r>
                      <a:r>
                        <a:rPr lang="es-MX" sz="1200" b="1" kern="100" dirty="0">
                          <a:effectLst/>
                          <a:latin typeface="+mn-lt"/>
                          <a:ea typeface="Calibri" panose="020F0502020204030204" pitchFamily="34" charset="0"/>
                          <a:cs typeface="Times New Roman" panose="02020603050405020304" pitchFamily="18" charset="0"/>
                        </a:rPr>
                        <a:t>de enero de 2026</a:t>
                      </a:r>
                      <a:endParaRPr lang="es-MX" sz="1200" kern="100" dirty="0">
                        <a:effectLst/>
                        <a:latin typeface="+mn-lt"/>
                        <a:ea typeface="Calibri" panose="020F0502020204030204" pitchFamily="34"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800"/>
                        </a:spcAft>
                        <a:buClrTx/>
                        <a:buSzTx/>
                        <a:buFontTx/>
                        <a:buNone/>
                        <a:tabLst/>
                        <a:defRPr/>
                      </a:pPr>
                      <a:r>
                        <a:rPr lang="es-MX" sz="1200" b="1" kern="100" dirty="0">
                          <a:solidFill>
                            <a:srgbClr val="2E74B5"/>
                          </a:solidFill>
                          <a:effectLst/>
                          <a:latin typeface="+mn-lt"/>
                          <a:ea typeface="Calibri" panose="020F0502020204030204" pitchFamily="34" charset="0"/>
                          <a:cs typeface="Times New Roman" panose="02020603050405020304" pitchFamily="18" charset="0"/>
                        </a:rPr>
                        <a:t>                                                          Subtema:   </a:t>
                      </a:r>
                      <a:r>
                        <a:rPr lang="es-MX" sz="1200" b="1" kern="100" dirty="0">
                          <a:effectLst/>
                          <a:latin typeface="Aptos" panose="020B0004020202020204" pitchFamily="34" charset="0"/>
                          <a:ea typeface="Calibri" panose="020F0502020204030204" pitchFamily="34" charset="0"/>
                          <a:cs typeface="Times New Roman" panose="02020603050405020304" pitchFamily="18" charset="0"/>
                        </a:rPr>
                        <a:t>El maíz en mi comunidad</a:t>
                      </a:r>
                      <a:endParaRPr lang="es-MX" sz="1200" kern="100" dirty="0">
                        <a:effectLst/>
                        <a:latin typeface="+mn-lt"/>
                        <a:ea typeface="Calibri" panose="020F0502020204030204" pitchFamily="34" charset="0"/>
                        <a:cs typeface="Times New Roman" panose="02020603050405020304" pitchFamily="18" charset="0"/>
                      </a:endParaRPr>
                    </a:p>
                    <a:p>
                      <a:pPr algn="ctr">
                        <a:lnSpc>
                          <a:spcPct val="100000"/>
                        </a:lnSpc>
                        <a:spcAft>
                          <a:spcPts val="1000"/>
                        </a:spcAft>
                        <a:buNone/>
                      </a:pPr>
                      <a:r>
                        <a:rPr lang="es-MX" sz="1200" b="1" kern="100" dirty="0">
                          <a:solidFill>
                            <a:srgbClr val="2E74B5"/>
                          </a:solidFill>
                          <a:effectLst/>
                          <a:latin typeface="+mn-lt"/>
                          <a:ea typeface="Calibri" panose="020F0502020204030204" pitchFamily="34" charset="0"/>
                          <a:cs typeface="Times New Roman" panose="02020603050405020304" pitchFamily="18" charset="0"/>
                        </a:rPr>
                        <a:t>                                                          Actividad:</a:t>
                      </a:r>
                      <a:r>
                        <a:rPr lang="es-MX" sz="1200" b="1" kern="100" dirty="0">
                          <a:effectLst/>
                          <a:latin typeface="+mn-lt"/>
                          <a:ea typeface="Calibri" panose="020F0502020204030204" pitchFamily="34" charset="0"/>
                          <a:cs typeface="Times New Roman" panose="02020603050405020304" pitchFamily="18" charset="0"/>
                        </a:rPr>
                        <a:t>    Cuidamos nuestra planta</a:t>
                      </a:r>
                      <a:endParaRPr lang="es-MX" sz="1200" kern="100" dirty="0">
                        <a:effectLst/>
                        <a:latin typeface="+mn-lt"/>
                        <a:ea typeface="Calibri" panose="020F0502020204030204" pitchFamily="34" charset="0"/>
                        <a:cs typeface="Times New Roman" panose="02020603050405020304" pitchFamily="18" charset="0"/>
                      </a:endParaRPr>
                    </a:p>
                  </a:txBody>
                  <a:tcPr marL="50521" marR="5052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s-MX"/>
                    </a:p>
                  </a:txBody>
                  <a:tcPr/>
                </a:tc>
                <a:tc hMerge="1">
                  <a:txBody>
                    <a:bodyPr/>
                    <a:lstStyle/>
                    <a:p>
                      <a:endParaRPr lang="es-MX"/>
                    </a:p>
                  </a:txBody>
                  <a:tcPr/>
                </a:tc>
                <a:extLst>
                  <a:ext uri="{0D108BD9-81ED-4DB2-BD59-A6C34878D82A}">
                    <a16:rowId xmlns:a16="http://schemas.microsoft.com/office/drawing/2014/main" val="1633937793"/>
                  </a:ext>
                </a:extLst>
              </a:tr>
              <a:tr h="222384">
                <a:tc>
                  <a:txBody>
                    <a:bodyPr/>
                    <a:lstStyle/>
                    <a:p>
                      <a:pPr algn="l">
                        <a:lnSpc>
                          <a:spcPct val="107000"/>
                        </a:lnSpc>
                        <a:spcAft>
                          <a:spcPts val="800"/>
                        </a:spcAft>
                        <a:buNone/>
                      </a:pPr>
                      <a:r>
                        <a:rPr lang="es-MX" sz="1200" b="1" kern="100">
                          <a:effectLst/>
                          <a:latin typeface="+mn-lt"/>
                          <a:ea typeface="Calibri" panose="020F0502020204030204" pitchFamily="34" charset="0"/>
                          <a:cs typeface="Times New Roman" panose="02020603050405020304" pitchFamily="18" charset="0"/>
                        </a:rPr>
                        <a:t>Momento</a:t>
                      </a:r>
                      <a:endParaRPr lang="es-MX" sz="1200" kern="100">
                        <a:effectLst/>
                        <a:latin typeface="+mn-lt"/>
                        <a:ea typeface="Calibri" panose="020F0502020204030204" pitchFamily="34" charset="0"/>
                        <a:cs typeface="Times New Roman" panose="02020603050405020304" pitchFamily="18" charset="0"/>
                      </a:endParaRPr>
                    </a:p>
                  </a:txBody>
                  <a:tcPr marL="50521" marR="5052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1200" b="1" kern="100" dirty="0">
                          <a:effectLst/>
                          <a:latin typeface="+mn-lt"/>
                          <a:ea typeface="Calibri" panose="020F0502020204030204" pitchFamily="34" charset="0"/>
                          <a:cs typeface="Times New Roman" panose="02020603050405020304" pitchFamily="18" charset="0"/>
                        </a:rPr>
                        <a:t>                                                               Actividades</a:t>
                      </a:r>
                      <a:endParaRPr lang="es-MX" sz="1200" kern="100" dirty="0">
                        <a:effectLst/>
                        <a:latin typeface="+mn-lt"/>
                        <a:ea typeface="Calibri" panose="020F0502020204030204" pitchFamily="34" charset="0"/>
                        <a:cs typeface="Times New Roman" panose="02020603050405020304" pitchFamily="18" charset="0"/>
                      </a:endParaRPr>
                    </a:p>
                  </a:txBody>
                  <a:tcPr marL="50521" marR="5052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1200" b="1" kern="100" dirty="0">
                          <a:effectLst/>
                          <a:latin typeface="+mn-lt"/>
                          <a:ea typeface="Calibri" panose="020F0502020204030204" pitchFamily="34" charset="0"/>
                          <a:cs typeface="Times New Roman" panose="02020603050405020304" pitchFamily="18" charset="0"/>
                        </a:rPr>
                        <a:t>recursos</a:t>
                      </a:r>
                      <a:endParaRPr lang="es-MX" sz="1200" kern="100" dirty="0">
                        <a:effectLst/>
                        <a:latin typeface="+mn-lt"/>
                        <a:ea typeface="Calibri" panose="020F0502020204030204" pitchFamily="34" charset="0"/>
                        <a:cs typeface="Times New Roman" panose="02020603050405020304" pitchFamily="18" charset="0"/>
                      </a:endParaRPr>
                    </a:p>
                  </a:txBody>
                  <a:tcPr marL="50521" marR="5052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36864906"/>
                  </a:ext>
                </a:extLst>
              </a:tr>
              <a:tr h="4188759">
                <a:tc>
                  <a:txBody>
                    <a:bodyPr/>
                    <a:lstStyle/>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Resolver en común</a:t>
                      </a:r>
                    </a:p>
                  </a:txBody>
                  <a:tcPr marL="50521" marR="5052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342900" lvl="0" indent="-342900" algn="l">
                        <a:lnSpc>
                          <a:spcPct val="115000"/>
                        </a:lnSpc>
                        <a:spcAft>
                          <a:spcPts val="10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Iniciar las actividades con los alumnos(as) con la canción  del maíz , motivando a todos los alumnos para que participen y se activen antes de iniciar con las actividades programadas para esta sesión </a:t>
                      </a:r>
                      <a:r>
                        <a:rPr lang="es-MX" sz="1200" u="sng" kern="100" dirty="0">
                          <a:solidFill>
                            <a:srgbClr val="0563C1"/>
                          </a:solidFill>
                          <a:effectLst/>
                          <a:latin typeface="+mn-lt"/>
                          <a:ea typeface="Calibri" panose="020F0502020204030204" pitchFamily="34" charset="0"/>
                          <a:cs typeface="Times New Roman" panose="02020603050405020304" pitchFamily="18" charset="0"/>
                          <a:hlinkClick r:id="rId2"/>
                        </a:rPr>
                        <a:t>https://www.youtube.com/watch?v=b4FrILpELL0</a:t>
                      </a:r>
                      <a:r>
                        <a:rPr lang="es-MX" sz="1200" kern="100" dirty="0">
                          <a:effectLst/>
                          <a:latin typeface="+mn-lt"/>
                          <a:ea typeface="Calibri" panose="020F0502020204030204" pitchFamily="34" charset="0"/>
                          <a:cs typeface="Times New Roman" panose="02020603050405020304" pitchFamily="18" charset="0"/>
                        </a:rPr>
                        <a:t>, </a:t>
                      </a:r>
                    </a:p>
                    <a:p>
                      <a:pPr marL="342900" lvl="0" indent="-342900" algn="l">
                        <a:lnSpc>
                          <a:spcPct val="115000"/>
                        </a:lnSpc>
                        <a:spcAft>
                          <a:spcPts val="10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Presentar a los alumnos (as) imágenes de milpa de diferentes etapas (semilla, germinación, crecimiento etc.) cada alumno las ordenara de acuerdo con su pensamiento y a lo que a observado en videos y explicaciones anteriores de como crece la milpa, la docente observara como lo realizan los alumnos y dará acompañamiento a quien así lo requiera, al finalizaran darán una explicación del porque   ordenaron de esa manera.  </a:t>
                      </a:r>
                    </a:p>
                    <a:p>
                      <a:pPr marL="342900" lvl="0" indent="-342900" algn="l">
                        <a:lnSpc>
                          <a:spcPct val="115000"/>
                        </a:lnSpc>
                        <a:spcAft>
                          <a:spcPts val="10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Iniciar las actividades con los alumnos (as), presentando a los alumnos 3 imágenes de una planta de milpa, pequeña, mediana y grande, los alumnos identificaran tamaños, posteriormente en una alamina la docente explicara que cuando ella indique busquen una imagen de una milpa de una pequeña, pasen a pegar la de acuerdo con el lugar que le corresponde,</a:t>
                      </a:r>
                    </a:p>
                    <a:p>
                      <a:pPr marL="342900" lvl="0" indent="-342900" algn="l">
                        <a:lnSpc>
                          <a:spcPct val="115000"/>
                        </a:lnSpc>
                        <a:spcAft>
                          <a:spcPts val="10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Analizar de manera   grupal con los alumnos(as) ¿Qué necesita una milpa para crecer? ¿Cómo crece la milpa? ¿qué le pasa a la milpa cuando crece?, todo el grupo de forma responsable tomara acuerdos para cuidar su planta y no solamente la milpa, también las plantas que se tienen en casa y solicitar ayuda de la familia para el mejor cuido.</a:t>
                      </a:r>
                    </a:p>
                    <a:p>
                      <a:pPr marL="228600" algn="l">
                        <a:lnSpc>
                          <a:spcPct val="115000"/>
                        </a:lnSpc>
                        <a:spcAft>
                          <a:spcPts val="1000"/>
                        </a:spcAft>
                        <a:buNone/>
                      </a:pPr>
                      <a:r>
                        <a:rPr lang="es-MX" sz="1200" kern="100" dirty="0">
                          <a:effectLst/>
                          <a:latin typeface="+mn-lt"/>
                          <a:ea typeface="Calibri" panose="020F0502020204030204" pitchFamily="34" charset="0"/>
                          <a:cs typeface="Times New Roman" panose="02020603050405020304" pitchFamily="18" charset="0"/>
                        </a:rPr>
                        <a:t> </a:t>
                      </a:r>
                    </a:p>
                  </a:txBody>
                  <a:tcPr marL="50521" marR="5052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Lamina</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Imágenes</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Proyector</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Objetos</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txBody>
                  <a:tcPr marL="50521" marR="5052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29030214"/>
                  </a:ext>
                </a:extLst>
              </a:tr>
              <a:tr h="489449">
                <a:tc>
                  <a:txBody>
                    <a:bodyPr/>
                    <a:lstStyle/>
                    <a:p>
                      <a:pPr algn="l">
                        <a:lnSpc>
                          <a:spcPct val="107000"/>
                        </a:lnSpc>
                        <a:spcAft>
                          <a:spcPts val="800"/>
                        </a:spcAft>
                        <a:buNone/>
                      </a:pPr>
                      <a:r>
                        <a:rPr lang="es-MX" sz="1200" kern="100">
                          <a:effectLst/>
                          <a:latin typeface="+mn-lt"/>
                          <a:ea typeface="Calibri" panose="020F0502020204030204" pitchFamily="34" charset="0"/>
                          <a:cs typeface="Times New Roman" panose="02020603050405020304" pitchFamily="18" charset="0"/>
                        </a:rPr>
                        <a:t>Marcos de oracion</a:t>
                      </a:r>
                    </a:p>
                  </a:txBody>
                  <a:tcPr marL="50521" marR="5052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la milpa verde  in  </a:t>
                      </a:r>
                      <a:r>
                        <a:rPr lang="es-MX" sz="1200" kern="100" dirty="0" err="1">
                          <a:effectLst/>
                          <a:latin typeface="+mn-lt"/>
                          <a:ea typeface="Calibri" panose="020F0502020204030204" pitchFamily="34" charset="0"/>
                          <a:cs typeface="Times New Roman" panose="02020603050405020304" pitchFamily="18" charset="0"/>
                        </a:rPr>
                        <a:t>milt</a:t>
                      </a:r>
                      <a:r>
                        <a:rPr lang="es-MX" sz="1200" kern="100" dirty="0">
                          <a:effectLst/>
                          <a:latin typeface="+mn-lt"/>
                          <a:ea typeface="Calibri" panose="020F0502020204030204" pitchFamily="34" charset="0"/>
                          <a:cs typeface="Times New Roman" panose="02020603050405020304" pitchFamily="18" charset="0"/>
                        </a:rPr>
                        <a:t> </a:t>
                      </a:r>
                      <a:r>
                        <a:rPr lang="es-MX" sz="1200" kern="100" dirty="0" err="1">
                          <a:effectLst/>
                          <a:latin typeface="+mn-lt"/>
                          <a:ea typeface="Calibri" panose="020F0502020204030204" pitchFamily="34" charset="0"/>
                          <a:cs typeface="Times New Roman" panose="02020603050405020304" pitchFamily="18" charset="0"/>
                        </a:rPr>
                        <a:t>xoxoctik</a:t>
                      </a:r>
                      <a:endParaRPr lang="es-MX" sz="1200" kern="100" dirty="0">
                        <a:effectLst/>
                        <a:latin typeface="+mn-lt"/>
                        <a:ea typeface="Calibri" panose="020F0502020204030204" pitchFamily="34" charset="0"/>
                        <a:cs typeface="Times New Roman" panose="02020603050405020304" pitchFamily="18" charset="0"/>
                      </a:endParaRP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txBody>
                  <a:tcPr marL="50521" marR="5052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txBody>
                  <a:tcPr marL="50521" marR="5052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57012129"/>
                  </a:ext>
                </a:extLst>
              </a:tr>
            </a:tbl>
          </a:graphicData>
        </a:graphic>
      </p:graphicFrame>
    </p:spTree>
    <p:extLst>
      <p:ext uri="{BB962C8B-B14F-4D97-AF65-F5344CB8AC3E}">
        <p14:creationId xmlns:p14="http://schemas.microsoft.com/office/powerpoint/2010/main" val="40774498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1AA09-3D8F-F1F8-6C08-33CB63BF258C}"/>
            </a:ext>
          </a:extLst>
        </p:cNvPr>
        <p:cNvGrpSpPr/>
        <p:nvPr/>
      </p:nvGrpSpPr>
      <p:grpSpPr>
        <a:xfrm>
          <a:off x="0" y="0"/>
          <a:ext cx="0" cy="0"/>
          <a:chOff x="0" y="0"/>
          <a:chExt cx="0" cy="0"/>
        </a:xfrm>
      </p:grpSpPr>
      <p:graphicFrame>
        <p:nvGraphicFramePr>
          <p:cNvPr id="3" name="Tabla 2">
            <a:extLst>
              <a:ext uri="{FF2B5EF4-FFF2-40B4-BE49-F238E27FC236}">
                <a16:creationId xmlns:a16="http://schemas.microsoft.com/office/drawing/2014/main" id="{20D6CE9E-A30B-C7FE-8696-9FABD15F2D8E}"/>
              </a:ext>
            </a:extLst>
          </p:cNvPr>
          <p:cNvGraphicFramePr>
            <a:graphicFrameLocks noGrp="1"/>
          </p:cNvGraphicFramePr>
          <p:nvPr>
            <p:extLst>
              <p:ext uri="{D42A27DB-BD31-4B8C-83A1-F6EECF244321}">
                <p14:modId xmlns:p14="http://schemas.microsoft.com/office/powerpoint/2010/main" val="209874217"/>
              </p:ext>
            </p:extLst>
          </p:nvPr>
        </p:nvGraphicFramePr>
        <p:xfrm>
          <a:off x="1777047" y="724534"/>
          <a:ext cx="8637905" cy="2248219"/>
        </p:xfrm>
        <a:graphic>
          <a:graphicData uri="http://schemas.openxmlformats.org/drawingml/2006/table">
            <a:tbl>
              <a:tblPr firstRow="1" firstCol="1" bandRow="1"/>
              <a:tblGrid>
                <a:gridCol w="1617345">
                  <a:extLst>
                    <a:ext uri="{9D8B030D-6E8A-4147-A177-3AD203B41FA5}">
                      <a16:colId xmlns:a16="http://schemas.microsoft.com/office/drawing/2014/main" val="1308716688"/>
                    </a:ext>
                  </a:extLst>
                </a:gridCol>
                <a:gridCol w="5490845">
                  <a:extLst>
                    <a:ext uri="{9D8B030D-6E8A-4147-A177-3AD203B41FA5}">
                      <a16:colId xmlns:a16="http://schemas.microsoft.com/office/drawing/2014/main" val="3393378652"/>
                    </a:ext>
                  </a:extLst>
                </a:gridCol>
                <a:gridCol w="1529715">
                  <a:extLst>
                    <a:ext uri="{9D8B030D-6E8A-4147-A177-3AD203B41FA5}">
                      <a16:colId xmlns:a16="http://schemas.microsoft.com/office/drawing/2014/main" val="3438522269"/>
                    </a:ext>
                  </a:extLst>
                </a:gridCol>
              </a:tblGrid>
              <a:tr h="440690">
                <a:tc gridSpan="3">
                  <a:txBody>
                    <a:bodyPr/>
                    <a:lstStyle/>
                    <a:p>
                      <a:pPr algn="ctr">
                        <a:lnSpc>
                          <a:spcPct val="107000"/>
                        </a:lnSpc>
                        <a:spcAft>
                          <a:spcPts val="800"/>
                        </a:spcAft>
                        <a:buNone/>
                      </a:pPr>
                      <a:r>
                        <a:rPr lang="es-MX" sz="1200" b="1" kern="100" dirty="0">
                          <a:solidFill>
                            <a:srgbClr val="2E74B5"/>
                          </a:solidFill>
                          <a:effectLst/>
                          <a:latin typeface="Aptos" panose="020B0004020202020204" pitchFamily="34" charset="0"/>
                          <a:ea typeface="Calibri" panose="020F0502020204030204" pitchFamily="34" charset="0"/>
                          <a:cs typeface="Times New Roman" panose="02020603050405020304" pitchFamily="18" charset="0"/>
                        </a:rPr>
                        <a:t>   Fecha:    </a:t>
                      </a:r>
                      <a:r>
                        <a:rPr lang="es-MX" sz="1200" b="1" kern="100" dirty="0">
                          <a:solidFill>
                            <a:srgbClr val="000000"/>
                          </a:solidFill>
                          <a:effectLst/>
                          <a:latin typeface="Aptos" panose="020B0004020202020204" pitchFamily="34" charset="0"/>
                          <a:ea typeface="Calibri" panose="020F0502020204030204" pitchFamily="34" charset="0"/>
                          <a:cs typeface="Times New Roman" panose="02020603050405020304" pitchFamily="18" charset="0"/>
                        </a:rPr>
                        <a:t>Viernes  30 </a:t>
                      </a:r>
                      <a:r>
                        <a:rPr lang="es-MX" sz="1200" b="1" kern="100" dirty="0">
                          <a:effectLst/>
                          <a:latin typeface="Aptos" panose="020B0004020202020204" pitchFamily="34" charset="0"/>
                          <a:ea typeface="Calibri" panose="020F0502020204030204" pitchFamily="34" charset="0"/>
                          <a:cs typeface="Times New Roman" panose="02020603050405020304" pitchFamily="18" charset="0"/>
                        </a:rPr>
                        <a:t>de enero de 2026</a:t>
                      </a:r>
                      <a:endParaRPr lang="es-MX" sz="1100" kern="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200" b="1" kern="100" dirty="0">
                          <a:solidFill>
                            <a:srgbClr val="2E74B5"/>
                          </a:solidFill>
                          <a:effectLst/>
                          <a:latin typeface="Aptos" panose="020B0004020202020204" pitchFamily="34" charset="0"/>
                          <a:ea typeface="Calibri" panose="020F0502020204030204" pitchFamily="34" charset="0"/>
                          <a:cs typeface="Times New Roman" panose="02020603050405020304" pitchFamily="18" charset="0"/>
                        </a:rPr>
                        <a:t>         Subtema:   </a:t>
                      </a:r>
                      <a:r>
                        <a:rPr lang="es-MX" sz="1200" b="1" kern="100" dirty="0">
                          <a:effectLst/>
                          <a:latin typeface="Aptos" panose="020B0004020202020204" pitchFamily="34" charset="0"/>
                          <a:ea typeface="Calibri" panose="020F0502020204030204" pitchFamily="34" charset="0"/>
                          <a:cs typeface="Times New Roman" panose="02020603050405020304" pitchFamily="18" charset="0"/>
                        </a:rPr>
                        <a:t>El maíz en mi comunidad</a:t>
                      </a:r>
                      <a:endParaRPr lang="es-MX" sz="1100" kern="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15000"/>
                        </a:lnSpc>
                        <a:spcAft>
                          <a:spcPts val="1000"/>
                        </a:spcAft>
                        <a:buNone/>
                      </a:pPr>
                      <a:r>
                        <a:rPr lang="es-MX" sz="1200" b="1" kern="100" dirty="0">
                          <a:solidFill>
                            <a:srgbClr val="2E74B5"/>
                          </a:solidFill>
                          <a:effectLst/>
                          <a:latin typeface="Calibri" panose="020F0502020204030204" pitchFamily="34" charset="0"/>
                          <a:ea typeface="Calibri" panose="020F0502020204030204" pitchFamily="34" charset="0"/>
                          <a:cs typeface="Times New Roman" panose="02020603050405020304" pitchFamily="18" charset="0"/>
                        </a:rPr>
                        <a:t>  Actividad:</a:t>
                      </a:r>
                      <a:r>
                        <a:rPr lang="es-MX" sz="1200" b="1" kern="100" dirty="0">
                          <a:effectLst/>
                          <a:latin typeface="Calibri" panose="020F0502020204030204" pitchFamily="34" charset="0"/>
                          <a:ea typeface="Calibri" panose="020F0502020204030204" pitchFamily="34" charset="0"/>
                          <a:cs typeface="Times New Roman" panose="02020603050405020304" pitchFamily="18" charset="0"/>
                        </a:rPr>
                        <a:t>    ¿</a:t>
                      </a:r>
                      <a:endParaRPr lang="es-MX"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s-MX"/>
                    </a:p>
                  </a:txBody>
                  <a:tcPr/>
                </a:tc>
                <a:tc hMerge="1">
                  <a:txBody>
                    <a:bodyPr/>
                    <a:lstStyle/>
                    <a:p>
                      <a:endParaRPr lang="es-MX"/>
                    </a:p>
                  </a:txBody>
                  <a:tcPr/>
                </a:tc>
                <a:extLst>
                  <a:ext uri="{0D108BD9-81ED-4DB2-BD59-A6C34878D82A}">
                    <a16:rowId xmlns:a16="http://schemas.microsoft.com/office/drawing/2014/main" val="3398197547"/>
                  </a:ext>
                </a:extLst>
              </a:tr>
              <a:tr h="0">
                <a:tc>
                  <a:txBody>
                    <a:bodyPr/>
                    <a:lstStyle/>
                    <a:p>
                      <a:pPr>
                        <a:lnSpc>
                          <a:spcPct val="107000"/>
                        </a:lnSpc>
                        <a:spcAft>
                          <a:spcPts val="800"/>
                        </a:spcAft>
                        <a:buNone/>
                      </a:pPr>
                      <a:r>
                        <a:rPr lang="es-MX" sz="1400" b="1" kern="100">
                          <a:effectLst/>
                          <a:latin typeface="Aptos" panose="020B0004020202020204" pitchFamily="34" charset="0"/>
                          <a:ea typeface="Calibri" panose="020F0502020204030204" pitchFamily="34" charset="0"/>
                          <a:cs typeface="Times New Roman" panose="02020603050405020304" pitchFamily="18" charset="0"/>
                        </a:rPr>
                        <a:t>Momento</a:t>
                      </a:r>
                      <a:endParaRPr lang="es-MX"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s-MX" sz="1400" b="1" kern="100">
                          <a:effectLst/>
                          <a:latin typeface="Aptos" panose="020B0004020202020204" pitchFamily="34" charset="0"/>
                          <a:ea typeface="Calibri" panose="020F0502020204030204" pitchFamily="34" charset="0"/>
                          <a:cs typeface="Times New Roman" panose="02020603050405020304" pitchFamily="18" charset="0"/>
                        </a:rPr>
                        <a:t>                                                               Actividades</a:t>
                      </a:r>
                      <a:endParaRPr lang="es-MX"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s-MX" sz="1400" b="1" kern="100" dirty="0">
                          <a:effectLst/>
                          <a:latin typeface="Aptos" panose="020B0004020202020204" pitchFamily="34" charset="0"/>
                          <a:ea typeface="Calibri" panose="020F0502020204030204" pitchFamily="34" charset="0"/>
                          <a:cs typeface="Times New Roman" panose="02020603050405020304" pitchFamily="18" charset="0"/>
                        </a:rPr>
                        <a:t>recursos</a:t>
                      </a:r>
                      <a:endParaRPr lang="es-MX"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78460981"/>
                  </a:ext>
                </a:extLst>
              </a:tr>
              <a:tr h="0">
                <a:tc>
                  <a:txBody>
                    <a:bodyPr/>
                    <a:lstStyle/>
                    <a:p>
                      <a:pPr>
                        <a:lnSpc>
                          <a:spcPct val="107000"/>
                        </a:lnSpc>
                        <a:spcAft>
                          <a:spcPts val="800"/>
                        </a:spcAft>
                        <a:buNone/>
                      </a:pPr>
                      <a:r>
                        <a:rPr lang="es-MX" sz="1200" kern="100">
                          <a:effectLst/>
                          <a:latin typeface="Aptos" panose="020B0004020202020204" pitchFamily="34" charset="0"/>
                          <a:ea typeface="Calibri" panose="020F0502020204030204" pitchFamily="34" charset="0"/>
                          <a:cs typeface="Times New Roman" panose="02020603050405020304" pitchFamily="18" charset="0"/>
                        </a:rPr>
                        <a:t> </a:t>
                      </a:r>
                      <a:endParaRPr lang="es-MX"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28600">
                        <a:lnSpc>
                          <a:spcPct val="115000"/>
                        </a:lnSpc>
                        <a:spcAft>
                          <a:spcPts val="1000"/>
                        </a:spcAft>
                        <a:buNone/>
                      </a:pPr>
                      <a:r>
                        <a:rPr lang="es-MX" sz="1600" b="1" kern="100">
                          <a:effectLst/>
                          <a:latin typeface="Aptos" panose="020B0004020202020204" pitchFamily="34" charset="0"/>
                          <a:ea typeface="Calibri" panose="020F0502020204030204" pitchFamily="34" charset="0"/>
                          <a:cs typeface="Times New Roman" panose="02020603050405020304" pitchFamily="18" charset="0"/>
                        </a:rPr>
                        <a:t>Consejo técnico </a:t>
                      </a:r>
                      <a:endParaRPr lang="es-MX"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s-MX" sz="1200" kern="100" dirty="0">
                          <a:effectLst/>
                          <a:latin typeface="Aptos" panose="020B0004020202020204" pitchFamily="34" charset="0"/>
                          <a:ea typeface="Calibri" panose="020F0502020204030204" pitchFamily="34" charset="0"/>
                          <a:cs typeface="Times New Roman" panose="02020603050405020304" pitchFamily="18" charset="0"/>
                        </a:rPr>
                        <a:t> </a:t>
                      </a:r>
                      <a:endParaRPr lang="es-MX" sz="11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s-MX" sz="1200" kern="100" dirty="0">
                          <a:effectLst/>
                          <a:latin typeface="Aptos" panose="020B0004020202020204" pitchFamily="34" charset="0"/>
                          <a:ea typeface="Calibri" panose="020F0502020204030204" pitchFamily="34" charset="0"/>
                          <a:cs typeface="Times New Roman" panose="02020603050405020304" pitchFamily="18" charset="0"/>
                        </a:rPr>
                        <a:t> </a:t>
                      </a:r>
                      <a:endParaRPr lang="es-MX" sz="11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s-MX" sz="1200" kern="100" dirty="0">
                          <a:effectLst/>
                          <a:latin typeface="Aptos" panose="020B0004020202020204" pitchFamily="34" charset="0"/>
                          <a:ea typeface="Calibri" panose="020F0502020204030204" pitchFamily="34" charset="0"/>
                          <a:cs typeface="Times New Roman" panose="02020603050405020304" pitchFamily="18" charset="0"/>
                        </a:rPr>
                        <a:t> </a:t>
                      </a:r>
                      <a:endParaRPr lang="es-MX"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9291453"/>
                  </a:ext>
                </a:extLst>
              </a:tr>
              <a:tr h="0">
                <a:tc>
                  <a:txBody>
                    <a:bodyPr/>
                    <a:lstStyle/>
                    <a:p>
                      <a:pPr>
                        <a:lnSpc>
                          <a:spcPct val="107000"/>
                        </a:lnSpc>
                        <a:spcAft>
                          <a:spcPts val="800"/>
                        </a:spcAft>
                        <a:buNone/>
                      </a:pPr>
                      <a:r>
                        <a:rPr lang="es-MX" sz="1100" kern="100">
                          <a:effectLst/>
                          <a:latin typeface="Calibri" panose="020F0502020204030204" pitchFamily="34" charset="0"/>
                          <a:ea typeface="Calibri" panose="020F0502020204030204" pitchFamily="34" charset="0"/>
                          <a:cs typeface="Times New Roman" panose="02020603050405020304" pitchFamily="18" charset="0"/>
                        </a:rPr>
                        <a:t>Marcos de oracion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s-MX" sz="1100" kern="100">
                          <a:effectLst/>
                          <a:latin typeface="Calibri" panose="020F0502020204030204" pitchFamily="34" charset="0"/>
                          <a:ea typeface="Calibri" panose="020F0502020204030204" pitchFamily="34" charset="0"/>
                          <a:cs typeface="Times New Roman" panose="02020603050405020304" pitchFamily="18" charset="0"/>
                        </a:rPr>
                        <a:t> </a:t>
                      </a:r>
                    </a:p>
                    <a:p>
                      <a:pPr>
                        <a:lnSpc>
                          <a:spcPct val="107000"/>
                        </a:lnSpc>
                        <a:spcAft>
                          <a:spcPts val="800"/>
                        </a:spcAft>
                        <a:buNone/>
                      </a:pPr>
                      <a:r>
                        <a:rPr lang="es-MX" sz="1100" kern="100">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s-MX" sz="1100" kern="100" dirty="0">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9716440"/>
                  </a:ext>
                </a:extLst>
              </a:tr>
            </a:tbl>
          </a:graphicData>
        </a:graphic>
      </p:graphicFrame>
      <p:graphicFrame>
        <p:nvGraphicFramePr>
          <p:cNvPr id="4" name="Tabla 3">
            <a:extLst>
              <a:ext uri="{FF2B5EF4-FFF2-40B4-BE49-F238E27FC236}">
                <a16:creationId xmlns:a16="http://schemas.microsoft.com/office/drawing/2014/main" id="{E36249F8-B19E-2CD6-2D7D-9388ADE7DBEB}"/>
              </a:ext>
            </a:extLst>
          </p:cNvPr>
          <p:cNvGraphicFramePr>
            <a:graphicFrameLocks noGrp="1"/>
          </p:cNvGraphicFramePr>
          <p:nvPr/>
        </p:nvGraphicFramePr>
        <p:xfrm>
          <a:off x="1777047" y="3166332"/>
          <a:ext cx="8637905" cy="1669924"/>
        </p:xfrm>
        <a:graphic>
          <a:graphicData uri="http://schemas.openxmlformats.org/drawingml/2006/table">
            <a:tbl>
              <a:tblPr firstRow="1" firstCol="1" bandRow="1"/>
              <a:tblGrid>
                <a:gridCol w="1617345">
                  <a:extLst>
                    <a:ext uri="{9D8B030D-6E8A-4147-A177-3AD203B41FA5}">
                      <a16:colId xmlns:a16="http://schemas.microsoft.com/office/drawing/2014/main" val="2304206880"/>
                    </a:ext>
                  </a:extLst>
                </a:gridCol>
                <a:gridCol w="5490845">
                  <a:extLst>
                    <a:ext uri="{9D8B030D-6E8A-4147-A177-3AD203B41FA5}">
                      <a16:colId xmlns:a16="http://schemas.microsoft.com/office/drawing/2014/main" val="3566244672"/>
                    </a:ext>
                  </a:extLst>
                </a:gridCol>
                <a:gridCol w="1529715">
                  <a:extLst>
                    <a:ext uri="{9D8B030D-6E8A-4147-A177-3AD203B41FA5}">
                      <a16:colId xmlns:a16="http://schemas.microsoft.com/office/drawing/2014/main" val="2389593693"/>
                    </a:ext>
                  </a:extLst>
                </a:gridCol>
              </a:tblGrid>
              <a:tr h="440690">
                <a:tc gridSpan="3">
                  <a:txBody>
                    <a:bodyPr/>
                    <a:lstStyle/>
                    <a:p>
                      <a:pPr algn="ctr">
                        <a:lnSpc>
                          <a:spcPct val="107000"/>
                        </a:lnSpc>
                        <a:spcAft>
                          <a:spcPts val="800"/>
                        </a:spcAft>
                        <a:buNone/>
                      </a:pPr>
                      <a:r>
                        <a:rPr lang="es-MX" sz="1200" b="1" kern="100">
                          <a:solidFill>
                            <a:srgbClr val="2E74B5"/>
                          </a:solidFill>
                          <a:effectLst/>
                          <a:latin typeface="Aptos" panose="020B0004020202020204" pitchFamily="34" charset="0"/>
                          <a:ea typeface="Calibri" panose="020F0502020204030204" pitchFamily="34" charset="0"/>
                          <a:cs typeface="Times New Roman" panose="02020603050405020304" pitchFamily="18" charset="0"/>
                        </a:rPr>
                        <a:t>   Fecha:    </a:t>
                      </a:r>
                      <a:r>
                        <a:rPr lang="es-MX" sz="1200" b="1" kern="100">
                          <a:effectLst/>
                          <a:latin typeface="Aptos" panose="020B0004020202020204" pitchFamily="34" charset="0"/>
                          <a:ea typeface="Calibri" panose="020F0502020204030204" pitchFamily="34" charset="0"/>
                          <a:cs typeface="Times New Roman" panose="02020603050405020304" pitchFamily="18" charset="0"/>
                        </a:rPr>
                        <a:t>lunes   02 de febrero de 2026 </a:t>
                      </a:r>
                      <a:endParaRPr lang="es-MX" sz="11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200" b="1" kern="100">
                          <a:solidFill>
                            <a:srgbClr val="2E74B5"/>
                          </a:solidFill>
                          <a:effectLst/>
                          <a:latin typeface="Aptos" panose="020B0004020202020204" pitchFamily="34" charset="0"/>
                          <a:ea typeface="Calibri" panose="020F0502020204030204" pitchFamily="34" charset="0"/>
                          <a:cs typeface="Times New Roman" panose="02020603050405020304" pitchFamily="18" charset="0"/>
                        </a:rPr>
                        <a:t>         Subtema:   </a:t>
                      </a:r>
                      <a:r>
                        <a:rPr lang="es-MX" sz="1200" b="1" kern="100">
                          <a:effectLst/>
                          <a:latin typeface="Aptos" panose="020B0004020202020204" pitchFamily="34" charset="0"/>
                          <a:ea typeface="Calibri" panose="020F0502020204030204" pitchFamily="34" charset="0"/>
                          <a:cs typeface="Times New Roman" panose="02020603050405020304" pitchFamily="18" charset="0"/>
                        </a:rPr>
                        <a:t>El maíz en mi comunidad</a:t>
                      </a:r>
                      <a:endParaRPr lang="es-MX" sz="11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15000"/>
                        </a:lnSpc>
                        <a:spcAft>
                          <a:spcPts val="1000"/>
                        </a:spcAft>
                        <a:buNone/>
                      </a:pPr>
                      <a:r>
                        <a:rPr lang="es-MX" sz="1200" b="1" kern="100">
                          <a:solidFill>
                            <a:srgbClr val="2E74B5"/>
                          </a:solidFill>
                          <a:effectLst/>
                          <a:latin typeface="Calibri" panose="020F0502020204030204" pitchFamily="34" charset="0"/>
                          <a:ea typeface="Calibri" panose="020F0502020204030204" pitchFamily="34" charset="0"/>
                          <a:cs typeface="Times New Roman" panose="02020603050405020304" pitchFamily="18" charset="0"/>
                        </a:rPr>
                        <a:t>  Actividad:</a:t>
                      </a:r>
                      <a:r>
                        <a:rPr lang="es-MX" sz="1200" b="1" kern="100">
                          <a:effectLst/>
                          <a:latin typeface="Calibri" panose="020F0502020204030204" pitchFamily="34" charset="0"/>
                          <a:ea typeface="Calibri" panose="020F0502020204030204" pitchFamily="34" charset="0"/>
                          <a:cs typeface="Times New Roman" panose="02020603050405020304" pitchFamily="18" charset="0"/>
                        </a:rPr>
                        <a:t>    ¿Qué sabemos del maíz?</a:t>
                      </a:r>
                      <a:endParaRPr lang="es-MX"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s-MX"/>
                    </a:p>
                  </a:txBody>
                  <a:tcPr/>
                </a:tc>
                <a:tc hMerge="1">
                  <a:txBody>
                    <a:bodyPr/>
                    <a:lstStyle/>
                    <a:p>
                      <a:endParaRPr lang="es-MX"/>
                    </a:p>
                  </a:txBody>
                  <a:tcPr/>
                </a:tc>
                <a:extLst>
                  <a:ext uri="{0D108BD9-81ED-4DB2-BD59-A6C34878D82A}">
                    <a16:rowId xmlns:a16="http://schemas.microsoft.com/office/drawing/2014/main" val="2989880470"/>
                  </a:ext>
                </a:extLst>
              </a:tr>
              <a:tr h="0">
                <a:tc>
                  <a:txBody>
                    <a:bodyPr/>
                    <a:lstStyle/>
                    <a:p>
                      <a:pPr>
                        <a:lnSpc>
                          <a:spcPct val="107000"/>
                        </a:lnSpc>
                        <a:spcAft>
                          <a:spcPts val="800"/>
                        </a:spcAft>
                        <a:buNone/>
                      </a:pPr>
                      <a:r>
                        <a:rPr lang="es-MX" sz="1400" b="1" kern="100">
                          <a:effectLst/>
                          <a:latin typeface="Aptos" panose="020B0004020202020204" pitchFamily="34" charset="0"/>
                          <a:ea typeface="Calibri" panose="020F0502020204030204" pitchFamily="34" charset="0"/>
                          <a:cs typeface="Times New Roman" panose="02020603050405020304" pitchFamily="18" charset="0"/>
                        </a:rPr>
                        <a:t>Momento</a:t>
                      </a:r>
                      <a:endParaRPr lang="es-MX"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s-MX" sz="1400" b="1" kern="100">
                          <a:effectLst/>
                          <a:latin typeface="Aptos" panose="020B0004020202020204" pitchFamily="34" charset="0"/>
                          <a:ea typeface="Calibri" panose="020F0502020204030204" pitchFamily="34" charset="0"/>
                          <a:cs typeface="Times New Roman" panose="02020603050405020304" pitchFamily="18" charset="0"/>
                        </a:rPr>
                        <a:t>                                                               Actividades</a:t>
                      </a:r>
                      <a:endParaRPr lang="es-MX"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s-MX" sz="1400" b="1" kern="100">
                          <a:effectLst/>
                          <a:latin typeface="Aptos" panose="020B0004020202020204" pitchFamily="34" charset="0"/>
                          <a:ea typeface="Calibri" panose="020F0502020204030204" pitchFamily="34" charset="0"/>
                          <a:cs typeface="Times New Roman" panose="02020603050405020304" pitchFamily="18" charset="0"/>
                        </a:rPr>
                        <a:t>recursos</a:t>
                      </a:r>
                      <a:endParaRPr lang="es-MX"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27075067"/>
                  </a:ext>
                </a:extLst>
              </a:tr>
              <a:tr h="0">
                <a:tc>
                  <a:txBody>
                    <a:bodyPr/>
                    <a:lstStyle/>
                    <a:p>
                      <a:pPr>
                        <a:lnSpc>
                          <a:spcPct val="107000"/>
                        </a:lnSpc>
                        <a:spcAft>
                          <a:spcPts val="800"/>
                        </a:spcAft>
                        <a:buNone/>
                      </a:pPr>
                      <a:r>
                        <a:rPr lang="es-MX" sz="1200" kern="100">
                          <a:effectLst/>
                          <a:latin typeface="Aptos" panose="020B0004020202020204" pitchFamily="34" charset="0"/>
                          <a:ea typeface="Calibri" panose="020F0502020204030204" pitchFamily="34" charset="0"/>
                          <a:cs typeface="Times New Roman" panose="02020603050405020304" pitchFamily="18" charset="0"/>
                        </a:rPr>
                        <a:t> </a:t>
                      </a:r>
                      <a:endParaRPr lang="es-MX"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28600">
                        <a:lnSpc>
                          <a:spcPct val="115000"/>
                        </a:lnSpc>
                        <a:spcAft>
                          <a:spcPts val="1000"/>
                        </a:spcAft>
                        <a:buNone/>
                      </a:pPr>
                      <a:r>
                        <a:rPr lang="es-MX" sz="1000" kern="100">
                          <a:effectLst/>
                          <a:latin typeface="Aptos" panose="020B0004020202020204" pitchFamily="34" charset="0"/>
                          <a:ea typeface="Calibri" panose="020F0502020204030204" pitchFamily="34" charset="0"/>
                          <a:cs typeface="Times New Roman" panose="02020603050405020304" pitchFamily="18" charset="0"/>
                        </a:rPr>
                        <a:t>SUSPENSIÓN DE ACTIVIDADES</a:t>
                      </a:r>
                      <a:endParaRPr lang="es-MX"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s-MX" sz="1200" kern="100">
                          <a:effectLst/>
                          <a:latin typeface="Aptos" panose="020B0004020202020204" pitchFamily="34" charset="0"/>
                          <a:ea typeface="Calibri" panose="020F0502020204030204" pitchFamily="34" charset="0"/>
                          <a:cs typeface="Times New Roman" panose="02020603050405020304" pitchFamily="18" charset="0"/>
                        </a:rPr>
                        <a:t> </a:t>
                      </a:r>
                      <a:endParaRPr lang="es-MX" sz="11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s-MX" sz="1200" kern="100">
                          <a:effectLst/>
                          <a:latin typeface="Aptos" panose="020B0004020202020204" pitchFamily="34" charset="0"/>
                          <a:ea typeface="Calibri" panose="020F0502020204030204" pitchFamily="34" charset="0"/>
                          <a:cs typeface="Times New Roman" panose="02020603050405020304" pitchFamily="18" charset="0"/>
                        </a:rPr>
                        <a:t> </a:t>
                      </a:r>
                      <a:endParaRPr lang="es-MX"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06254080"/>
                  </a:ext>
                </a:extLst>
              </a:tr>
              <a:tr h="0">
                <a:tc>
                  <a:txBody>
                    <a:bodyPr/>
                    <a:lstStyle/>
                    <a:p>
                      <a:pPr>
                        <a:lnSpc>
                          <a:spcPct val="107000"/>
                        </a:lnSpc>
                        <a:spcAft>
                          <a:spcPts val="800"/>
                        </a:spcAft>
                        <a:buNone/>
                      </a:pPr>
                      <a:r>
                        <a:rPr lang="es-MX" sz="1100" kern="100">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s-MX" sz="1100" kern="100">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s-MX" sz="1100" kern="100" dirty="0">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41720610"/>
                  </a:ext>
                </a:extLst>
              </a:tr>
            </a:tbl>
          </a:graphicData>
        </a:graphic>
      </p:graphicFrame>
    </p:spTree>
    <p:extLst>
      <p:ext uri="{BB962C8B-B14F-4D97-AF65-F5344CB8AC3E}">
        <p14:creationId xmlns:p14="http://schemas.microsoft.com/office/powerpoint/2010/main" val="27275563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1CF47-527A-462A-4165-C4A793F3C583}"/>
            </a:ext>
          </a:extLst>
        </p:cNvPr>
        <p:cNvGrpSpPr/>
        <p:nvPr/>
      </p:nvGrpSpPr>
      <p:grpSpPr>
        <a:xfrm>
          <a:off x="0" y="0"/>
          <a:ext cx="0" cy="0"/>
          <a:chOff x="0" y="0"/>
          <a:chExt cx="0" cy="0"/>
        </a:xfrm>
      </p:grpSpPr>
      <p:graphicFrame>
        <p:nvGraphicFramePr>
          <p:cNvPr id="5" name="Tabla 4">
            <a:extLst>
              <a:ext uri="{FF2B5EF4-FFF2-40B4-BE49-F238E27FC236}">
                <a16:creationId xmlns:a16="http://schemas.microsoft.com/office/drawing/2014/main" id="{1692916F-251C-A43D-0373-9A239C669C3D}"/>
              </a:ext>
            </a:extLst>
          </p:cNvPr>
          <p:cNvGraphicFramePr>
            <a:graphicFrameLocks noGrp="1"/>
          </p:cNvGraphicFramePr>
          <p:nvPr>
            <p:extLst>
              <p:ext uri="{D42A27DB-BD31-4B8C-83A1-F6EECF244321}">
                <p14:modId xmlns:p14="http://schemas.microsoft.com/office/powerpoint/2010/main" val="3683096509"/>
              </p:ext>
            </p:extLst>
          </p:nvPr>
        </p:nvGraphicFramePr>
        <p:xfrm>
          <a:off x="152400" y="562517"/>
          <a:ext cx="11831782" cy="5414074"/>
        </p:xfrm>
        <a:graphic>
          <a:graphicData uri="http://schemas.openxmlformats.org/drawingml/2006/table">
            <a:tbl>
              <a:tblPr firstRow="1" firstCol="1" bandRow="1"/>
              <a:tblGrid>
                <a:gridCol w="2555167">
                  <a:extLst>
                    <a:ext uri="{9D8B030D-6E8A-4147-A177-3AD203B41FA5}">
                      <a16:colId xmlns:a16="http://schemas.microsoft.com/office/drawing/2014/main" val="3237199336"/>
                    </a:ext>
                  </a:extLst>
                </a:gridCol>
                <a:gridCol w="7801980">
                  <a:extLst>
                    <a:ext uri="{9D8B030D-6E8A-4147-A177-3AD203B41FA5}">
                      <a16:colId xmlns:a16="http://schemas.microsoft.com/office/drawing/2014/main" val="2948414557"/>
                    </a:ext>
                  </a:extLst>
                </a:gridCol>
                <a:gridCol w="1474635">
                  <a:extLst>
                    <a:ext uri="{9D8B030D-6E8A-4147-A177-3AD203B41FA5}">
                      <a16:colId xmlns:a16="http://schemas.microsoft.com/office/drawing/2014/main" val="1982380232"/>
                    </a:ext>
                  </a:extLst>
                </a:gridCol>
              </a:tblGrid>
              <a:tr h="0">
                <a:tc gridSpan="3">
                  <a:txBody>
                    <a:bodyPr/>
                    <a:lstStyle/>
                    <a:p>
                      <a:pPr algn="l">
                        <a:lnSpc>
                          <a:spcPct val="107000"/>
                        </a:lnSpc>
                        <a:spcAft>
                          <a:spcPts val="800"/>
                        </a:spcAft>
                        <a:buNone/>
                      </a:pPr>
                      <a:r>
                        <a:rPr lang="es-MX" sz="1200" b="0" kern="100" dirty="0">
                          <a:solidFill>
                            <a:srgbClr val="2E74B5"/>
                          </a:solidFill>
                          <a:effectLst/>
                          <a:latin typeface="Aptos" panose="020B0004020202020204" pitchFamily="34" charset="0"/>
                          <a:ea typeface="Calibri" panose="020F0502020204030204" pitchFamily="34" charset="0"/>
                          <a:cs typeface="Times New Roman" panose="02020603050405020304" pitchFamily="18" charset="0"/>
                        </a:rPr>
                        <a:t>                                                                                                                                                       Sesión:            </a:t>
                      </a:r>
                      <a:r>
                        <a:rPr lang="es-MX" sz="1200" b="0" kern="100" dirty="0">
                          <a:solidFill>
                            <a:srgbClr val="000000"/>
                          </a:solidFill>
                          <a:effectLst/>
                          <a:latin typeface="Aptos" panose="020B0004020202020204" pitchFamily="34" charset="0"/>
                          <a:ea typeface="Calibri" panose="020F0502020204030204" pitchFamily="34" charset="0"/>
                          <a:cs typeface="Times New Roman" panose="02020603050405020304" pitchFamily="18" charset="0"/>
                        </a:rPr>
                        <a:t>15</a:t>
                      </a:r>
                      <a:r>
                        <a:rPr lang="es-MX" sz="1200" b="0" kern="100" dirty="0">
                          <a:solidFill>
                            <a:srgbClr val="2E74B5"/>
                          </a:solidFill>
                          <a:effectLst/>
                          <a:latin typeface="Aptos" panose="020B0004020202020204" pitchFamily="34" charset="0"/>
                          <a:ea typeface="Calibri" panose="020F0502020204030204" pitchFamily="34" charset="0"/>
                          <a:cs typeface="Times New Roman" panose="02020603050405020304" pitchFamily="18" charset="0"/>
                        </a:rPr>
                        <a:t>                     </a:t>
                      </a:r>
                      <a:endParaRPr lang="es-MX" sz="1100" b="0" kern="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200" b="0" kern="100" dirty="0">
                          <a:solidFill>
                            <a:srgbClr val="2E74B5"/>
                          </a:solidFill>
                          <a:effectLst/>
                          <a:latin typeface="Aptos" panose="020B0004020202020204" pitchFamily="34" charset="0"/>
                          <a:ea typeface="Calibri" panose="020F0502020204030204" pitchFamily="34" charset="0"/>
                          <a:cs typeface="Times New Roman" panose="02020603050405020304" pitchFamily="18" charset="0"/>
                        </a:rPr>
                        <a:t>                  Fecha</a:t>
                      </a:r>
                      <a:r>
                        <a:rPr lang="es-MX" sz="1200" b="0" kern="100" dirty="0">
                          <a:solidFill>
                            <a:srgbClr val="000000"/>
                          </a:solidFill>
                          <a:effectLst/>
                          <a:latin typeface="Aptos" panose="020B0004020202020204" pitchFamily="34" charset="0"/>
                          <a:ea typeface="Calibri" panose="020F0502020204030204" pitchFamily="34" charset="0"/>
                          <a:cs typeface="Times New Roman" panose="02020603050405020304" pitchFamily="18" charset="0"/>
                        </a:rPr>
                        <a:t>:    Martes  03 de febrero   de 2026</a:t>
                      </a:r>
                      <a:endParaRPr lang="es-MX" sz="1100" b="0" kern="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200" b="0" kern="100" dirty="0">
                          <a:solidFill>
                            <a:srgbClr val="2E74B5"/>
                          </a:solidFill>
                          <a:effectLst/>
                          <a:latin typeface="Aptos" panose="020B0004020202020204" pitchFamily="34" charset="0"/>
                          <a:ea typeface="Calibri" panose="020F0502020204030204" pitchFamily="34" charset="0"/>
                          <a:cs typeface="Times New Roman" panose="02020603050405020304" pitchFamily="18" charset="0"/>
                        </a:rPr>
                        <a:t>   Subtema:   </a:t>
                      </a:r>
                      <a:r>
                        <a:rPr lang="es-MX" sz="1200" b="0" kern="100" dirty="0">
                          <a:effectLst/>
                          <a:latin typeface="Aptos" panose="020B0004020202020204" pitchFamily="34" charset="0"/>
                          <a:ea typeface="Calibri" panose="020F0502020204030204" pitchFamily="34" charset="0"/>
                          <a:cs typeface="Times New Roman" panose="02020603050405020304" pitchFamily="18" charset="0"/>
                        </a:rPr>
                        <a:t>El maíz en mi comunidad</a:t>
                      </a:r>
                      <a:endParaRPr lang="es-MX" sz="1100" b="0" kern="100" dirty="0">
                        <a:effectLst/>
                        <a:latin typeface="Calibri" panose="020F0502020204030204" pitchFamily="34" charset="0"/>
                        <a:ea typeface="Calibri" panose="020F0502020204030204" pitchFamily="34" charset="0"/>
                        <a:cs typeface="Times New Roman" panose="02020603050405020304" pitchFamily="18" charset="0"/>
                      </a:endParaRPr>
                    </a:p>
                    <a:p>
                      <a:pPr algn="l">
                        <a:lnSpc>
                          <a:spcPct val="107000"/>
                        </a:lnSpc>
                        <a:spcAft>
                          <a:spcPts val="800"/>
                        </a:spcAft>
                        <a:buNone/>
                      </a:pPr>
                      <a:r>
                        <a:rPr lang="es-MX" sz="1200" b="0" kern="100" dirty="0">
                          <a:solidFill>
                            <a:srgbClr val="2E74B5"/>
                          </a:solidFill>
                          <a:effectLst/>
                          <a:latin typeface="Calibri" panose="020F0502020204030204" pitchFamily="34" charset="0"/>
                          <a:ea typeface="Calibri" panose="020F0502020204030204" pitchFamily="34" charset="0"/>
                          <a:cs typeface="Times New Roman" panose="02020603050405020304" pitchFamily="18" charset="0"/>
                        </a:rPr>
                        <a:t>                                                                                                                                      Actividad:</a:t>
                      </a:r>
                      <a:r>
                        <a:rPr lang="es-MX" sz="1200" b="0" kern="100" dirty="0">
                          <a:effectLst/>
                          <a:latin typeface="Calibri" panose="020F0502020204030204" pitchFamily="34" charset="0"/>
                          <a:ea typeface="Calibri" panose="020F0502020204030204" pitchFamily="34" charset="0"/>
                          <a:cs typeface="Times New Roman" panose="02020603050405020304" pitchFamily="18" charset="0"/>
                        </a:rPr>
                        <a:t> </a:t>
                      </a:r>
                      <a:r>
                        <a:rPr lang="es-MX" sz="1100" b="0" kern="100" dirty="0">
                          <a:effectLst/>
                          <a:latin typeface="Calibri" panose="020F0502020204030204" pitchFamily="34" charset="0"/>
                          <a:ea typeface="Calibri" panose="020F0502020204030204" pitchFamily="34" charset="0"/>
                          <a:cs typeface="Times New Roman" panose="02020603050405020304" pitchFamily="18" charset="0"/>
                        </a:rPr>
                        <a:t> Visita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s-MX"/>
                    </a:p>
                  </a:txBody>
                  <a:tcPr/>
                </a:tc>
                <a:tc hMerge="1">
                  <a:txBody>
                    <a:bodyPr/>
                    <a:lstStyle/>
                    <a:p>
                      <a:endParaRPr lang="es-MX"/>
                    </a:p>
                  </a:txBody>
                  <a:tcPr/>
                </a:tc>
                <a:extLst>
                  <a:ext uri="{0D108BD9-81ED-4DB2-BD59-A6C34878D82A}">
                    <a16:rowId xmlns:a16="http://schemas.microsoft.com/office/drawing/2014/main" val="1274516075"/>
                  </a:ext>
                </a:extLst>
              </a:tr>
              <a:tr h="0">
                <a:tc>
                  <a:txBody>
                    <a:bodyPr/>
                    <a:lstStyle/>
                    <a:p>
                      <a:pPr algn="l">
                        <a:lnSpc>
                          <a:spcPct val="107000"/>
                        </a:lnSpc>
                        <a:spcAft>
                          <a:spcPts val="800"/>
                        </a:spcAft>
                        <a:buNone/>
                      </a:pPr>
                      <a:r>
                        <a:rPr lang="es-MX" sz="1200" b="1" kern="100">
                          <a:effectLst/>
                          <a:latin typeface="+mn-lt"/>
                          <a:ea typeface="Calibri" panose="020F0502020204030204" pitchFamily="34" charset="0"/>
                          <a:cs typeface="Times New Roman" panose="02020603050405020304" pitchFamily="18" charset="0"/>
                        </a:rPr>
                        <a:t>Momento</a:t>
                      </a:r>
                      <a:endParaRPr lang="es-MX" sz="1200" kern="100">
                        <a:effectLst/>
                        <a:latin typeface="+mn-lt"/>
                        <a:ea typeface="Calibri" panose="020F0502020204030204" pitchFamily="34" charset="0"/>
                        <a:cs typeface="Times New Roman" panose="02020603050405020304" pitchFamily="18" charset="0"/>
                      </a:endParaRPr>
                    </a:p>
                  </a:txBody>
                  <a:tcPr marL="50521" marR="5052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1200" b="1" kern="100" dirty="0">
                          <a:effectLst/>
                          <a:latin typeface="+mn-lt"/>
                          <a:ea typeface="Calibri" panose="020F0502020204030204" pitchFamily="34" charset="0"/>
                          <a:cs typeface="Times New Roman" panose="02020603050405020304" pitchFamily="18" charset="0"/>
                        </a:rPr>
                        <a:t>                                                               Actividades</a:t>
                      </a:r>
                      <a:endParaRPr lang="es-MX" sz="1200" kern="100" dirty="0">
                        <a:effectLst/>
                        <a:latin typeface="+mn-lt"/>
                        <a:ea typeface="Calibri" panose="020F0502020204030204" pitchFamily="34" charset="0"/>
                        <a:cs typeface="Times New Roman" panose="02020603050405020304" pitchFamily="18" charset="0"/>
                      </a:endParaRPr>
                    </a:p>
                  </a:txBody>
                  <a:tcPr marL="50521" marR="5052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1200" b="1" kern="100" dirty="0">
                          <a:effectLst/>
                          <a:latin typeface="+mn-lt"/>
                          <a:ea typeface="Calibri" panose="020F0502020204030204" pitchFamily="34" charset="0"/>
                          <a:cs typeface="Times New Roman" panose="02020603050405020304" pitchFamily="18" charset="0"/>
                        </a:rPr>
                        <a:t>recursos</a:t>
                      </a:r>
                      <a:endParaRPr lang="es-MX" sz="1200" kern="100" dirty="0">
                        <a:effectLst/>
                        <a:latin typeface="+mn-lt"/>
                        <a:ea typeface="Calibri" panose="020F0502020204030204" pitchFamily="34" charset="0"/>
                        <a:cs typeface="Times New Roman" panose="02020603050405020304" pitchFamily="18" charset="0"/>
                      </a:endParaRPr>
                    </a:p>
                  </a:txBody>
                  <a:tcPr marL="50521" marR="5052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46063770"/>
                  </a:ext>
                </a:extLst>
              </a:tr>
              <a:tr h="0">
                <a:tc>
                  <a:txBody>
                    <a:bodyPr/>
                    <a:lstStyle/>
                    <a:p>
                      <a:pPr algn="l">
                        <a:lnSpc>
                          <a:spcPct val="107000"/>
                        </a:lnSpc>
                        <a:spcAft>
                          <a:spcPts val="800"/>
                        </a:spcAft>
                        <a:buNone/>
                      </a:pPr>
                      <a:r>
                        <a:rPr lang="es-MX" sz="1100" b="1" kern="100" dirty="0">
                          <a:effectLst/>
                          <a:latin typeface="Calibri" panose="020F0502020204030204" pitchFamily="34" charset="0"/>
                          <a:ea typeface="Calibri" panose="020F0502020204030204" pitchFamily="34" charset="0"/>
                          <a:cs typeface="Times New Roman" panose="02020603050405020304" pitchFamily="18" charset="0"/>
                        </a:rPr>
                        <a:t> </a:t>
                      </a:r>
                      <a:endParaRPr lang="es-MX" sz="1100" kern="100" dirty="0">
                        <a:effectLst/>
                        <a:latin typeface="Calibri" panose="020F0502020204030204" pitchFamily="34" charset="0"/>
                        <a:ea typeface="Calibri" panose="020F0502020204030204" pitchFamily="34" charset="0"/>
                        <a:cs typeface="Times New Roman" panose="02020603050405020304" pitchFamily="18" charset="0"/>
                      </a:endParaRPr>
                    </a:p>
                    <a:p>
                      <a:pPr algn="l">
                        <a:lnSpc>
                          <a:spcPct val="107000"/>
                        </a:lnSpc>
                        <a:spcAft>
                          <a:spcPts val="800"/>
                        </a:spcAft>
                        <a:buNone/>
                      </a:pPr>
                      <a:r>
                        <a:rPr lang="es-MX" sz="1100" b="1" kern="100" dirty="0">
                          <a:effectLst/>
                          <a:latin typeface="Calibri" panose="020F0502020204030204" pitchFamily="34" charset="0"/>
                          <a:ea typeface="Calibri" panose="020F0502020204030204" pitchFamily="34" charset="0"/>
                          <a:cs typeface="Times New Roman" panose="02020603050405020304" pitchFamily="18" charset="0"/>
                        </a:rPr>
                        <a:t> </a:t>
                      </a:r>
                      <a:endParaRPr lang="es-MX" sz="1100" kern="100" dirty="0">
                        <a:effectLst/>
                        <a:latin typeface="Calibri" panose="020F0502020204030204" pitchFamily="34" charset="0"/>
                        <a:ea typeface="Calibri" panose="020F0502020204030204" pitchFamily="34" charset="0"/>
                        <a:cs typeface="Times New Roman" panose="02020603050405020304" pitchFamily="18" charset="0"/>
                      </a:endParaRPr>
                    </a:p>
                    <a:p>
                      <a:pPr algn="l">
                        <a:lnSpc>
                          <a:spcPct val="107000"/>
                        </a:lnSpc>
                        <a:spcAft>
                          <a:spcPts val="800"/>
                        </a:spcAft>
                        <a:buNone/>
                      </a:pPr>
                      <a:r>
                        <a:rPr lang="es-MX" sz="1100" b="1" kern="100" dirty="0">
                          <a:effectLst/>
                          <a:latin typeface="Calibri" panose="020F0502020204030204" pitchFamily="34" charset="0"/>
                          <a:ea typeface="Calibri" panose="020F0502020204030204" pitchFamily="34" charset="0"/>
                          <a:cs typeface="Times New Roman" panose="02020603050405020304" pitchFamily="18" charset="0"/>
                        </a:rPr>
                        <a:t> </a:t>
                      </a:r>
                      <a:endParaRPr lang="es-MX" sz="1100" kern="100" dirty="0">
                        <a:effectLst/>
                        <a:latin typeface="Calibri" panose="020F0502020204030204" pitchFamily="34" charset="0"/>
                        <a:ea typeface="Calibri" panose="020F0502020204030204" pitchFamily="34" charset="0"/>
                        <a:cs typeface="Times New Roman" panose="02020603050405020304" pitchFamily="18" charset="0"/>
                      </a:endParaRPr>
                    </a:p>
                    <a:p>
                      <a:pPr algn="l">
                        <a:lnSpc>
                          <a:spcPct val="107000"/>
                        </a:lnSpc>
                        <a:spcAft>
                          <a:spcPts val="800"/>
                        </a:spcAft>
                        <a:buNone/>
                      </a:pPr>
                      <a:r>
                        <a:rPr lang="es-MX" sz="1100" kern="100" dirty="0">
                          <a:effectLst/>
                          <a:latin typeface="Calibri" panose="020F0502020204030204" pitchFamily="34" charset="0"/>
                          <a:ea typeface="Calibri" panose="020F0502020204030204" pitchFamily="34" charset="0"/>
                          <a:cs typeface="Times New Roman" panose="02020603050405020304" pitchFamily="18" charset="0"/>
                        </a:rPr>
                        <a:t> </a:t>
                      </a:r>
                    </a:p>
                    <a:p>
                      <a:pPr algn="l">
                        <a:lnSpc>
                          <a:spcPct val="107000"/>
                        </a:lnSpc>
                        <a:spcAft>
                          <a:spcPts val="800"/>
                        </a:spcAft>
                        <a:buNone/>
                      </a:pPr>
                      <a:r>
                        <a:rPr lang="es-MX" sz="1100" kern="100" dirty="0">
                          <a:effectLst/>
                          <a:latin typeface="Calibri" panose="020F0502020204030204" pitchFamily="34" charset="0"/>
                          <a:ea typeface="Calibri" panose="020F0502020204030204" pitchFamily="34" charset="0"/>
                          <a:cs typeface="Times New Roman" panose="02020603050405020304" pitchFamily="18" charset="0"/>
                        </a:rPr>
                        <a:t>    Comunicar y transferir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lvl="0" indent="0" algn="l">
                        <a:lnSpc>
                          <a:spcPct val="115000"/>
                        </a:lnSpc>
                        <a:spcAft>
                          <a:spcPts val="1000"/>
                        </a:spcAft>
                        <a:buFont typeface="Wingdings" panose="05000000000000000000" pitchFamily="2" charset="2"/>
                        <a:buNone/>
                      </a:pPr>
                      <a:r>
                        <a:rPr lang="es-MX" sz="1100" kern="100" dirty="0">
                          <a:effectLst/>
                          <a:latin typeface="Calibri" panose="020F0502020204030204" pitchFamily="34" charset="0"/>
                          <a:ea typeface="Calibri" panose="020F0502020204030204" pitchFamily="34" charset="0"/>
                          <a:cs typeface="Times New Roman" panose="02020603050405020304" pitchFamily="18" charset="0"/>
                        </a:rPr>
                        <a:t> </a:t>
                      </a:r>
                    </a:p>
                    <a:p>
                      <a:pPr marL="171450" lvl="0" indent="-171450" algn="l">
                        <a:lnSpc>
                          <a:spcPct val="115000"/>
                        </a:lnSpc>
                        <a:spcAft>
                          <a:spcPts val="1000"/>
                        </a:spcAft>
                        <a:buFont typeface="Wingdings" panose="05000000000000000000" pitchFamily="2" charset="2"/>
                        <a:buChar char="Ø"/>
                      </a:pPr>
                      <a:r>
                        <a:rPr lang="es-MX" sz="1100" kern="100" dirty="0">
                          <a:effectLst/>
                          <a:latin typeface="Calibri" panose="020F0502020204030204" pitchFamily="34" charset="0"/>
                          <a:ea typeface="Calibri" panose="020F0502020204030204" pitchFamily="34" charset="0"/>
                          <a:cs typeface="Times New Roman" panose="02020603050405020304" pitchFamily="18" charset="0"/>
                        </a:rPr>
                        <a:t> </a:t>
                      </a:r>
                      <a:r>
                        <a:rPr lang="es-MX" sz="1100" kern="100" dirty="0">
                          <a:effectLst/>
                          <a:latin typeface="+mn-lt"/>
                          <a:ea typeface="Calibri" panose="020F0502020204030204" pitchFamily="34" charset="0"/>
                          <a:cs typeface="Times New Roman" panose="02020603050405020304" pitchFamily="18" charset="0"/>
                        </a:rPr>
                        <a:t>Dialogara con los alumnos que el día de hoy asistirá una persona dela comunidad a darnos un a platica en su lengua materna a cerca de la siembra del maíz , sus elemento y el uso</a:t>
                      </a:r>
                    </a:p>
                    <a:p>
                      <a:pPr marL="171450" lvl="0" indent="-171450" algn="l">
                        <a:lnSpc>
                          <a:spcPct val="115000"/>
                        </a:lnSpc>
                        <a:spcAft>
                          <a:spcPts val="1000"/>
                        </a:spcAft>
                        <a:buFont typeface="Wingdings" panose="05000000000000000000" pitchFamily="2" charset="2"/>
                        <a:buChar char="Ø"/>
                      </a:pPr>
                      <a:r>
                        <a:rPr lang="es-MX" sz="1100" kern="100" dirty="0">
                          <a:effectLst/>
                          <a:latin typeface="+mn-lt"/>
                          <a:ea typeface="Calibri" panose="020F0502020204030204" pitchFamily="34" charset="0"/>
                          <a:cs typeface="Times New Roman" panose="02020603050405020304" pitchFamily="18" charset="0"/>
                        </a:rPr>
                        <a:t>Recibir a la señora y presentarla al grupo ,los alumnos muy atentos escuchas la presentación en lengua náhuatl</a:t>
                      </a:r>
                    </a:p>
                    <a:p>
                      <a:pPr marL="171450" lvl="0" indent="-171450" algn="l">
                        <a:lnSpc>
                          <a:spcPct val="115000"/>
                        </a:lnSpc>
                        <a:spcAft>
                          <a:spcPts val="1000"/>
                        </a:spcAft>
                        <a:buFont typeface="Wingdings" panose="05000000000000000000" pitchFamily="2" charset="2"/>
                        <a:buChar char="Ø"/>
                      </a:pPr>
                      <a:r>
                        <a:rPr lang="es-MX" sz="1100" kern="100" dirty="0">
                          <a:effectLst/>
                          <a:latin typeface="+mn-lt"/>
                          <a:ea typeface="Calibri" panose="020F0502020204030204" pitchFamily="34" charset="0"/>
                          <a:cs typeface="Times New Roman" panose="02020603050405020304" pitchFamily="18" charset="0"/>
                        </a:rPr>
                        <a:t>Explica al grupo como ella siembra , cosecha y usa el maíz en su casa y comunidad con su familia</a:t>
                      </a:r>
                    </a:p>
                    <a:p>
                      <a:pPr marL="171450" lvl="0" indent="-171450" algn="l">
                        <a:lnSpc>
                          <a:spcPct val="115000"/>
                        </a:lnSpc>
                        <a:spcAft>
                          <a:spcPts val="1000"/>
                        </a:spcAft>
                        <a:buFont typeface="Wingdings" panose="05000000000000000000" pitchFamily="2" charset="2"/>
                        <a:buChar char="Ø"/>
                      </a:pPr>
                      <a:r>
                        <a:rPr lang="es-MX" sz="1100" kern="100" dirty="0">
                          <a:effectLst/>
                          <a:latin typeface="+mn-lt"/>
                          <a:ea typeface="Calibri" panose="020F0502020204030204" pitchFamily="34" charset="0"/>
                          <a:cs typeface="Times New Roman" panose="02020603050405020304" pitchFamily="18" charset="0"/>
                        </a:rPr>
                        <a:t>Realiza una demostración breve de hacer tortillas, para eso presenta a los alumnos sus materiales que utilizara en náhuatl , los alumnos repetirán el nombre de la palabras</a:t>
                      </a:r>
                    </a:p>
                    <a:p>
                      <a:pPr marL="171450" lvl="0" indent="-171450" algn="l">
                        <a:lnSpc>
                          <a:spcPct val="115000"/>
                        </a:lnSpc>
                        <a:spcAft>
                          <a:spcPts val="1000"/>
                        </a:spcAft>
                        <a:buFont typeface="Wingdings" panose="05000000000000000000" pitchFamily="2" charset="2"/>
                        <a:buChar char="Ø"/>
                      </a:pPr>
                      <a:r>
                        <a:rPr lang="es-MX" sz="1100" kern="100" dirty="0">
                          <a:effectLst/>
                          <a:latin typeface="+mn-lt"/>
                          <a:ea typeface="Calibri" panose="020F0502020204030204" pitchFamily="34" charset="0"/>
                          <a:cs typeface="Times New Roman" panose="02020603050405020304" pitchFamily="18" charset="0"/>
                        </a:rPr>
                        <a:t>En el patio los alumnos observan como prepara sus materiales como es la masa, el comal, metate, la lumbre  e inicia a hacer tortillas </a:t>
                      </a:r>
                    </a:p>
                    <a:p>
                      <a:pPr marL="171450" lvl="0" indent="-171450" algn="l">
                        <a:lnSpc>
                          <a:spcPct val="115000"/>
                        </a:lnSpc>
                        <a:spcAft>
                          <a:spcPts val="1000"/>
                        </a:spcAft>
                        <a:buFont typeface="Wingdings" panose="05000000000000000000" pitchFamily="2" charset="2"/>
                        <a:buChar char="Ø"/>
                      </a:pPr>
                      <a:r>
                        <a:rPr lang="es-MX" sz="1100" kern="100" dirty="0">
                          <a:effectLst/>
                          <a:latin typeface="+mn-lt"/>
                          <a:ea typeface="Calibri" panose="020F0502020204030204" pitchFamily="34" charset="0"/>
                          <a:cs typeface="Times New Roman" panose="02020603050405020304" pitchFamily="18" charset="0"/>
                        </a:rPr>
                        <a:t>Invita a los alumnos que con mucho cuidado elaboren su propia tortilla para después en convivencia con el grupo de se una degustación </a:t>
                      </a:r>
                    </a:p>
                    <a:p>
                      <a:pPr marL="171450" lvl="0" indent="-171450" algn="l">
                        <a:lnSpc>
                          <a:spcPct val="115000"/>
                        </a:lnSpc>
                        <a:spcAft>
                          <a:spcPts val="1000"/>
                        </a:spcAft>
                        <a:buFont typeface="Wingdings" panose="05000000000000000000" pitchFamily="2" charset="2"/>
                        <a:buChar char="Ø"/>
                      </a:pPr>
                      <a:r>
                        <a:rPr lang="es-MX" sz="1100" kern="100" dirty="0">
                          <a:effectLst/>
                          <a:latin typeface="+mn-lt"/>
                          <a:ea typeface="Calibri" panose="020F0502020204030204" pitchFamily="34" charset="0"/>
                          <a:cs typeface="Times New Roman" panose="02020603050405020304" pitchFamily="18" charset="0"/>
                        </a:rPr>
                        <a:t>En la libreta de trabajo los alumnos (as) realizaran un dibujo de lo que observaron a cerca de lo que la señora compartió al grupo</a:t>
                      </a:r>
                    </a:p>
                    <a:p>
                      <a:pPr algn="l">
                        <a:lnSpc>
                          <a:spcPct val="107000"/>
                        </a:lnSpc>
                        <a:spcAft>
                          <a:spcPts val="800"/>
                        </a:spcAft>
                        <a:buNone/>
                      </a:pPr>
                      <a:endParaRPr lang="es-MX"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1100" kern="100">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49459081"/>
                  </a:ext>
                </a:extLst>
              </a:tr>
              <a:tr h="0">
                <a:tc>
                  <a:txBody>
                    <a:bodyPr/>
                    <a:lstStyle/>
                    <a:p>
                      <a:pPr algn="l">
                        <a:lnSpc>
                          <a:spcPct val="107000"/>
                        </a:lnSpc>
                        <a:spcAft>
                          <a:spcPts val="800"/>
                        </a:spcAft>
                        <a:buNone/>
                      </a:pPr>
                      <a:r>
                        <a:rPr lang="es-MX" sz="1100" kern="100" dirty="0">
                          <a:effectLst/>
                          <a:latin typeface="Calibri" panose="020F0502020204030204" pitchFamily="34" charset="0"/>
                          <a:ea typeface="Calibri" panose="020F0502020204030204" pitchFamily="34" charset="0"/>
                          <a:cs typeface="Times New Roman" panose="02020603050405020304" pitchFamily="18" charset="0"/>
                        </a:rPr>
                        <a:t> Marcos de oración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1100" kern="100" dirty="0">
                          <a:effectLst/>
                          <a:latin typeface="Calibri" panose="020F0502020204030204" pitchFamily="34" charset="0"/>
                          <a:ea typeface="Calibri" panose="020F0502020204030204" pitchFamily="34" charset="0"/>
                          <a:cs typeface="Times New Roman" panose="02020603050405020304" pitchFamily="18" charset="0"/>
                        </a:rPr>
                        <a:t>El </a:t>
                      </a:r>
                      <a:r>
                        <a:rPr lang="es-MX" sz="1100" kern="100" dirty="0" err="1">
                          <a:effectLst/>
                          <a:latin typeface="Calibri" panose="020F0502020204030204" pitchFamily="34" charset="0"/>
                          <a:ea typeface="Calibri" panose="020F0502020204030204" pitchFamily="34" charset="0"/>
                          <a:cs typeface="Times New Roman" panose="02020603050405020304" pitchFamily="18" charset="0"/>
                        </a:rPr>
                        <a:t>maiz</a:t>
                      </a:r>
                      <a:r>
                        <a:rPr lang="es-MX" sz="1100" kern="100" dirty="0">
                          <a:effectLst/>
                          <a:latin typeface="Calibri" panose="020F0502020204030204" pitchFamily="34" charset="0"/>
                          <a:ea typeface="Calibri" panose="020F0502020204030204" pitchFamily="34" charset="0"/>
                          <a:cs typeface="Times New Roman" panose="02020603050405020304" pitchFamily="18" charset="0"/>
                        </a:rPr>
                        <a:t> es alimento         in </a:t>
                      </a:r>
                      <a:r>
                        <a:rPr lang="es-MX" sz="1100" kern="100" dirty="0" err="1">
                          <a:effectLst/>
                          <a:latin typeface="Calibri" panose="020F0502020204030204" pitchFamily="34" charset="0"/>
                          <a:ea typeface="Calibri" panose="020F0502020204030204" pitchFamily="34" charset="0"/>
                          <a:cs typeface="Times New Roman" panose="02020603050405020304" pitchFamily="18" charset="0"/>
                        </a:rPr>
                        <a:t>taoli</a:t>
                      </a:r>
                      <a:r>
                        <a:rPr lang="es-MX" sz="1100" kern="100" dirty="0">
                          <a:effectLst/>
                          <a:latin typeface="Calibri" panose="020F0502020204030204" pitchFamily="34" charset="0"/>
                          <a:ea typeface="Calibri" panose="020F0502020204030204" pitchFamily="34" charset="0"/>
                          <a:cs typeface="Times New Roman" panose="02020603050405020304" pitchFamily="18" charset="0"/>
                        </a:rPr>
                        <a:t> no </a:t>
                      </a:r>
                      <a:r>
                        <a:rPr lang="es-MX" sz="1100" kern="100" dirty="0" err="1">
                          <a:effectLst/>
                          <a:latin typeface="Calibri" panose="020F0502020204030204" pitchFamily="34" charset="0"/>
                          <a:ea typeface="Calibri" panose="020F0502020204030204" pitchFamily="34" charset="0"/>
                          <a:cs typeface="Times New Roman" panose="02020603050405020304" pitchFamily="18" charset="0"/>
                        </a:rPr>
                        <a:t>tonalcayotl</a:t>
                      </a:r>
                      <a:endParaRPr lang="es-MX" sz="1100" kern="100" dirty="0">
                        <a:effectLst/>
                        <a:latin typeface="Calibri" panose="020F0502020204030204" pitchFamily="34" charset="0"/>
                        <a:ea typeface="Calibri" panose="020F0502020204030204" pitchFamily="34" charset="0"/>
                        <a:cs typeface="Times New Roman" panose="02020603050405020304" pitchFamily="18" charset="0"/>
                      </a:endParaRPr>
                    </a:p>
                    <a:p>
                      <a:pPr algn="l">
                        <a:lnSpc>
                          <a:spcPct val="107000"/>
                        </a:lnSpc>
                        <a:spcAft>
                          <a:spcPts val="800"/>
                        </a:spcAft>
                        <a:buNone/>
                      </a:pPr>
                      <a:r>
                        <a:rPr lang="es-MX" sz="1100" kern="100" dirty="0">
                          <a:effectLst/>
                          <a:latin typeface="Calibri" panose="020F0502020204030204" pitchFamily="34" charset="0"/>
                          <a:ea typeface="Calibri" panose="020F0502020204030204" pitchFamily="34" charset="0"/>
                          <a:cs typeface="Times New Roman" panose="02020603050405020304" pitchFamily="18" charset="0"/>
                        </a:rPr>
                        <a:t>El maíz es blanco     in </a:t>
                      </a:r>
                      <a:r>
                        <a:rPr lang="es-MX" sz="1100" kern="100" dirty="0" err="1">
                          <a:effectLst/>
                          <a:latin typeface="Calibri" panose="020F0502020204030204" pitchFamily="34" charset="0"/>
                          <a:ea typeface="Calibri" panose="020F0502020204030204" pitchFamily="34" charset="0"/>
                          <a:cs typeface="Times New Roman" panose="02020603050405020304" pitchFamily="18" charset="0"/>
                        </a:rPr>
                        <a:t>tlaoli</a:t>
                      </a:r>
                      <a:r>
                        <a:rPr lang="es-MX" sz="1100" kern="100" dirty="0">
                          <a:effectLst/>
                          <a:latin typeface="Calibri" panose="020F0502020204030204" pitchFamily="34" charset="0"/>
                          <a:ea typeface="Calibri" panose="020F0502020204030204" pitchFamily="34" charset="0"/>
                          <a:cs typeface="Times New Roman" panose="02020603050405020304" pitchFamily="18" charset="0"/>
                        </a:rPr>
                        <a:t> </a:t>
                      </a:r>
                      <a:r>
                        <a:rPr lang="es-MX" sz="1100" kern="100" dirty="0" err="1">
                          <a:effectLst/>
                          <a:latin typeface="Calibri" panose="020F0502020204030204" pitchFamily="34" charset="0"/>
                          <a:ea typeface="Calibri" panose="020F0502020204030204" pitchFamily="34" charset="0"/>
                          <a:cs typeface="Times New Roman" panose="02020603050405020304" pitchFamily="18" charset="0"/>
                        </a:rPr>
                        <a:t>iztac</a:t>
                      </a:r>
                      <a:endParaRPr lang="es-MX"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1100" kern="100" dirty="0">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39742699"/>
                  </a:ext>
                </a:extLst>
              </a:tr>
            </a:tbl>
          </a:graphicData>
        </a:graphic>
      </p:graphicFrame>
    </p:spTree>
    <p:extLst>
      <p:ext uri="{BB962C8B-B14F-4D97-AF65-F5344CB8AC3E}">
        <p14:creationId xmlns:p14="http://schemas.microsoft.com/office/powerpoint/2010/main" val="38668327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3FA5C-DCE6-B76E-45F5-4A6D5C0276FD}"/>
            </a:ext>
          </a:extLst>
        </p:cNvPr>
        <p:cNvGrpSpPr/>
        <p:nvPr/>
      </p:nvGrpSpPr>
      <p:grpSpPr>
        <a:xfrm>
          <a:off x="0" y="0"/>
          <a:ext cx="0" cy="0"/>
          <a:chOff x="0" y="0"/>
          <a:chExt cx="0" cy="0"/>
        </a:xfrm>
      </p:grpSpPr>
      <p:graphicFrame>
        <p:nvGraphicFramePr>
          <p:cNvPr id="4" name="Tabla 3">
            <a:extLst>
              <a:ext uri="{FF2B5EF4-FFF2-40B4-BE49-F238E27FC236}">
                <a16:creationId xmlns:a16="http://schemas.microsoft.com/office/drawing/2014/main" id="{5D4C59A9-B329-592D-33AF-586C9579A0A9}"/>
              </a:ext>
            </a:extLst>
          </p:cNvPr>
          <p:cNvGraphicFramePr>
            <a:graphicFrameLocks noGrp="1"/>
          </p:cNvGraphicFramePr>
          <p:nvPr>
            <p:extLst>
              <p:ext uri="{D42A27DB-BD31-4B8C-83A1-F6EECF244321}">
                <p14:modId xmlns:p14="http://schemas.microsoft.com/office/powerpoint/2010/main" val="108734208"/>
              </p:ext>
            </p:extLst>
          </p:nvPr>
        </p:nvGraphicFramePr>
        <p:xfrm>
          <a:off x="272143" y="170528"/>
          <a:ext cx="11647714" cy="5048514"/>
        </p:xfrm>
        <a:graphic>
          <a:graphicData uri="http://schemas.openxmlformats.org/drawingml/2006/table">
            <a:tbl>
              <a:tblPr firstRow="1" firstCol="1" bandRow="1"/>
              <a:tblGrid>
                <a:gridCol w="2282758">
                  <a:extLst>
                    <a:ext uri="{9D8B030D-6E8A-4147-A177-3AD203B41FA5}">
                      <a16:colId xmlns:a16="http://schemas.microsoft.com/office/drawing/2014/main" val="929419601"/>
                    </a:ext>
                  </a:extLst>
                </a:gridCol>
                <a:gridCol w="7876278">
                  <a:extLst>
                    <a:ext uri="{9D8B030D-6E8A-4147-A177-3AD203B41FA5}">
                      <a16:colId xmlns:a16="http://schemas.microsoft.com/office/drawing/2014/main" val="158718909"/>
                    </a:ext>
                  </a:extLst>
                </a:gridCol>
                <a:gridCol w="1488678">
                  <a:extLst>
                    <a:ext uri="{9D8B030D-6E8A-4147-A177-3AD203B41FA5}">
                      <a16:colId xmlns:a16="http://schemas.microsoft.com/office/drawing/2014/main" val="4273430378"/>
                    </a:ext>
                  </a:extLst>
                </a:gridCol>
              </a:tblGrid>
              <a:tr h="1134397">
                <a:tc gridSpan="3">
                  <a:txBody>
                    <a:bodyPr/>
                    <a:lstStyle/>
                    <a:p>
                      <a:pPr algn="ctr">
                        <a:lnSpc>
                          <a:spcPct val="100000"/>
                        </a:lnSpc>
                        <a:spcAft>
                          <a:spcPts val="800"/>
                        </a:spcAft>
                        <a:buNone/>
                      </a:pPr>
                      <a:r>
                        <a:rPr lang="es-MX" sz="1200" b="1" kern="100" dirty="0">
                          <a:solidFill>
                            <a:srgbClr val="2E74B5"/>
                          </a:solidFill>
                          <a:effectLst/>
                          <a:latin typeface="+mn-lt"/>
                          <a:ea typeface="Calibri" panose="020F0502020204030204" pitchFamily="34" charset="0"/>
                          <a:cs typeface="Times New Roman" panose="02020603050405020304" pitchFamily="18" charset="0"/>
                        </a:rPr>
                        <a:t>Sesión:  </a:t>
                      </a:r>
                      <a:r>
                        <a:rPr lang="es-MX" sz="1200" b="1" kern="100" dirty="0">
                          <a:solidFill>
                            <a:schemeClr val="tx1"/>
                          </a:solidFill>
                          <a:effectLst/>
                          <a:latin typeface="+mn-lt"/>
                          <a:ea typeface="Calibri" panose="020F0502020204030204" pitchFamily="34" charset="0"/>
                          <a:cs typeface="Times New Roman" panose="02020603050405020304" pitchFamily="18" charset="0"/>
                        </a:rPr>
                        <a:t> 16                      </a:t>
                      </a:r>
                      <a:endParaRPr lang="es-MX" sz="1200" kern="100" dirty="0">
                        <a:solidFill>
                          <a:schemeClr val="tx1"/>
                        </a:solidFill>
                        <a:effectLst/>
                        <a:latin typeface="+mn-lt"/>
                        <a:ea typeface="Calibri" panose="020F0502020204030204" pitchFamily="34" charset="0"/>
                        <a:cs typeface="Times New Roman" panose="02020603050405020304" pitchFamily="18" charset="0"/>
                      </a:endParaRPr>
                    </a:p>
                    <a:p>
                      <a:pPr algn="ctr">
                        <a:lnSpc>
                          <a:spcPct val="100000"/>
                        </a:lnSpc>
                        <a:spcAft>
                          <a:spcPts val="800"/>
                        </a:spcAft>
                        <a:buNone/>
                      </a:pPr>
                      <a:r>
                        <a:rPr lang="es-MX" sz="1200" b="1" kern="100" dirty="0">
                          <a:solidFill>
                            <a:srgbClr val="2E74B5"/>
                          </a:solidFill>
                          <a:effectLst/>
                          <a:latin typeface="+mn-lt"/>
                          <a:ea typeface="Calibri" panose="020F0502020204030204" pitchFamily="34" charset="0"/>
                          <a:cs typeface="Times New Roman" panose="02020603050405020304" pitchFamily="18" charset="0"/>
                        </a:rPr>
                        <a:t>                                                         Fecha</a:t>
                      </a:r>
                      <a:r>
                        <a:rPr lang="es-MX" sz="1200" b="1" kern="100" dirty="0">
                          <a:solidFill>
                            <a:srgbClr val="000000"/>
                          </a:solidFill>
                          <a:effectLst/>
                          <a:latin typeface="+mn-lt"/>
                          <a:ea typeface="Calibri" panose="020F0502020204030204" pitchFamily="34" charset="0"/>
                          <a:cs typeface="Times New Roman" panose="02020603050405020304" pitchFamily="18" charset="0"/>
                        </a:rPr>
                        <a:t>:    Viernes  06 de febrero de 2026</a:t>
                      </a:r>
                    </a:p>
                    <a:p>
                      <a:pPr algn="ctr">
                        <a:lnSpc>
                          <a:spcPct val="100000"/>
                        </a:lnSpc>
                        <a:spcAft>
                          <a:spcPts val="800"/>
                        </a:spcAft>
                        <a:buNone/>
                      </a:pPr>
                      <a:r>
                        <a:rPr lang="es-MX" sz="1200" b="1" kern="100" dirty="0">
                          <a:solidFill>
                            <a:srgbClr val="2E74B5"/>
                          </a:solidFill>
                          <a:effectLst/>
                          <a:latin typeface="+mn-lt"/>
                          <a:ea typeface="Calibri" panose="020F0502020204030204" pitchFamily="34" charset="0"/>
                          <a:cs typeface="Times New Roman" panose="02020603050405020304" pitchFamily="18" charset="0"/>
                        </a:rPr>
                        <a:t>                                                   Subtema:   </a:t>
                      </a:r>
                      <a:r>
                        <a:rPr lang="es-MX" sz="1200" b="1" kern="100" dirty="0">
                          <a:effectLst/>
                          <a:latin typeface="Aptos" panose="020B0004020202020204" pitchFamily="34" charset="0"/>
                          <a:ea typeface="Calibri" panose="020F0502020204030204" pitchFamily="34" charset="0"/>
                          <a:cs typeface="Times New Roman" panose="02020603050405020304" pitchFamily="18" charset="0"/>
                        </a:rPr>
                        <a:t>El maíz en mi comunidad</a:t>
                      </a:r>
                      <a:endParaRPr lang="es-MX" sz="1200" b="0" kern="100" dirty="0">
                        <a:solidFill>
                          <a:schemeClr val="tx1"/>
                        </a:solidFill>
                        <a:effectLst/>
                        <a:latin typeface="+mn-lt"/>
                        <a:ea typeface="Calibri" panose="020F0502020204030204" pitchFamily="34" charset="0"/>
                        <a:cs typeface="Times New Roman" panose="02020603050405020304" pitchFamily="18" charset="0"/>
                      </a:endParaRPr>
                    </a:p>
                    <a:p>
                      <a:pPr algn="ctr">
                        <a:lnSpc>
                          <a:spcPct val="100000"/>
                        </a:lnSpc>
                        <a:spcAft>
                          <a:spcPts val="800"/>
                        </a:spcAft>
                        <a:buNone/>
                      </a:pPr>
                      <a:r>
                        <a:rPr lang="es-MX" sz="1200" b="1" kern="100" dirty="0">
                          <a:solidFill>
                            <a:srgbClr val="2E74B5"/>
                          </a:solidFill>
                          <a:effectLst/>
                          <a:latin typeface="+mn-lt"/>
                          <a:ea typeface="Calibri" panose="020F0502020204030204" pitchFamily="34" charset="0"/>
                          <a:cs typeface="Times New Roman" panose="02020603050405020304" pitchFamily="18" charset="0"/>
                        </a:rPr>
                        <a:t>                                                      Actividad:</a:t>
                      </a:r>
                      <a:r>
                        <a:rPr lang="es-MX" sz="1200" b="1" kern="100" dirty="0">
                          <a:effectLst/>
                          <a:latin typeface="+mn-lt"/>
                          <a:ea typeface="Calibri" panose="020F0502020204030204" pitchFamily="34" charset="0"/>
                          <a:cs typeface="Times New Roman" panose="02020603050405020304" pitchFamily="18" charset="0"/>
                        </a:rPr>
                        <a:t>  Feria comunitaria del maíz</a:t>
                      </a:r>
                      <a:endParaRPr lang="es-MX" sz="1200" kern="1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s-MX"/>
                    </a:p>
                  </a:txBody>
                  <a:tcPr/>
                </a:tc>
                <a:tc hMerge="1">
                  <a:txBody>
                    <a:bodyPr/>
                    <a:lstStyle/>
                    <a:p>
                      <a:endParaRPr lang="es-MX"/>
                    </a:p>
                  </a:txBody>
                  <a:tcPr/>
                </a:tc>
                <a:extLst>
                  <a:ext uri="{0D108BD9-81ED-4DB2-BD59-A6C34878D82A}">
                    <a16:rowId xmlns:a16="http://schemas.microsoft.com/office/drawing/2014/main" val="3429115190"/>
                  </a:ext>
                </a:extLst>
              </a:tr>
              <a:tr h="527143">
                <a:tc>
                  <a:txBody>
                    <a:bodyPr/>
                    <a:lstStyle/>
                    <a:p>
                      <a:pPr>
                        <a:lnSpc>
                          <a:spcPct val="107000"/>
                        </a:lnSpc>
                        <a:spcAft>
                          <a:spcPts val="800"/>
                        </a:spcAft>
                        <a:buNone/>
                      </a:pPr>
                      <a:r>
                        <a:rPr lang="es-MX" sz="1400" b="1" kern="100">
                          <a:effectLst/>
                          <a:latin typeface="Aptos" panose="020B0004020202020204" pitchFamily="34" charset="0"/>
                          <a:ea typeface="Calibri" panose="020F0502020204030204" pitchFamily="34" charset="0"/>
                          <a:cs typeface="Times New Roman" panose="02020603050405020304" pitchFamily="18" charset="0"/>
                        </a:rPr>
                        <a:t>Momento</a:t>
                      </a:r>
                      <a:endParaRPr lang="es-MX"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s-MX" sz="1400" b="1" kern="100" dirty="0">
                          <a:effectLst/>
                          <a:latin typeface="Aptos" panose="020B0004020202020204" pitchFamily="34" charset="0"/>
                          <a:ea typeface="Calibri" panose="020F0502020204030204" pitchFamily="34" charset="0"/>
                          <a:cs typeface="Times New Roman" panose="02020603050405020304" pitchFamily="18" charset="0"/>
                        </a:rPr>
                        <a:t>                                                               Actividades</a:t>
                      </a:r>
                      <a:endParaRPr lang="es-MX"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s-MX" sz="1400" b="1" kern="100" dirty="0">
                          <a:effectLst/>
                          <a:latin typeface="Aptos" panose="020B0004020202020204" pitchFamily="34" charset="0"/>
                          <a:ea typeface="Calibri" panose="020F0502020204030204" pitchFamily="34" charset="0"/>
                          <a:cs typeface="Times New Roman" panose="02020603050405020304" pitchFamily="18" charset="0"/>
                        </a:rPr>
                        <a:t>recursos</a:t>
                      </a:r>
                      <a:endParaRPr lang="es-MX"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92624986"/>
                  </a:ext>
                </a:extLst>
              </a:tr>
              <a:tr h="2934536">
                <a:tc>
                  <a:txBody>
                    <a:bodyPr/>
                    <a:lstStyle/>
                    <a:p>
                      <a:pPr algn="l">
                        <a:lnSpc>
                          <a:spcPct val="107000"/>
                        </a:lnSpc>
                        <a:spcAft>
                          <a:spcPts val="800"/>
                        </a:spcAft>
                        <a:buNone/>
                      </a:pPr>
                      <a:r>
                        <a:rPr lang="es-MX" sz="1200" b="1" kern="100" dirty="0">
                          <a:effectLst/>
                          <a:latin typeface="+mn-lt"/>
                          <a:ea typeface="Calibri" panose="020F0502020204030204" pitchFamily="34" charset="0"/>
                          <a:cs typeface="Times New Roman" panose="02020603050405020304" pitchFamily="18" charset="0"/>
                        </a:rPr>
                        <a:t> </a:t>
                      </a:r>
                      <a:endParaRPr lang="es-MX" sz="1200" kern="100" dirty="0">
                        <a:effectLst/>
                        <a:latin typeface="+mn-lt"/>
                        <a:ea typeface="Calibri" panose="020F0502020204030204" pitchFamily="34" charset="0"/>
                        <a:cs typeface="Times New Roman" panose="02020603050405020304" pitchFamily="18" charset="0"/>
                      </a:endParaRPr>
                    </a:p>
                    <a:p>
                      <a:pPr algn="l">
                        <a:lnSpc>
                          <a:spcPct val="107000"/>
                        </a:lnSpc>
                        <a:spcAft>
                          <a:spcPts val="800"/>
                        </a:spcAft>
                        <a:buNone/>
                      </a:pPr>
                      <a:r>
                        <a:rPr lang="es-MX" sz="1200" b="1" kern="100" dirty="0">
                          <a:effectLst/>
                          <a:latin typeface="+mn-lt"/>
                          <a:ea typeface="Calibri" panose="020F0502020204030204" pitchFamily="34" charset="0"/>
                          <a:cs typeface="Times New Roman" panose="02020603050405020304" pitchFamily="18" charset="0"/>
                        </a:rPr>
                        <a:t> </a:t>
                      </a:r>
                      <a:endParaRPr lang="es-MX" sz="1200" kern="100" dirty="0">
                        <a:effectLst/>
                        <a:latin typeface="+mn-lt"/>
                        <a:ea typeface="Calibri" panose="020F0502020204030204" pitchFamily="34" charset="0"/>
                        <a:cs typeface="Times New Roman" panose="02020603050405020304" pitchFamily="18" charset="0"/>
                      </a:endParaRPr>
                    </a:p>
                    <a:p>
                      <a:pPr algn="l">
                        <a:lnSpc>
                          <a:spcPct val="107000"/>
                        </a:lnSpc>
                        <a:spcAft>
                          <a:spcPts val="800"/>
                        </a:spcAft>
                        <a:buNone/>
                      </a:pPr>
                      <a:r>
                        <a:rPr lang="es-MX" sz="1200" b="1" kern="100" dirty="0">
                          <a:effectLst/>
                          <a:latin typeface="+mn-lt"/>
                          <a:ea typeface="Calibri" panose="020F0502020204030204" pitchFamily="34" charset="0"/>
                          <a:cs typeface="Times New Roman" panose="02020603050405020304" pitchFamily="18" charset="0"/>
                        </a:rPr>
                        <a:t> </a:t>
                      </a:r>
                      <a:endParaRPr lang="es-MX" sz="1200" kern="100" dirty="0">
                        <a:effectLst/>
                        <a:latin typeface="+mn-lt"/>
                        <a:ea typeface="Calibri" panose="020F0502020204030204" pitchFamily="34" charset="0"/>
                        <a:cs typeface="Times New Roman" panose="02020603050405020304" pitchFamily="18" charset="0"/>
                      </a:endParaRPr>
                    </a:p>
                    <a:p>
                      <a:pPr algn="l">
                        <a:lnSpc>
                          <a:spcPct val="107000"/>
                        </a:lnSpc>
                        <a:spcAft>
                          <a:spcPts val="800"/>
                        </a:spcAft>
                        <a:buNone/>
                      </a:pPr>
                      <a:r>
                        <a:rPr lang="es-MX" sz="1200" b="0" kern="100" dirty="0">
                          <a:effectLst/>
                          <a:latin typeface="+mn-lt"/>
                          <a:ea typeface="Calibri" panose="020F0502020204030204" pitchFamily="34" charset="0"/>
                          <a:cs typeface="Times New Roman" panose="02020603050405020304" pitchFamily="18" charset="0"/>
                        </a:rPr>
                        <a:t>Resolver en común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342900" lvl="0" indent="-342900" algn="l">
                        <a:lnSpc>
                          <a:spcPct val="115000"/>
                        </a:lnSpc>
                        <a:spcAft>
                          <a:spcPts val="10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Organización la actividad con los alumnos de preescolar “exposición de lo aprendido  ,para comunicar y transferir a toda la comunidad el proyecto “saberes, sabores y olores del maíz”</a:t>
                      </a:r>
                    </a:p>
                    <a:p>
                      <a:pPr marL="342900" lvl="0" indent="-342900" algn="l">
                        <a:lnSpc>
                          <a:spcPct val="115000"/>
                        </a:lnSpc>
                        <a:spcAft>
                          <a:spcPts val="10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Presentemos a la comunidad educativa lo que aprendimos durante estas sesiones </a:t>
                      </a:r>
                    </a:p>
                    <a:p>
                      <a:pPr marL="342900" lvl="0" indent="-342900" algn="l">
                        <a:lnSpc>
                          <a:spcPct val="115000"/>
                        </a:lnSpc>
                        <a:spcAft>
                          <a:spcPts val="10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Cantemos el canto del maíz </a:t>
                      </a:r>
                    </a:p>
                    <a:p>
                      <a:pPr marL="342900" lvl="0" indent="-342900" algn="l">
                        <a:lnSpc>
                          <a:spcPct val="115000"/>
                        </a:lnSpc>
                        <a:spcAft>
                          <a:spcPts val="10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Presentamos los dibujos, plantas, Collage, mosaico, recetas </a:t>
                      </a:r>
                      <a:r>
                        <a:rPr lang="es-MX" sz="1200" kern="100" dirty="0" err="1">
                          <a:effectLst/>
                          <a:latin typeface="+mn-lt"/>
                          <a:ea typeface="Calibri" panose="020F0502020204030204" pitchFamily="34" charset="0"/>
                          <a:cs typeface="Times New Roman" panose="02020603050405020304" pitchFamily="18" charset="0"/>
                        </a:rPr>
                        <a:t>memorama</a:t>
                      </a:r>
                      <a:r>
                        <a:rPr lang="es-MX" sz="1200" kern="100" dirty="0">
                          <a:effectLst/>
                          <a:latin typeface="+mn-lt"/>
                          <a:ea typeface="Calibri" panose="020F0502020204030204" pitchFamily="34" charset="0"/>
                          <a:cs typeface="Times New Roman" panose="02020603050405020304" pitchFamily="18" charset="0"/>
                        </a:rPr>
                        <a:t> lotería, imágenes que se trabajaron en la sesión </a:t>
                      </a:r>
                    </a:p>
                    <a:p>
                      <a:pPr marL="342900" lvl="0" indent="-342900" algn="l">
                        <a:lnSpc>
                          <a:spcPct val="115000"/>
                        </a:lnSpc>
                        <a:spcAft>
                          <a:spcPts val="10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Presentar por los alumnos los marcos de oración aprendidos en todas las sesiones </a:t>
                      </a:r>
                    </a:p>
                    <a:p>
                      <a:pPr marL="342900" lvl="0" indent="-342900" algn="l">
                        <a:lnSpc>
                          <a:spcPct val="115000"/>
                        </a:lnSpc>
                        <a:spcAft>
                          <a:spcPts val="10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Agradecer a todas las personalidades por su presencia y recorrido por el están donde se encuentran todos los materiales realizados por los alumnos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laminas</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Collage</a:t>
                      </a:r>
                    </a:p>
                    <a:p>
                      <a:pPr algn="l">
                        <a:lnSpc>
                          <a:spcPct val="107000"/>
                        </a:lnSpc>
                        <a:spcAft>
                          <a:spcPts val="800"/>
                        </a:spcAft>
                        <a:buNone/>
                      </a:pPr>
                      <a:r>
                        <a:rPr lang="es-MX" sz="1200" kern="100" dirty="0" err="1">
                          <a:effectLst/>
                          <a:latin typeface="+mn-lt"/>
                          <a:ea typeface="Calibri" panose="020F0502020204030204" pitchFamily="34" charset="0"/>
                          <a:cs typeface="Times New Roman" panose="02020603050405020304" pitchFamily="18" charset="0"/>
                        </a:rPr>
                        <a:t>Memorama</a:t>
                      </a:r>
                      <a:endParaRPr lang="es-MX" sz="1200" kern="100" dirty="0">
                        <a:effectLst/>
                        <a:latin typeface="+mn-lt"/>
                        <a:ea typeface="Calibri" panose="020F0502020204030204" pitchFamily="34" charset="0"/>
                        <a:cs typeface="Times New Roman" panose="02020603050405020304" pitchFamily="18" charset="0"/>
                      </a:endParaRP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Imágenes</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Alimentos elaborados de maíz</a:t>
                      </a: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Plantas</a:t>
                      </a:r>
                    </a:p>
                    <a:p>
                      <a:pPr algn="l">
                        <a:lnSpc>
                          <a:spcPct val="107000"/>
                        </a:lnSpc>
                        <a:spcAft>
                          <a:spcPts val="800"/>
                        </a:spcAft>
                        <a:buNone/>
                      </a:pPr>
                      <a:endParaRPr lang="es-MX" sz="1200" kern="1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6311546"/>
                  </a:ext>
                </a:extLst>
              </a:tr>
              <a:tr h="0">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s-MX" sz="1100" kern="100" dirty="0">
                          <a:effectLst/>
                          <a:latin typeface="Calibri" panose="020F0502020204030204" pitchFamily="34" charset="0"/>
                          <a:ea typeface="Calibri" panose="020F0502020204030204" pitchFamily="34" charset="0"/>
                          <a:cs typeface="Times New Roman" panose="02020603050405020304" pitchFamily="18" charset="0"/>
                        </a:rPr>
                        <a:t>Marcos de oración</a:t>
                      </a:r>
                      <a:endParaRPr kumimoji="0" lang="es-MX" sz="11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s-MX" sz="11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El </a:t>
                      </a:r>
                      <a:r>
                        <a:rPr kumimoji="0" lang="es-MX" sz="1100" b="0" i="0" u="none" strike="noStrike" kern="100" cap="none" spc="0"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maiz</a:t>
                      </a:r>
                      <a:r>
                        <a:rPr kumimoji="0" lang="es-MX" sz="11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es alimento         in </a:t>
                      </a:r>
                      <a:r>
                        <a:rPr kumimoji="0" lang="es-MX" sz="1100" b="0" i="0" u="none" strike="noStrike" kern="100" cap="none" spc="0"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taoli</a:t>
                      </a:r>
                      <a:r>
                        <a:rPr kumimoji="0" lang="es-MX" sz="11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no </a:t>
                      </a:r>
                      <a:r>
                        <a:rPr kumimoji="0" lang="es-MX" sz="1100" b="0" i="0" u="none" strike="noStrike" kern="100" cap="none" spc="0"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tonalcayotl</a:t>
                      </a:r>
                      <a:endParaRPr kumimoji="0" lang="es-MX" sz="11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s-MX" sz="11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El maíz es blanco     in </a:t>
                      </a:r>
                      <a:r>
                        <a:rPr kumimoji="0" lang="es-MX" sz="1100" b="0" i="0" u="none" strike="noStrike" kern="100" cap="none" spc="0"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tlaoli</a:t>
                      </a:r>
                      <a:r>
                        <a:rPr kumimoji="0" lang="es-MX" sz="11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s-MX" sz="1100" b="0" i="0" u="none" strike="noStrike" kern="100" cap="none" spc="0"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iztac</a:t>
                      </a:r>
                      <a:endParaRPr kumimoji="0" lang="es-MX" sz="11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1100" kern="100" dirty="0">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76727780"/>
                  </a:ext>
                </a:extLst>
              </a:tr>
            </a:tbl>
          </a:graphicData>
        </a:graphic>
      </p:graphicFrame>
    </p:spTree>
    <p:extLst>
      <p:ext uri="{BB962C8B-B14F-4D97-AF65-F5344CB8AC3E}">
        <p14:creationId xmlns:p14="http://schemas.microsoft.com/office/powerpoint/2010/main" val="34683971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EA396-7BC4-7764-B8A0-81AC0ADDD22E}"/>
            </a:ext>
          </a:extLst>
        </p:cNvPr>
        <p:cNvGrpSpPr/>
        <p:nvPr/>
      </p:nvGrpSpPr>
      <p:grpSpPr>
        <a:xfrm>
          <a:off x="0" y="0"/>
          <a:ext cx="0" cy="0"/>
          <a:chOff x="0" y="0"/>
          <a:chExt cx="0" cy="0"/>
        </a:xfrm>
      </p:grpSpPr>
      <p:graphicFrame>
        <p:nvGraphicFramePr>
          <p:cNvPr id="2" name="Tabla 1">
            <a:extLst>
              <a:ext uri="{FF2B5EF4-FFF2-40B4-BE49-F238E27FC236}">
                <a16:creationId xmlns:a16="http://schemas.microsoft.com/office/drawing/2014/main" id="{99081FCC-5067-9E02-3879-FF78CCF74D56}"/>
              </a:ext>
            </a:extLst>
          </p:cNvPr>
          <p:cNvGraphicFramePr>
            <a:graphicFrameLocks noGrp="1"/>
          </p:cNvGraphicFramePr>
          <p:nvPr>
            <p:extLst>
              <p:ext uri="{D42A27DB-BD31-4B8C-83A1-F6EECF244321}">
                <p14:modId xmlns:p14="http://schemas.microsoft.com/office/powerpoint/2010/main" val="891897110"/>
              </p:ext>
            </p:extLst>
          </p:nvPr>
        </p:nvGraphicFramePr>
        <p:xfrm>
          <a:off x="285268" y="403476"/>
          <a:ext cx="11686153" cy="5521329"/>
        </p:xfrm>
        <a:graphic>
          <a:graphicData uri="http://schemas.openxmlformats.org/drawingml/2006/table">
            <a:tbl>
              <a:tblPr firstRow="1" firstCol="1" bandRow="1"/>
              <a:tblGrid>
                <a:gridCol w="2290291">
                  <a:extLst>
                    <a:ext uri="{9D8B030D-6E8A-4147-A177-3AD203B41FA5}">
                      <a16:colId xmlns:a16="http://schemas.microsoft.com/office/drawing/2014/main" val="605720879"/>
                    </a:ext>
                  </a:extLst>
                </a:gridCol>
                <a:gridCol w="7902271">
                  <a:extLst>
                    <a:ext uri="{9D8B030D-6E8A-4147-A177-3AD203B41FA5}">
                      <a16:colId xmlns:a16="http://schemas.microsoft.com/office/drawing/2014/main" val="2949034043"/>
                    </a:ext>
                  </a:extLst>
                </a:gridCol>
                <a:gridCol w="1493591">
                  <a:extLst>
                    <a:ext uri="{9D8B030D-6E8A-4147-A177-3AD203B41FA5}">
                      <a16:colId xmlns:a16="http://schemas.microsoft.com/office/drawing/2014/main" val="3491126285"/>
                    </a:ext>
                  </a:extLst>
                </a:gridCol>
              </a:tblGrid>
              <a:tr h="1148598">
                <a:tc gridSpan="3">
                  <a:txBody>
                    <a:bodyPr/>
                    <a:lstStyle/>
                    <a:p>
                      <a:pPr algn="l">
                        <a:lnSpc>
                          <a:spcPct val="107000"/>
                        </a:lnSpc>
                        <a:spcAft>
                          <a:spcPts val="800"/>
                        </a:spcAft>
                        <a:buNone/>
                      </a:pPr>
                      <a:r>
                        <a:rPr lang="es-MX" sz="1200" b="1" kern="100" dirty="0">
                          <a:solidFill>
                            <a:srgbClr val="2E74B5"/>
                          </a:solidFill>
                          <a:effectLst/>
                          <a:latin typeface="+mn-lt"/>
                          <a:ea typeface="Calibri" panose="020F0502020204030204" pitchFamily="34" charset="0"/>
                          <a:cs typeface="Times New Roman" panose="02020603050405020304" pitchFamily="18" charset="0"/>
                        </a:rPr>
                        <a:t>                                                                                                                                              </a:t>
                      </a:r>
                      <a:r>
                        <a:rPr lang="es-MX" sz="1200" b="0" kern="100" dirty="0">
                          <a:solidFill>
                            <a:srgbClr val="2E74B5"/>
                          </a:solidFill>
                          <a:effectLst/>
                          <a:latin typeface="+mn-lt"/>
                          <a:ea typeface="Calibri" panose="020F0502020204030204" pitchFamily="34" charset="0"/>
                          <a:cs typeface="Times New Roman" panose="02020603050405020304" pitchFamily="18" charset="0"/>
                        </a:rPr>
                        <a:t>Sesión:          </a:t>
                      </a:r>
                      <a:r>
                        <a:rPr lang="es-MX" sz="1200" b="0" kern="100" dirty="0">
                          <a:solidFill>
                            <a:srgbClr val="000000"/>
                          </a:solidFill>
                          <a:effectLst/>
                          <a:latin typeface="+mn-lt"/>
                          <a:ea typeface="Calibri" panose="020F0502020204030204" pitchFamily="34" charset="0"/>
                          <a:cs typeface="Times New Roman" panose="02020603050405020304" pitchFamily="18" charset="0"/>
                        </a:rPr>
                        <a:t>17</a:t>
                      </a:r>
                      <a:r>
                        <a:rPr lang="es-MX" sz="1200" b="0" kern="100" dirty="0">
                          <a:solidFill>
                            <a:srgbClr val="2E74B5"/>
                          </a:solidFill>
                          <a:effectLst/>
                          <a:latin typeface="+mn-lt"/>
                          <a:ea typeface="Calibri" panose="020F0502020204030204" pitchFamily="34" charset="0"/>
                          <a:cs typeface="Times New Roman" panose="02020603050405020304" pitchFamily="18" charset="0"/>
                        </a:rPr>
                        <a:t>                    </a:t>
                      </a:r>
                    </a:p>
                    <a:p>
                      <a:pPr algn="l">
                        <a:lnSpc>
                          <a:spcPct val="107000"/>
                        </a:lnSpc>
                        <a:spcAft>
                          <a:spcPts val="800"/>
                        </a:spcAft>
                        <a:buNone/>
                      </a:pPr>
                      <a:r>
                        <a:rPr lang="es-MX" sz="1200" b="0" kern="100" dirty="0">
                          <a:solidFill>
                            <a:srgbClr val="2E74B5"/>
                          </a:solidFill>
                          <a:effectLst/>
                          <a:latin typeface="+mn-lt"/>
                          <a:ea typeface="Calibri" panose="020F0502020204030204" pitchFamily="34" charset="0"/>
                          <a:cs typeface="Times New Roman" panose="02020603050405020304" pitchFamily="18" charset="0"/>
                        </a:rPr>
                        <a:t>                                                                                                                                               Fecha</a:t>
                      </a:r>
                      <a:r>
                        <a:rPr lang="es-MX" sz="1200" b="0" kern="100" dirty="0">
                          <a:solidFill>
                            <a:srgbClr val="000000"/>
                          </a:solidFill>
                          <a:effectLst/>
                          <a:latin typeface="+mn-lt"/>
                          <a:ea typeface="Calibri" panose="020F0502020204030204" pitchFamily="34" charset="0"/>
                          <a:cs typeface="Times New Roman" panose="02020603050405020304" pitchFamily="18" charset="0"/>
                        </a:rPr>
                        <a:t>:    Jueves  05 de febrero de 2026</a:t>
                      </a:r>
                    </a:p>
                    <a:p>
                      <a:pPr algn="l">
                        <a:lnSpc>
                          <a:spcPct val="107000"/>
                        </a:lnSpc>
                        <a:spcAft>
                          <a:spcPts val="800"/>
                        </a:spcAft>
                        <a:buNone/>
                      </a:pPr>
                      <a:r>
                        <a:rPr lang="es-MX" sz="1200" b="0" kern="100" dirty="0">
                          <a:solidFill>
                            <a:srgbClr val="000000"/>
                          </a:solidFill>
                          <a:effectLst/>
                          <a:latin typeface="+mn-lt"/>
                          <a:ea typeface="Calibri" panose="020F0502020204030204" pitchFamily="34" charset="0"/>
                          <a:cs typeface="Times New Roman" panose="02020603050405020304" pitchFamily="18" charset="0"/>
                        </a:rPr>
                        <a:t>                                                                                                                                       </a:t>
                      </a:r>
                      <a:r>
                        <a:rPr lang="es-MX" sz="1200" b="0" kern="100" dirty="0">
                          <a:solidFill>
                            <a:srgbClr val="2E74B5"/>
                          </a:solidFill>
                          <a:effectLst/>
                          <a:latin typeface="+mn-lt"/>
                          <a:ea typeface="Calibri" panose="020F0502020204030204" pitchFamily="34" charset="0"/>
                          <a:cs typeface="Times New Roman" panose="02020603050405020304" pitchFamily="18" charset="0"/>
                        </a:rPr>
                        <a:t> Subtema:   </a:t>
                      </a:r>
                      <a:r>
                        <a:rPr lang="es-MX" sz="1200" b="0" kern="100" dirty="0">
                          <a:effectLst/>
                          <a:latin typeface="+mn-lt"/>
                          <a:ea typeface="Calibri" panose="020F0502020204030204" pitchFamily="34" charset="0"/>
                          <a:cs typeface="Times New Roman" panose="02020603050405020304" pitchFamily="18" charset="0"/>
                        </a:rPr>
                        <a:t>El maíz en mi comunidad</a:t>
                      </a:r>
                    </a:p>
                    <a:p>
                      <a:pPr algn="l">
                        <a:lnSpc>
                          <a:spcPct val="107000"/>
                        </a:lnSpc>
                        <a:spcAft>
                          <a:spcPts val="800"/>
                        </a:spcAft>
                        <a:buNone/>
                      </a:pPr>
                      <a:r>
                        <a:rPr lang="es-MX" sz="1200" b="0" kern="100" dirty="0">
                          <a:solidFill>
                            <a:srgbClr val="2E74B5"/>
                          </a:solidFill>
                          <a:effectLst/>
                          <a:latin typeface="+mn-lt"/>
                          <a:ea typeface="Calibri" panose="020F0502020204030204" pitchFamily="34" charset="0"/>
                          <a:cs typeface="Times New Roman" panose="02020603050405020304" pitchFamily="18" charset="0"/>
                        </a:rPr>
                        <a:t>                                                                                                                                        Actividad:</a:t>
                      </a:r>
                      <a:r>
                        <a:rPr lang="es-MX" sz="1200" b="0" kern="100" dirty="0">
                          <a:effectLst/>
                          <a:latin typeface="+mn-lt"/>
                          <a:ea typeface="Calibri" panose="020F0502020204030204" pitchFamily="34" charset="0"/>
                          <a:cs typeface="Times New Roman" panose="02020603050405020304" pitchFamily="18" charset="0"/>
                        </a:rPr>
                        <a:t> Nombramos lo que hicimos</a:t>
                      </a:r>
                    </a:p>
                  </a:txBody>
                  <a:tcPr marL="55827" marR="5582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s-MX"/>
                    </a:p>
                  </a:txBody>
                  <a:tcPr/>
                </a:tc>
                <a:tc hMerge="1">
                  <a:txBody>
                    <a:bodyPr/>
                    <a:lstStyle/>
                    <a:p>
                      <a:endParaRPr lang="es-MX"/>
                    </a:p>
                  </a:txBody>
                  <a:tcPr/>
                </a:tc>
                <a:extLst>
                  <a:ext uri="{0D108BD9-81ED-4DB2-BD59-A6C34878D82A}">
                    <a16:rowId xmlns:a16="http://schemas.microsoft.com/office/drawing/2014/main" val="2251552922"/>
                  </a:ext>
                </a:extLst>
              </a:tr>
              <a:tr h="3284621">
                <a:tc>
                  <a:txBody>
                    <a:bodyPr/>
                    <a:lstStyle/>
                    <a:p>
                      <a:pPr algn="l">
                        <a:lnSpc>
                          <a:spcPct val="107000"/>
                        </a:lnSpc>
                        <a:spcAft>
                          <a:spcPts val="800"/>
                        </a:spcAft>
                        <a:buNone/>
                      </a:pPr>
                      <a:r>
                        <a:rPr lang="es-MX" sz="1200" b="1" kern="100" dirty="0">
                          <a:effectLst/>
                          <a:latin typeface="+mn-lt"/>
                          <a:ea typeface="Calibri" panose="020F0502020204030204" pitchFamily="34" charset="0"/>
                          <a:cs typeface="Times New Roman" panose="02020603050405020304" pitchFamily="18" charset="0"/>
                        </a:rPr>
                        <a:t> </a:t>
                      </a:r>
                      <a:endParaRPr lang="es-MX" sz="1200" kern="100" dirty="0">
                        <a:effectLst/>
                        <a:latin typeface="+mn-lt"/>
                        <a:ea typeface="Calibri" panose="020F0502020204030204" pitchFamily="34" charset="0"/>
                        <a:cs typeface="Times New Roman" panose="02020603050405020304" pitchFamily="18" charset="0"/>
                      </a:endParaRPr>
                    </a:p>
                    <a:p>
                      <a:pPr algn="l">
                        <a:lnSpc>
                          <a:spcPct val="107000"/>
                        </a:lnSpc>
                        <a:spcAft>
                          <a:spcPts val="800"/>
                        </a:spcAft>
                        <a:buNone/>
                      </a:pPr>
                      <a:r>
                        <a:rPr lang="es-MX" sz="1200" b="1" kern="100" dirty="0">
                          <a:effectLst/>
                          <a:latin typeface="+mn-lt"/>
                          <a:ea typeface="Calibri" panose="020F0502020204030204" pitchFamily="34" charset="0"/>
                          <a:cs typeface="Times New Roman" panose="02020603050405020304" pitchFamily="18" charset="0"/>
                        </a:rPr>
                        <a:t> </a:t>
                      </a:r>
                      <a:endParaRPr lang="es-MX" sz="1200" kern="100" dirty="0">
                        <a:effectLst/>
                        <a:latin typeface="+mn-lt"/>
                        <a:ea typeface="Calibri" panose="020F0502020204030204" pitchFamily="34" charset="0"/>
                        <a:cs typeface="Times New Roman" panose="02020603050405020304" pitchFamily="18" charset="0"/>
                      </a:endParaRPr>
                    </a:p>
                    <a:p>
                      <a:pPr algn="l">
                        <a:lnSpc>
                          <a:spcPct val="107000"/>
                        </a:lnSpc>
                        <a:spcAft>
                          <a:spcPts val="800"/>
                        </a:spcAft>
                        <a:buNone/>
                      </a:pPr>
                      <a:r>
                        <a:rPr lang="es-MX" sz="1200" b="1" kern="100" dirty="0">
                          <a:effectLst/>
                          <a:latin typeface="+mn-lt"/>
                          <a:ea typeface="Calibri" panose="020F0502020204030204" pitchFamily="34" charset="0"/>
                          <a:cs typeface="Times New Roman" panose="02020603050405020304" pitchFamily="18" charset="0"/>
                        </a:rPr>
                        <a:t> </a:t>
                      </a:r>
                      <a:endParaRPr lang="es-MX" sz="1200" kern="100" dirty="0">
                        <a:effectLst/>
                        <a:latin typeface="+mn-lt"/>
                        <a:ea typeface="Calibri" panose="020F0502020204030204" pitchFamily="34" charset="0"/>
                        <a:cs typeface="Times New Roman" panose="02020603050405020304" pitchFamily="18" charset="0"/>
                      </a:endParaRPr>
                    </a:p>
                    <a:p>
                      <a:pPr algn="l">
                        <a:lnSpc>
                          <a:spcPct val="107000"/>
                        </a:lnSpc>
                        <a:spcAft>
                          <a:spcPts val="800"/>
                        </a:spcAft>
                        <a:buNone/>
                      </a:pPr>
                      <a:r>
                        <a:rPr lang="es-MX" sz="1200" b="0" kern="100" dirty="0">
                          <a:effectLst/>
                          <a:latin typeface="+mn-lt"/>
                          <a:ea typeface="Calibri" panose="020F0502020204030204" pitchFamily="34" charset="0"/>
                          <a:cs typeface="Times New Roman" panose="02020603050405020304" pitchFamily="18" charset="0"/>
                        </a:rPr>
                        <a:t>Comunicar y transferir </a:t>
                      </a:r>
                    </a:p>
                  </a:txBody>
                  <a:tcPr marL="55827" marR="5582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342900" lvl="0" indent="-342900" algn="l">
                        <a:lnSpc>
                          <a:spcPct val="115000"/>
                        </a:lnSpc>
                        <a:spcAft>
                          <a:spcPts val="10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Dialogara con los alumnos a cerca del cierre de este proyecto que fue “sabores y colores del maíz”, el cual duro 17 sesiones y se preparan los materiales para realizar una explosión a nivel escuela el día de mañana </a:t>
                      </a:r>
                    </a:p>
                    <a:p>
                      <a:pPr marL="342900" lvl="0" indent="-342900" algn="l">
                        <a:lnSpc>
                          <a:spcPct val="115000"/>
                        </a:lnSpc>
                        <a:spcAft>
                          <a:spcPts val="10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Hacer una   invitación para los padres de familia, para que el día de mañana hagan acto de presencia en el patio de la escuela y observen una exposición que se montara con los trabajos realizados durante todo el proyecto   sobre los “saberes, sabores y olores del maíz”</a:t>
                      </a:r>
                    </a:p>
                    <a:p>
                      <a:pPr marL="342900" lvl="0" indent="-342900" algn="l">
                        <a:lnSpc>
                          <a:spcPct val="115000"/>
                        </a:lnSpc>
                        <a:spcAft>
                          <a:spcPts val="10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Solicitar a los alumnos organizarnos para preparar los materiales y ordenarlos de acuerdo con cómo se fueron realizando </a:t>
                      </a:r>
                    </a:p>
                    <a:p>
                      <a:pPr marL="342900" lvl="0" indent="-342900" algn="l">
                        <a:lnSpc>
                          <a:spcPct val="115000"/>
                        </a:lnSpc>
                        <a:spcAft>
                          <a:spcPts val="10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Practicar la canción del maíz que el día de mañana se presentara</a:t>
                      </a:r>
                    </a:p>
                    <a:p>
                      <a:pPr marL="342900" lvl="0" indent="-342900" algn="l">
                        <a:lnSpc>
                          <a:spcPct val="115000"/>
                        </a:lnSpc>
                        <a:spcAft>
                          <a:spcPts val="10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Practicar los marcos de oración que se presentaran en el patio de la escuela en forma bilingüe </a:t>
                      </a:r>
                    </a:p>
                    <a:p>
                      <a:pPr marL="342900" lvl="0" indent="-342900" algn="l">
                        <a:lnSpc>
                          <a:spcPct val="115000"/>
                        </a:lnSpc>
                        <a:spcAft>
                          <a:spcPts val="1000"/>
                        </a:spcAft>
                        <a:buFont typeface="Wingdings" panose="05000000000000000000" pitchFamily="2" charset="2"/>
                        <a:buChar char=""/>
                      </a:pPr>
                      <a:r>
                        <a:rPr lang="es-MX" sz="1200" kern="100" dirty="0">
                          <a:effectLst/>
                          <a:latin typeface="+mn-lt"/>
                          <a:ea typeface="Calibri" panose="020F0502020204030204" pitchFamily="34" charset="0"/>
                          <a:cs typeface="Times New Roman" panose="02020603050405020304" pitchFamily="18" charset="0"/>
                        </a:rPr>
                        <a:t>Solicitara a los alumnos (as) realizar una reflexión de todas las actividades que se realizaron  ¿Qué aprendieron y que les gustaría aprender más?</a:t>
                      </a:r>
                    </a:p>
                  </a:txBody>
                  <a:tcPr marL="55827" marR="5582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txBody>
                  <a:tcPr marL="55827" marR="5582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62094382"/>
                  </a:ext>
                </a:extLst>
              </a:tr>
              <a:tr h="939504">
                <a:tc>
                  <a:txBody>
                    <a:bodyPr/>
                    <a:lstStyle/>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r>
                        <a:rPr lang="es-MX" sz="1200" kern="100" dirty="0">
                          <a:effectLst/>
                          <a:latin typeface="Calibri" panose="020F0502020204030204" pitchFamily="34" charset="0"/>
                          <a:ea typeface="Calibri" panose="020F0502020204030204" pitchFamily="34" charset="0"/>
                          <a:cs typeface="Times New Roman" panose="02020603050405020304" pitchFamily="18" charset="0"/>
                        </a:rPr>
                        <a:t>Marcos de oración</a:t>
                      </a:r>
                      <a:endParaRPr lang="es-MX" sz="1200" kern="100" dirty="0">
                        <a:effectLst/>
                        <a:latin typeface="+mn-lt"/>
                        <a:ea typeface="Calibri" panose="020F0502020204030204" pitchFamily="34" charset="0"/>
                        <a:cs typeface="Times New Roman" panose="02020603050405020304" pitchFamily="18" charset="0"/>
                      </a:endParaRPr>
                    </a:p>
                  </a:txBody>
                  <a:tcPr marL="55827" marR="5582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El </a:t>
                      </a:r>
                      <a:r>
                        <a:rPr lang="es-MX" sz="1200" kern="100" dirty="0" err="1">
                          <a:effectLst/>
                          <a:latin typeface="+mn-lt"/>
                          <a:ea typeface="Calibri" panose="020F0502020204030204" pitchFamily="34" charset="0"/>
                          <a:cs typeface="Times New Roman" panose="02020603050405020304" pitchFamily="18" charset="0"/>
                        </a:rPr>
                        <a:t>maiz</a:t>
                      </a:r>
                      <a:r>
                        <a:rPr lang="es-MX" sz="1200" kern="100" dirty="0">
                          <a:effectLst/>
                          <a:latin typeface="+mn-lt"/>
                          <a:ea typeface="Calibri" panose="020F0502020204030204" pitchFamily="34" charset="0"/>
                          <a:cs typeface="Times New Roman" panose="02020603050405020304" pitchFamily="18" charset="0"/>
                        </a:rPr>
                        <a:t> es alimento         in </a:t>
                      </a:r>
                      <a:r>
                        <a:rPr lang="es-MX" sz="1200" kern="100" dirty="0" err="1">
                          <a:effectLst/>
                          <a:latin typeface="+mn-lt"/>
                          <a:ea typeface="Calibri" panose="020F0502020204030204" pitchFamily="34" charset="0"/>
                          <a:cs typeface="Times New Roman" panose="02020603050405020304" pitchFamily="18" charset="0"/>
                        </a:rPr>
                        <a:t>taoli</a:t>
                      </a:r>
                      <a:r>
                        <a:rPr lang="es-MX" sz="1200" kern="100" dirty="0">
                          <a:effectLst/>
                          <a:latin typeface="+mn-lt"/>
                          <a:ea typeface="Calibri" panose="020F0502020204030204" pitchFamily="34" charset="0"/>
                          <a:cs typeface="Times New Roman" panose="02020603050405020304" pitchFamily="18" charset="0"/>
                        </a:rPr>
                        <a:t> no </a:t>
                      </a:r>
                      <a:r>
                        <a:rPr lang="es-MX" sz="1200" kern="100" dirty="0" err="1">
                          <a:effectLst/>
                          <a:latin typeface="+mn-lt"/>
                          <a:ea typeface="Calibri" panose="020F0502020204030204" pitchFamily="34" charset="0"/>
                          <a:cs typeface="Times New Roman" panose="02020603050405020304" pitchFamily="18" charset="0"/>
                        </a:rPr>
                        <a:t>tonalcayotl</a:t>
                      </a:r>
                      <a:endParaRPr lang="es-MX" sz="1200" kern="100" dirty="0">
                        <a:effectLst/>
                        <a:latin typeface="+mn-lt"/>
                        <a:ea typeface="Calibri" panose="020F0502020204030204" pitchFamily="34" charset="0"/>
                        <a:cs typeface="Times New Roman" panose="02020603050405020304" pitchFamily="18" charset="0"/>
                      </a:endParaRPr>
                    </a:p>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El maíz es blanco     in </a:t>
                      </a:r>
                      <a:r>
                        <a:rPr lang="es-MX" sz="1200" kern="100" dirty="0" err="1">
                          <a:effectLst/>
                          <a:latin typeface="+mn-lt"/>
                          <a:ea typeface="Calibri" panose="020F0502020204030204" pitchFamily="34" charset="0"/>
                          <a:cs typeface="Times New Roman" panose="02020603050405020304" pitchFamily="18" charset="0"/>
                        </a:rPr>
                        <a:t>tlaoli</a:t>
                      </a:r>
                      <a:r>
                        <a:rPr lang="es-MX" sz="1200" kern="100" dirty="0">
                          <a:effectLst/>
                          <a:latin typeface="+mn-lt"/>
                          <a:ea typeface="Calibri" panose="020F0502020204030204" pitchFamily="34" charset="0"/>
                          <a:cs typeface="Times New Roman" panose="02020603050405020304" pitchFamily="18" charset="0"/>
                        </a:rPr>
                        <a:t> </a:t>
                      </a:r>
                      <a:r>
                        <a:rPr lang="es-MX" sz="1200" kern="100" dirty="0" err="1">
                          <a:effectLst/>
                          <a:latin typeface="+mn-lt"/>
                          <a:ea typeface="Calibri" panose="020F0502020204030204" pitchFamily="34" charset="0"/>
                          <a:cs typeface="Times New Roman" panose="02020603050405020304" pitchFamily="18" charset="0"/>
                        </a:rPr>
                        <a:t>iztac</a:t>
                      </a:r>
                      <a:endParaRPr lang="es-MX" sz="1200" kern="100" dirty="0">
                        <a:effectLst/>
                        <a:latin typeface="+mn-lt"/>
                        <a:ea typeface="Calibri" panose="020F0502020204030204" pitchFamily="34" charset="0"/>
                        <a:cs typeface="Times New Roman" panose="02020603050405020304" pitchFamily="18" charset="0"/>
                      </a:endParaRPr>
                    </a:p>
                  </a:txBody>
                  <a:tcPr marL="55827" marR="5582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1200" kern="100" dirty="0">
                          <a:effectLst/>
                          <a:latin typeface="+mn-lt"/>
                          <a:ea typeface="Calibri" panose="020F0502020204030204" pitchFamily="34" charset="0"/>
                          <a:cs typeface="Times New Roman" panose="02020603050405020304" pitchFamily="18" charset="0"/>
                        </a:rPr>
                        <a:t> </a:t>
                      </a:r>
                    </a:p>
                  </a:txBody>
                  <a:tcPr marL="55827" marR="5582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56517721"/>
                  </a:ext>
                </a:extLst>
              </a:tr>
              <a:tr h="148606">
                <a:tc>
                  <a:txBody>
                    <a:bodyPr/>
                    <a:lstStyle/>
                    <a:p>
                      <a:pPr algn="l">
                        <a:lnSpc>
                          <a:spcPct val="107000"/>
                        </a:lnSpc>
                        <a:spcAft>
                          <a:spcPts val="800"/>
                        </a:spcAft>
                        <a:buNone/>
                      </a:pPr>
                      <a:r>
                        <a:rPr lang="es-MX" sz="900" kern="100">
                          <a:effectLst/>
                          <a:latin typeface="Calibri" panose="020F0502020204030204" pitchFamily="34" charset="0"/>
                          <a:ea typeface="Calibri" panose="020F0502020204030204" pitchFamily="34" charset="0"/>
                          <a:cs typeface="Times New Roman" panose="02020603050405020304" pitchFamily="18" charset="0"/>
                        </a:rPr>
                        <a:t> </a:t>
                      </a:r>
                    </a:p>
                  </a:txBody>
                  <a:tcPr marL="55827" marR="5582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900" kern="100">
                          <a:effectLst/>
                          <a:latin typeface="Calibri" panose="020F0502020204030204" pitchFamily="34" charset="0"/>
                          <a:ea typeface="Calibri" panose="020F0502020204030204" pitchFamily="34" charset="0"/>
                          <a:cs typeface="Times New Roman" panose="02020603050405020304" pitchFamily="18" charset="0"/>
                        </a:rPr>
                        <a:t> </a:t>
                      </a:r>
                    </a:p>
                  </a:txBody>
                  <a:tcPr marL="55827" marR="5582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800"/>
                        </a:spcAft>
                        <a:buNone/>
                      </a:pPr>
                      <a:r>
                        <a:rPr lang="es-MX" sz="900" kern="100" dirty="0">
                          <a:effectLst/>
                          <a:latin typeface="Calibri" panose="020F0502020204030204" pitchFamily="34" charset="0"/>
                          <a:ea typeface="Calibri" panose="020F0502020204030204" pitchFamily="34" charset="0"/>
                          <a:cs typeface="Times New Roman" panose="02020603050405020304" pitchFamily="18" charset="0"/>
                        </a:rPr>
                        <a:t> </a:t>
                      </a:r>
                    </a:p>
                  </a:txBody>
                  <a:tcPr marL="55827" marR="5582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56197511"/>
                  </a:ext>
                </a:extLst>
              </a:tr>
            </a:tbl>
          </a:graphicData>
        </a:graphic>
      </p:graphicFrame>
    </p:spTree>
    <p:extLst>
      <p:ext uri="{BB962C8B-B14F-4D97-AF65-F5344CB8AC3E}">
        <p14:creationId xmlns:p14="http://schemas.microsoft.com/office/powerpoint/2010/main" val="30079272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2AA5832D-8BCE-9925-8FBA-6F9A2835566A}"/>
              </a:ext>
            </a:extLst>
          </p:cNvPr>
          <p:cNvSpPr txBox="1"/>
          <p:nvPr/>
        </p:nvSpPr>
        <p:spPr>
          <a:xfrm>
            <a:off x="655320" y="941494"/>
            <a:ext cx="10463784" cy="3170099"/>
          </a:xfrm>
          <a:prstGeom prst="rect">
            <a:avLst/>
          </a:prstGeom>
          <a:noFill/>
        </p:spPr>
        <p:txBody>
          <a:bodyPr wrap="square" rtlCol="0">
            <a:spAutoFit/>
          </a:bodyPr>
          <a:lstStyle/>
          <a:p>
            <a:r>
              <a:rPr lang="es-ES" sz="2000" b="1" dirty="0"/>
              <a:t> </a:t>
            </a:r>
            <a:r>
              <a:rPr lang="es-ES" dirty="0"/>
              <a:t>Lista de Cotejo para el Proyecto “ Saberes, Sabores y olores del maíz en san </a:t>
            </a:r>
            <a:r>
              <a:rPr lang="es-ES" dirty="0" err="1"/>
              <a:t>Jose</a:t>
            </a:r>
            <a:r>
              <a:rPr lang="es-ES" dirty="0"/>
              <a:t> Chapulco”</a:t>
            </a:r>
            <a:endParaRPr lang="es-MX" dirty="0"/>
          </a:p>
          <a:p>
            <a:r>
              <a:rPr lang="es-ES" dirty="0"/>
              <a:t>La siguiente tabla de cotejo evalúa la participación y logros de los niños durante el proyecto “Saberes, Sabores y olores del maíz en san José Chapulco”</a:t>
            </a:r>
            <a:endParaRPr lang="es-MX" dirty="0"/>
          </a:p>
          <a:p>
            <a:r>
              <a:rPr lang="es-ES" dirty="0"/>
              <a:t>” basado en el   APRENDIZAJE SITUADO . Se utiliza para observar el desarrollo de las habilidades sociales, emocionales y de convivencia de los alumnos a lo largo del proyecto.</a:t>
            </a:r>
            <a:endParaRPr lang="es-MX" dirty="0"/>
          </a:p>
          <a:p>
            <a:r>
              <a:rPr lang="es-ES" dirty="0"/>
              <a:t>Instrucciones: Durante el desarrollo del proyecto Saberes, Sabores y olores del maíz en san José Chapulco”</a:t>
            </a:r>
            <a:endParaRPr lang="es-MX" dirty="0"/>
          </a:p>
          <a:p>
            <a:r>
              <a:rPr lang="es-ES" dirty="0"/>
              <a:t>el maestro utilizará esta lista de cotejo para registrar observaciones sobre la participación y logros de cada niño. Se marcarán con una ✓ las casillas correspondientes cuando el niño cumpla con el criterio. En caso de que el niño necesite más apoyo o no participe, se deja la casilla en blanco.</a:t>
            </a:r>
          </a:p>
          <a:p>
            <a:endParaRPr lang="es-MX" dirty="0"/>
          </a:p>
        </p:txBody>
      </p:sp>
    </p:spTree>
    <p:extLst>
      <p:ext uri="{BB962C8B-B14F-4D97-AF65-F5344CB8AC3E}">
        <p14:creationId xmlns:p14="http://schemas.microsoft.com/office/powerpoint/2010/main" val="41668612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a 7">
            <a:extLst>
              <a:ext uri="{FF2B5EF4-FFF2-40B4-BE49-F238E27FC236}">
                <a16:creationId xmlns:a16="http://schemas.microsoft.com/office/drawing/2014/main" id="{6A03A17B-D502-CAEA-6216-2CD611766423}"/>
              </a:ext>
            </a:extLst>
          </p:cNvPr>
          <p:cNvGraphicFramePr>
            <a:graphicFrameLocks noGrp="1"/>
          </p:cNvGraphicFramePr>
          <p:nvPr>
            <p:extLst>
              <p:ext uri="{D42A27DB-BD31-4B8C-83A1-F6EECF244321}">
                <p14:modId xmlns:p14="http://schemas.microsoft.com/office/powerpoint/2010/main" val="2244905186"/>
              </p:ext>
            </p:extLst>
          </p:nvPr>
        </p:nvGraphicFramePr>
        <p:xfrm>
          <a:off x="262128" y="0"/>
          <a:ext cx="11457432" cy="628396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2261765537"/>
                    </a:ext>
                  </a:extLst>
                </a:gridCol>
                <a:gridCol w="2706624">
                  <a:extLst>
                    <a:ext uri="{9D8B030D-6E8A-4147-A177-3AD203B41FA5}">
                      <a16:colId xmlns:a16="http://schemas.microsoft.com/office/drawing/2014/main" val="948370774"/>
                    </a:ext>
                  </a:extLst>
                </a:gridCol>
                <a:gridCol w="2084832">
                  <a:extLst>
                    <a:ext uri="{9D8B030D-6E8A-4147-A177-3AD203B41FA5}">
                      <a16:colId xmlns:a16="http://schemas.microsoft.com/office/drawing/2014/main" val="3769695889"/>
                    </a:ext>
                  </a:extLst>
                </a:gridCol>
                <a:gridCol w="2103120">
                  <a:extLst>
                    <a:ext uri="{9D8B030D-6E8A-4147-A177-3AD203B41FA5}">
                      <a16:colId xmlns:a16="http://schemas.microsoft.com/office/drawing/2014/main" val="3327627935"/>
                    </a:ext>
                  </a:extLst>
                </a:gridCol>
                <a:gridCol w="2279419">
                  <a:extLst>
                    <a:ext uri="{9D8B030D-6E8A-4147-A177-3AD203B41FA5}">
                      <a16:colId xmlns:a16="http://schemas.microsoft.com/office/drawing/2014/main" val="3826096221"/>
                    </a:ext>
                  </a:extLst>
                </a:gridCol>
                <a:gridCol w="1521437">
                  <a:extLst>
                    <a:ext uri="{9D8B030D-6E8A-4147-A177-3AD203B41FA5}">
                      <a16:colId xmlns:a16="http://schemas.microsoft.com/office/drawing/2014/main" val="3867645876"/>
                    </a:ext>
                  </a:extLst>
                </a:gridCol>
              </a:tblGrid>
              <a:tr h="370840">
                <a:tc gridSpan="6">
                  <a:txBody>
                    <a:bodyPr/>
                    <a:lstStyle/>
                    <a:p>
                      <a:pPr algn="ctr"/>
                      <a:r>
                        <a:rPr lang="es-MX" dirty="0">
                          <a:solidFill>
                            <a:schemeClr val="tx1"/>
                          </a:solidFill>
                        </a:rPr>
                        <a:t>LISTA DE COTEJO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s-MX"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s-MX"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s-MX"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s-MX"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s-MX"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89283650"/>
                  </a:ext>
                </a:extLst>
              </a:tr>
              <a:tr h="370840">
                <a:tc>
                  <a:txBody>
                    <a:bodyPr/>
                    <a:lstStyle/>
                    <a:p>
                      <a:r>
                        <a:rPr lang="es-MX" sz="1400" b="1" dirty="0"/>
                        <a:t>N /P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s-MX" sz="1400" b="1" dirty="0"/>
                        <a:t>Nombre del alumno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s-MX" sz="1400" b="1" dirty="0"/>
                        <a:t>Participa activamente en las actividades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s-MX" sz="1400" b="1" dirty="0"/>
                        <a:t>Identifica los elemento del maíz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s-MX" sz="1400" b="1" dirty="0"/>
                        <a:t>Identifica y describe los sabores y olores característicos del maíz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s-MX" sz="1400" b="1" dirty="0"/>
                        <a:t>Reconoce texturas, olores y sabores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9223543"/>
                  </a:ext>
                </a:extLst>
              </a:tr>
              <a:tr h="0">
                <a:tc>
                  <a:txBody>
                    <a:bodyPr/>
                    <a:lstStyle/>
                    <a:p>
                      <a:pPr>
                        <a:lnSpc>
                          <a:spcPct val="100000"/>
                        </a:lnSpc>
                      </a:pPr>
                      <a:r>
                        <a:rPr lang="es-MX" sz="1000" dirty="0">
                          <a:latin typeface="+mn-lt"/>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00000"/>
                        </a:lnSpc>
                        <a:spcAft>
                          <a:spcPts val="800"/>
                        </a:spcAft>
                        <a:buNone/>
                      </a:pPr>
                      <a:r>
                        <a:rPr lang="es-MX" sz="1000" b="1" kern="100">
                          <a:solidFill>
                            <a:srgbClr val="000000"/>
                          </a:solidFill>
                          <a:effectLst/>
                          <a:latin typeface="+mn-lt"/>
                          <a:ea typeface="Calibri" panose="020F0502020204030204" pitchFamily="34" charset="0"/>
                          <a:cs typeface="Calibri" panose="020F0502020204030204" pitchFamily="34" charset="0"/>
                        </a:rPr>
                        <a:t>Alvarado Trejo Ángel </a:t>
                      </a:r>
                      <a:endParaRPr lang="es-MX" sz="1000" kern="10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endParaRPr lang="es-MX"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endParaRPr lang="es-MX"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endParaRPr lang="es-MX"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endParaRPr lang="es-MX"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45402648"/>
                  </a:ext>
                </a:extLst>
              </a:tr>
              <a:tr h="370840">
                <a:tc>
                  <a:txBody>
                    <a:bodyPr/>
                    <a:lstStyle/>
                    <a:p>
                      <a:pPr>
                        <a:lnSpc>
                          <a:spcPct val="100000"/>
                        </a:lnSpc>
                      </a:pPr>
                      <a:r>
                        <a:rPr lang="es-MX" sz="1000" dirty="0">
                          <a:latin typeface="+mn-lt"/>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00000"/>
                        </a:lnSpc>
                        <a:spcAft>
                          <a:spcPts val="800"/>
                        </a:spcAft>
                        <a:buNone/>
                      </a:pPr>
                      <a:r>
                        <a:rPr lang="es-MX" sz="1000" b="1" kern="100">
                          <a:effectLst/>
                          <a:latin typeface="+mn-lt"/>
                          <a:ea typeface="Calibri" panose="020F0502020204030204" pitchFamily="34" charset="0"/>
                          <a:cs typeface="Calibri" panose="020F0502020204030204" pitchFamily="34" charset="0"/>
                        </a:rPr>
                        <a:t>Aparicio Chocolatl  Aimi Juliette</a:t>
                      </a:r>
                      <a:endParaRPr lang="es-MX" sz="1000" kern="10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endParaRPr lang="es-MX"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endParaRPr lang="es-MX"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endParaRPr lang="es-MX"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endParaRPr lang="es-MX"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91140098"/>
                  </a:ext>
                </a:extLst>
              </a:tr>
              <a:tr h="370840">
                <a:tc>
                  <a:txBody>
                    <a:bodyPr/>
                    <a:lstStyle/>
                    <a:p>
                      <a:pPr>
                        <a:lnSpc>
                          <a:spcPct val="100000"/>
                        </a:lnSpc>
                      </a:pPr>
                      <a:r>
                        <a:rPr lang="es-MX" sz="1000" dirty="0">
                          <a:latin typeface="+mn-lt"/>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00000"/>
                        </a:lnSpc>
                        <a:spcAft>
                          <a:spcPts val="800"/>
                        </a:spcAft>
                        <a:buNone/>
                      </a:pPr>
                      <a:r>
                        <a:rPr lang="es-MX" sz="1000" b="1" kern="100" dirty="0">
                          <a:solidFill>
                            <a:srgbClr val="000000"/>
                          </a:solidFill>
                          <a:effectLst/>
                          <a:latin typeface="+mn-lt"/>
                          <a:ea typeface="Calibri" panose="020F0502020204030204" pitchFamily="34" charset="0"/>
                          <a:cs typeface="Calibri" panose="020F0502020204030204" pitchFamily="34" charset="0"/>
                        </a:rPr>
                        <a:t>Espinoza García Lilian Aranza</a:t>
                      </a:r>
                      <a:endParaRPr lang="es-MX" sz="1000" kern="1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endParaRPr lang="es-MX"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endParaRPr lang="es-MX"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endParaRPr lang="es-MX"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endParaRPr lang="es-MX"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40743116"/>
                  </a:ext>
                </a:extLst>
              </a:tr>
              <a:tr h="370840">
                <a:tc>
                  <a:txBody>
                    <a:bodyPr/>
                    <a:lstStyle/>
                    <a:p>
                      <a:pPr>
                        <a:lnSpc>
                          <a:spcPct val="100000"/>
                        </a:lnSpc>
                      </a:pPr>
                      <a:r>
                        <a:rPr lang="es-MX" sz="1000" dirty="0">
                          <a:latin typeface="+mn-lt"/>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00000"/>
                        </a:lnSpc>
                        <a:spcAft>
                          <a:spcPts val="800"/>
                        </a:spcAft>
                        <a:buNone/>
                      </a:pPr>
                      <a:r>
                        <a:rPr lang="es-MX" sz="1000" b="1" kern="100" dirty="0">
                          <a:effectLst/>
                          <a:latin typeface="+mn-lt"/>
                          <a:ea typeface="Calibri" panose="020F0502020204030204" pitchFamily="34" charset="0"/>
                          <a:cs typeface="Calibri" panose="020F0502020204030204" pitchFamily="34" charset="0"/>
                        </a:rPr>
                        <a:t>Gómez Regante Ana Sofia</a:t>
                      </a:r>
                      <a:endParaRPr lang="es-MX" sz="1000" kern="1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endParaRPr lang="es-MX"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endParaRPr lang="es-MX"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endParaRPr lang="es-MX"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endParaRPr lang="es-MX"/>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51839317"/>
                  </a:ext>
                </a:extLst>
              </a:tr>
              <a:tr h="370840">
                <a:tc>
                  <a:txBody>
                    <a:bodyPr/>
                    <a:lstStyle/>
                    <a:p>
                      <a:pPr>
                        <a:lnSpc>
                          <a:spcPct val="100000"/>
                        </a:lnSpc>
                      </a:pPr>
                      <a:r>
                        <a:rPr lang="es-MX" sz="1000" dirty="0">
                          <a:latin typeface="+mn-lt"/>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00000"/>
                        </a:lnSpc>
                        <a:spcAft>
                          <a:spcPts val="800"/>
                        </a:spcAft>
                        <a:buNone/>
                      </a:pPr>
                      <a:r>
                        <a:rPr lang="es-MX" sz="1000" b="1" kern="100" dirty="0">
                          <a:effectLst/>
                          <a:latin typeface="+mn-lt"/>
                          <a:ea typeface="Calibri" panose="020F0502020204030204" pitchFamily="34" charset="0"/>
                          <a:cs typeface="Calibri" panose="020F0502020204030204" pitchFamily="34" charset="0"/>
                        </a:rPr>
                        <a:t>Guerrero Lezama   Natalia </a:t>
                      </a:r>
                      <a:endParaRPr lang="es-MX" sz="1000" kern="1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endParaRPr lang="es-MX"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endParaRPr lang="es-MX"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endParaRPr lang="es-MX"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endParaRPr lang="es-MX"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49770602"/>
                  </a:ext>
                </a:extLst>
              </a:tr>
              <a:tr h="370840">
                <a:tc>
                  <a:txBody>
                    <a:bodyPr/>
                    <a:lstStyle/>
                    <a:p>
                      <a:pPr>
                        <a:lnSpc>
                          <a:spcPct val="100000"/>
                        </a:lnSpc>
                      </a:pPr>
                      <a:r>
                        <a:rPr lang="es-MX" sz="1000" dirty="0">
                          <a:latin typeface="+mn-lt"/>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00000"/>
                        </a:lnSpc>
                        <a:spcAft>
                          <a:spcPts val="800"/>
                        </a:spcAft>
                        <a:buNone/>
                      </a:pPr>
                      <a:r>
                        <a:rPr lang="es-MX" sz="1000" b="1" kern="100" dirty="0">
                          <a:effectLst/>
                          <a:latin typeface="+mn-lt"/>
                          <a:ea typeface="Calibri" panose="020F0502020204030204" pitchFamily="34" charset="0"/>
                          <a:cs typeface="Calibri" panose="020F0502020204030204" pitchFamily="34" charset="0"/>
                        </a:rPr>
                        <a:t>Gutiérrez Ramírez Matías</a:t>
                      </a:r>
                      <a:endParaRPr lang="es-MX" sz="1000" kern="1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endParaRPr lang="es-MX"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endParaRPr lang="es-MX"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endParaRPr lang="es-MX"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endParaRPr lang="es-MX"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3939550"/>
                  </a:ext>
                </a:extLst>
              </a:tr>
              <a:tr h="370840">
                <a:tc>
                  <a:txBody>
                    <a:bodyPr/>
                    <a:lstStyle/>
                    <a:p>
                      <a:pPr>
                        <a:lnSpc>
                          <a:spcPct val="100000"/>
                        </a:lnSpc>
                      </a:pPr>
                      <a:r>
                        <a:rPr lang="es-MX" sz="1000" dirty="0">
                          <a:latin typeface="+mn-lt"/>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00000"/>
                        </a:lnSpc>
                        <a:spcAft>
                          <a:spcPts val="800"/>
                        </a:spcAft>
                        <a:buNone/>
                      </a:pPr>
                      <a:r>
                        <a:rPr lang="es-MX" sz="1000" b="1" kern="100" dirty="0">
                          <a:solidFill>
                            <a:srgbClr val="000000"/>
                          </a:solidFill>
                          <a:effectLst/>
                          <a:latin typeface="+mn-lt"/>
                          <a:ea typeface="Calibri" panose="020F0502020204030204" pitchFamily="34" charset="0"/>
                          <a:cs typeface="Calibri" panose="020F0502020204030204" pitchFamily="34" charset="0"/>
                        </a:rPr>
                        <a:t>Hernández  </a:t>
                      </a:r>
                      <a:r>
                        <a:rPr lang="es-MX" sz="1000" b="1" kern="100" dirty="0" err="1">
                          <a:solidFill>
                            <a:srgbClr val="000000"/>
                          </a:solidFill>
                          <a:effectLst/>
                          <a:latin typeface="+mn-lt"/>
                          <a:ea typeface="Calibri" panose="020F0502020204030204" pitchFamily="34" charset="0"/>
                          <a:cs typeface="Calibri" panose="020F0502020204030204" pitchFamily="34" charset="0"/>
                        </a:rPr>
                        <a:t>Itcoatl</a:t>
                      </a:r>
                      <a:r>
                        <a:rPr lang="es-MX" sz="1000" b="1" kern="100" dirty="0">
                          <a:solidFill>
                            <a:srgbClr val="000000"/>
                          </a:solidFill>
                          <a:effectLst/>
                          <a:latin typeface="+mn-lt"/>
                          <a:ea typeface="Calibri" panose="020F0502020204030204" pitchFamily="34" charset="0"/>
                          <a:cs typeface="Calibri" panose="020F0502020204030204" pitchFamily="34" charset="0"/>
                        </a:rPr>
                        <a:t> Sofia</a:t>
                      </a:r>
                      <a:endParaRPr lang="es-MX" sz="1000" kern="1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endParaRPr lang="es-MX"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endParaRPr lang="es-MX"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endParaRPr lang="es-MX"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endParaRPr lang="es-MX"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46370036"/>
                  </a:ext>
                </a:extLst>
              </a:tr>
              <a:tr h="370840">
                <a:tc>
                  <a:txBody>
                    <a:bodyPr/>
                    <a:lstStyle/>
                    <a:p>
                      <a:pPr>
                        <a:lnSpc>
                          <a:spcPct val="100000"/>
                        </a:lnSpc>
                      </a:pPr>
                      <a:r>
                        <a:rPr lang="es-MX" sz="1000" dirty="0">
                          <a:latin typeface="+mn-lt"/>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00000"/>
                        </a:lnSpc>
                        <a:spcAft>
                          <a:spcPts val="800"/>
                        </a:spcAft>
                        <a:buNone/>
                      </a:pPr>
                      <a:r>
                        <a:rPr lang="es-MX" sz="1000" b="1" kern="100">
                          <a:solidFill>
                            <a:srgbClr val="000000"/>
                          </a:solidFill>
                          <a:effectLst/>
                          <a:latin typeface="+mn-lt"/>
                          <a:ea typeface="Calibri" panose="020F0502020204030204" pitchFamily="34" charset="0"/>
                          <a:cs typeface="Calibri" panose="020F0502020204030204" pitchFamily="34" charset="0"/>
                        </a:rPr>
                        <a:t>Legorreta García Mabel</a:t>
                      </a:r>
                      <a:endParaRPr lang="es-MX" sz="1000" kern="10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endParaRPr lang="es-MX"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endParaRPr lang="es-MX"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endParaRPr lang="es-MX"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endParaRPr lang="es-MX"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76804600"/>
                  </a:ext>
                </a:extLst>
              </a:tr>
              <a:tr h="370840">
                <a:tc>
                  <a:txBody>
                    <a:bodyPr/>
                    <a:lstStyle/>
                    <a:p>
                      <a:pPr>
                        <a:lnSpc>
                          <a:spcPct val="100000"/>
                        </a:lnSpc>
                      </a:pPr>
                      <a:r>
                        <a:rPr lang="es-MX" sz="1000" dirty="0">
                          <a:latin typeface="+mn-lt"/>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00000"/>
                        </a:lnSpc>
                        <a:spcAft>
                          <a:spcPts val="800"/>
                        </a:spcAft>
                        <a:buNone/>
                      </a:pPr>
                      <a:r>
                        <a:rPr lang="es-MX" sz="1000" b="1" kern="100" dirty="0">
                          <a:solidFill>
                            <a:srgbClr val="000000"/>
                          </a:solidFill>
                          <a:effectLst/>
                          <a:latin typeface="+mn-lt"/>
                          <a:ea typeface="Calibri" panose="020F0502020204030204" pitchFamily="34" charset="0"/>
                          <a:cs typeface="Calibri" panose="020F0502020204030204" pitchFamily="34" charset="0"/>
                        </a:rPr>
                        <a:t>Limón Vázquez Ariadne Johana</a:t>
                      </a:r>
                      <a:endParaRPr lang="es-MX" sz="1000" kern="1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endParaRPr lang="es-MX"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endParaRPr lang="es-MX"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endParaRPr lang="es-MX"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endParaRPr lang="es-MX"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30696048"/>
                  </a:ext>
                </a:extLst>
              </a:tr>
              <a:tr h="370840">
                <a:tc>
                  <a:txBody>
                    <a:bodyPr/>
                    <a:lstStyle/>
                    <a:p>
                      <a:pPr>
                        <a:lnSpc>
                          <a:spcPct val="100000"/>
                        </a:lnSpc>
                      </a:pPr>
                      <a:r>
                        <a:rPr lang="es-MX" sz="1000" dirty="0">
                          <a:latin typeface="+mn-lt"/>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00000"/>
                        </a:lnSpc>
                        <a:spcAft>
                          <a:spcPts val="800"/>
                        </a:spcAft>
                        <a:buNone/>
                      </a:pPr>
                      <a:r>
                        <a:rPr lang="es-MX" sz="1000" b="1" kern="100" dirty="0">
                          <a:solidFill>
                            <a:srgbClr val="000000"/>
                          </a:solidFill>
                          <a:effectLst/>
                          <a:latin typeface="+mn-lt"/>
                          <a:ea typeface="Calibri" panose="020F0502020204030204" pitchFamily="34" charset="0"/>
                          <a:cs typeface="Calibri" panose="020F0502020204030204" pitchFamily="34" charset="0"/>
                        </a:rPr>
                        <a:t>Meza Galicia Uriel </a:t>
                      </a:r>
                      <a:endParaRPr lang="es-MX" sz="1000" kern="1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endParaRPr lang="es-MX"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endParaRPr lang="es-MX"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endParaRPr lang="es-MX"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endParaRPr lang="es-MX"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82019200"/>
                  </a:ext>
                </a:extLst>
              </a:tr>
              <a:tr h="370840">
                <a:tc>
                  <a:txBody>
                    <a:bodyPr/>
                    <a:lstStyle/>
                    <a:p>
                      <a:pPr>
                        <a:lnSpc>
                          <a:spcPct val="100000"/>
                        </a:lnSpc>
                      </a:pPr>
                      <a:r>
                        <a:rPr lang="es-MX" sz="1000" dirty="0">
                          <a:latin typeface="+mn-lt"/>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00000"/>
                        </a:lnSpc>
                        <a:spcAft>
                          <a:spcPts val="800"/>
                        </a:spcAft>
                        <a:buNone/>
                      </a:pPr>
                      <a:r>
                        <a:rPr lang="es-MX" sz="1000" b="1" kern="100" dirty="0">
                          <a:solidFill>
                            <a:srgbClr val="000000"/>
                          </a:solidFill>
                          <a:effectLst/>
                          <a:latin typeface="+mn-lt"/>
                          <a:ea typeface="Calibri" panose="020F0502020204030204" pitchFamily="34" charset="0"/>
                          <a:cs typeface="Calibri" panose="020F0502020204030204" pitchFamily="34" charset="0"/>
                        </a:rPr>
                        <a:t>Meza López  Sebastián </a:t>
                      </a:r>
                      <a:endParaRPr lang="es-MX" sz="1000" kern="1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endParaRPr lang="es-MX"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endParaRPr lang="es-MX"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endParaRPr lang="es-MX"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endParaRPr lang="es-MX"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97808992"/>
                  </a:ext>
                </a:extLst>
              </a:tr>
              <a:tr h="370840">
                <a:tc>
                  <a:txBody>
                    <a:bodyPr/>
                    <a:lstStyle/>
                    <a:p>
                      <a:pPr>
                        <a:lnSpc>
                          <a:spcPct val="100000"/>
                        </a:lnSpc>
                      </a:pPr>
                      <a:r>
                        <a:rPr lang="es-MX" sz="1000" dirty="0">
                          <a:latin typeface="+mn-lt"/>
                        </a:rPr>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00000"/>
                        </a:lnSpc>
                        <a:spcAft>
                          <a:spcPts val="800"/>
                        </a:spcAft>
                        <a:buNone/>
                      </a:pPr>
                      <a:r>
                        <a:rPr lang="es-MX" sz="1000" b="1" kern="100" dirty="0">
                          <a:solidFill>
                            <a:srgbClr val="000000"/>
                          </a:solidFill>
                          <a:effectLst/>
                          <a:latin typeface="+mn-lt"/>
                          <a:ea typeface="Calibri" panose="020F0502020204030204" pitchFamily="34" charset="0"/>
                          <a:cs typeface="Calibri" panose="020F0502020204030204" pitchFamily="34" charset="0"/>
                        </a:rPr>
                        <a:t>Muñoz Chamorro Aitor Daniel</a:t>
                      </a:r>
                      <a:endParaRPr lang="es-MX" sz="1000" kern="1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endParaRPr lang="es-MX"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endParaRPr lang="es-MX"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endParaRPr lang="es-MX"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endParaRPr lang="es-MX"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34222233"/>
                  </a:ext>
                </a:extLst>
              </a:tr>
              <a:tr h="370840">
                <a:tc>
                  <a:txBody>
                    <a:bodyPr/>
                    <a:lstStyle/>
                    <a:p>
                      <a:pPr>
                        <a:lnSpc>
                          <a:spcPct val="100000"/>
                        </a:lnSpc>
                      </a:pPr>
                      <a:r>
                        <a:rPr lang="es-MX" sz="1000" dirty="0">
                          <a:latin typeface="+mn-lt"/>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00000"/>
                        </a:lnSpc>
                        <a:spcAft>
                          <a:spcPts val="800"/>
                        </a:spcAft>
                        <a:buNone/>
                      </a:pPr>
                      <a:r>
                        <a:rPr lang="es-MX" sz="1000" b="1" kern="100" dirty="0">
                          <a:solidFill>
                            <a:srgbClr val="000000"/>
                          </a:solidFill>
                          <a:effectLst/>
                          <a:latin typeface="+mn-lt"/>
                          <a:ea typeface="Calibri" panose="020F0502020204030204" pitchFamily="34" charset="0"/>
                          <a:cs typeface="Calibri" panose="020F0502020204030204" pitchFamily="34" charset="0"/>
                        </a:rPr>
                        <a:t>Ordaz Toribio  Arianny </a:t>
                      </a:r>
                      <a:r>
                        <a:rPr lang="es-MX" sz="1000" b="1" kern="100" dirty="0" err="1">
                          <a:solidFill>
                            <a:srgbClr val="000000"/>
                          </a:solidFill>
                          <a:effectLst/>
                          <a:latin typeface="+mn-lt"/>
                          <a:ea typeface="Calibri" panose="020F0502020204030204" pitchFamily="34" charset="0"/>
                          <a:cs typeface="Calibri" panose="020F0502020204030204" pitchFamily="34" charset="0"/>
                        </a:rPr>
                        <a:t>Sophia</a:t>
                      </a:r>
                      <a:endParaRPr lang="es-MX" sz="1000" kern="1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endParaRPr lang="es-MX"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endParaRPr lang="es-MX"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endParaRPr lang="es-MX"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endParaRPr lang="es-MX"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00449930"/>
                  </a:ext>
                </a:extLst>
              </a:tr>
              <a:tr h="178478">
                <a:tc>
                  <a:txBody>
                    <a:bodyPr/>
                    <a:lstStyle/>
                    <a:p>
                      <a:pPr>
                        <a:lnSpc>
                          <a:spcPct val="100000"/>
                        </a:lnSpc>
                      </a:pPr>
                      <a:r>
                        <a:rPr lang="es-MX" sz="1000" dirty="0">
                          <a:latin typeface="+mn-lt"/>
                        </a:rPr>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00000"/>
                        </a:lnSpc>
                        <a:spcAft>
                          <a:spcPts val="800"/>
                        </a:spcAft>
                        <a:buNone/>
                      </a:pPr>
                      <a:r>
                        <a:rPr lang="es-MX" sz="1000" b="1" kern="100" dirty="0">
                          <a:solidFill>
                            <a:srgbClr val="000000"/>
                          </a:solidFill>
                          <a:effectLst/>
                          <a:latin typeface="+mn-lt"/>
                          <a:ea typeface="Calibri" panose="020F0502020204030204" pitchFamily="34" charset="0"/>
                          <a:cs typeface="Calibri" panose="020F0502020204030204" pitchFamily="34" charset="0"/>
                        </a:rPr>
                        <a:t>Ortiz Hernández Keinan Eliseo</a:t>
                      </a:r>
                      <a:endParaRPr lang="es-MX" sz="1000" kern="1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endParaRPr lang="es-MX"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endParaRPr lang="es-MX"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endParaRPr lang="es-MX"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pPr>
                      <a:endParaRPr lang="es-MX"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54987516"/>
                  </a:ext>
                </a:extLst>
              </a:tr>
            </a:tbl>
          </a:graphicData>
        </a:graphic>
      </p:graphicFrame>
    </p:spTree>
    <p:extLst>
      <p:ext uri="{BB962C8B-B14F-4D97-AF65-F5344CB8AC3E}">
        <p14:creationId xmlns:p14="http://schemas.microsoft.com/office/powerpoint/2010/main" val="2208733443"/>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2485</TotalTime>
  <Words>6549</Words>
  <Application>Microsoft Office PowerPoint</Application>
  <PresentationFormat>Panorámica</PresentationFormat>
  <Paragraphs>667</Paragraphs>
  <Slides>24</Slides>
  <Notes>2</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24</vt:i4>
      </vt:variant>
    </vt:vector>
  </HeadingPairs>
  <TitlesOfParts>
    <vt:vector size="31" baseType="lpstr">
      <vt:lpstr>Aptos</vt:lpstr>
      <vt:lpstr>Aptos Display</vt:lpstr>
      <vt:lpstr>Arial</vt:lpstr>
      <vt:lpstr>Calibri</vt:lpstr>
      <vt:lpstr>Symbol</vt:lpstr>
      <vt:lpstr>Wingdings</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sergiovalerapalestina76</dc:creator>
  <cp:lastModifiedBy>sergiovalerapalestina76</cp:lastModifiedBy>
  <cp:revision>9</cp:revision>
  <dcterms:created xsi:type="dcterms:W3CDTF">2026-01-10T06:02:46Z</dcterms:created>
  <dcterms:modified xsi:type="dcterms:W3CDTF">2026-02-01T14:41:50Z</dcterms:modified>
</cp:coreProperties>
</file>